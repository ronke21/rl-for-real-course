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illustration generated for this lecture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MPC is also called receding-horizon control. At each decision step, optimize an action sequence under the model, execute the first action, observe the result, and solve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Silver et al., Mastering Chess and Shogi by Self-Play with a General Reinforcement Learning Algorithm, 2017. AlphaZero uses known game rules for state transitions. PUCT combines policy priors, action values, and an exploration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Schrittwieser et al., Mastering Atari, Go, chess and shogi by planning with a learned model, Nature 2020, https://www.nature.com/articles/s41586-020-03051-4. Assran et al., Self-Supervised Learning from Images with a Joint-Embedding Predictive Architecture, CVPR 2023, https://arxiv.org/abs/2301.08243. The JEPA connection is conceptual: both predict in latent representation space, but MuZero is trained for planning targets and is not itself a JEPA.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Hafner et al., Dream to Control: Learning Behaviors by Latent Imagination, 2019, https://arxiv.org/abs/1912.01603. Wu et al., DayDreamer: World Models for Physical Robot Learning, CoRL 2022, https://arxiv.org/abs/2206.14176. DayDreamer applied Dreamer to four physical robots; the quadruped learned to roll over, stand up, and walk from scratch in one hour without resets or a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Published examples and evidence status: (1) Wu et al., DayDreamer: World Models for Physical Robot Learning, CoRL 2022, https://proceedings.mlr.press/v205/wu23c.html — real-world training on four robots without simulators. (2) Jingda Wu, Zhiyu Huang, and Chen Lv, Uncertainty-Aware Model-Based Reinforcement Learning: Methodology and Application in Autonomous Driving, IEEE Transactions on Intelligent Vehicles, 2022, https://ieeexplore.ieee.org/document/9802913 — validated in autonomous-driving scenarios. (3) Model enhanced reinforcement learning to enable precision dosing: A theoretical case study with dosing of propofol, Clinical and Translational Science, 2023, https://pmc.ncbi.nlm.nih.gov/articles/PMC9662205/ — synthetic PK-PD study, not a clinical deployment. (4) Xianzhong Ding, Zhiyu An, Arya Rathee, and Wan Du, CLUE: Safe Model-Based RL HVAC Control Using Epistemic Uncertainty Estimation, ACM BuildSys 2023, https://doi.org/10.1145/3600100.3623742 — evaluated in EnergyPlus on a simulated five-zone office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406CDFF-DDD1-42DA-ABB5-20B6DA7B3A38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3CC4B6B-BAD3-4AAA-814A-8F667A08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9785BD6-12D7-4239-9216-BB7AACF05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87029A41-8225-41E1-A90B-CC7499928C2A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47FFB181-B616-43DE-B306-54D049F8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DA0FD467-81B4-42C8-8B94-D33E9D2B38B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8DFEB72-A6DB-40D6-845A-CDC40863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1180E426-3B83-4FCC-9FD6-17B3F1A6F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3EED0AF9-B225-43BF-9C30-4B85DFBDA4B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56F75BA-2FFC-4F31-B358-F493AF5F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43E2FF3-536F-4A20-A5B3-7FADD76CA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2034B0E8-E9F3-4AB0-9E5E-76F2CD4F22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D627D7C5-F98A-4C20-87D8-0E80EF30300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43CDF27-F023-4E00-B76C-F56B5832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EDDCF14C-D3BF-44A4-BFCF-3CBD90CE5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734DE8-CF6A-40FA-ADA9-5909389C9E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6858000"/>
          </a:xfrm>
          <a:prstGeom prst="rect">
            <a:avLst/>
          </a:prstGeom>
          <a:gradFill>
            <a:gsLst>
              <a:gs pos="0">
                <a:srgbClr val="071821"/>
              </a:gs>
              <a:gs pos="75000">
                <a:srgbClr val="071821">
                  <a:alpha val="90980"/>
                </a:srgbClr>
              </a:gs>
              <a:gs pos="100000">
                <a:srgbClr val="071821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BF4C8-0EDC-4802-9F12-BA7AA5D125E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191250" cy="1809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Model-Based</a:t>
            </a:r>
          </a:p>
          <a:p>
            <a:pPr algn="l">
              <a:lnSpc>
                <a:spcPct val="92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1C4CD-ABFF-4A76-8ED7-0C6616E37D31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Applied RL course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F00AC1-CC0E-4BEB-B026-6DB759E8DA86}"/>
              </a:ext>
            </a:extLst>
          </p:cNvPr>
          <p:cNvSpPr>
            <a:spLocks noGrp="1"/>
          </p:cNvSpPr>
          <p:nvPr/>
        </p:nvSpPr>
        <p:spPr>
          <a:xfrm>
            <a:off x="723900" y="588645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C8D8D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D8DC"/>
                </a:solidFill>
                <a:latin typeface="Arial"/>
                <a:ea typeface="Arial"/>
                <a:cs typeface="Arial"/>
              </a:rPr>
              <a:t>Assaf Hallak · NVIDIA</a:t>
            </a:r>
          </a:p>
        </p:txBody>
      </p:sp>
    </p:spTree>
    <p:extLst>
      <p:ext uri="{BB962C8B-B14F-4D97-AF65-F5344CB8AC3E}">
        <p14:creationId xmlns:p14="http://schemas.microsoft.com/office/powerpoint/2010/main" val="141898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/>
          <p:cNvCxnSpPr>
            <a:stCxn id="9" idx="3"/>
            <a:endCxn id="11" idx="2"/>
          </p:cNvCxnSpPr>
          <p:nvPr/>
        </p:nvCxnSpPr>
        <p:spPr>
          <a:xfrm>
            <a:off x="10439400" y="1990725"/>
            <a:ext cx="247650" cy="0"/>
          </a:xfrm>
          <a:prstGeom prst="straightConnector1">
            <a:avLst/>
          </a:prstGeom>
          <a:ln w="2857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17" name="Straight Arrow Connector 16"/>
          <p:cNvCxnSpPr>
            <a:stCxn id="7" idx="6"/>
            <a:endCxn id="9" idx="1"/>
          </p:cNvCxnSpPr>
          <p:nvPr/>
        </p:nvCxnSpPr>
        <p:spPr>
          <a:xfrm>
            <a:off x="9315450" y="1990725"/>
            <a:ext cx="247650" cy="0"/>
          </a:xfrm>
          <a:prstGeom prst="straightConnector1">
            <a:avLst/>
          </a:prstGeom>
          <a:ln w="28575">
            <a:solidFill>
              <a:srgbClr val="5877E8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2CD6A6F-6C01-4572-B5C4-3AE84E727C07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8FF6FA-EC40-4AE4-823C-23A210DD8CB2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14232B"/>
                </a:solidFill>
                <a:latin typeface="Arial"/>
                <a:ea typeface="Arial"/>
                <a:cs typeface="Arial"/>
              </a:rPr>
              <a:t>Policy Gradients</a:t>
            </a:r>
            <a:endParaRPr sz="2850" b="1" dirty="0">
              <a:solidFill>
                <a:srgbClr val="1423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B3C80-3F2F-44A3-B6CB-EAD8D1EB19E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E66DB-B42D-4DAE-B721-2CF2BB36896A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B11EA0-0181-4B43-AB7E-2298D0D2AAE0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092878-87F1-4AA2-9802-1DA743C594BB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8191500" cy="419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PG methods learn a direct mapping from state to action</a:t>
            </a:r>
          </a:p>
          <a:p>
            <a:pPr marL="279400" indent="-139700">
              <a:spcAft>
                <a:spcPts val="6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Assume (almost) nothing about the environment</a:t>
            </a:r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No Markov assumption</a:t>
            </a:r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No full observability assumption</a:t>
            </a:r>
          </a:p>
          <a:p>
            <a:pPr marL="279400" indent="-139700">
              <a:spcAft>
                <a:spcPts val="12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PG methods use the same computation regardless of difficulty</a:t>
            </a:r>
          </a:p>
          <a:p>
            <a:pPr marL="139700">
              <a:spcAft>
                <a:spcPts val="600"/>
              </a:spcAft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endParaRPr lang="en-US" dirty="0"/>
          </a:p>
          <a:p>
            <a:pPr marL="139700">
              <a:spcAft>
                <a:spcPts val="600"/>
              </a:spcAft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 u="sng" dirty="0"/>
              <a:t>They are the ultimate hammer, but at what cost?</a:t>
            </a:r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Requires massive amounts of data</a:t>
            </a:r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Often stochastic and noisy</a:t>
            </a:r>
            <a:endParaRPr dirty="0"/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Limited by policy network expressivity</a:t>
            </a:r>
            <a:endParaRPr lang="en-US" dirty="0"/>
          </a:p>
          <a:p>
            <a:pPr marL="533400" indent="-139700">
              <a:spcAft>
                <a:spcPts val="500"/>
              </a:spcAft>
              <a:buChar char="•"/>
              <a:defRPr sz="19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Hard to verify and debug</a:t>
            </a:r>
            <a:endParaRPr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4E797-20A6-4BED-9BC7-E2FF036F0910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742950" cy="74295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1D319-71EC-4C05-9DB4-0ED2A4F7144D}"/>
              </a:ext>
            </a:extLst>
          </p:cNvPr>
          <p:cNvSpPr>
            <a:spLocks noGrp="1"/>
          </p:cNvSpPr>
          <p:nvPr/>
        </p:nvSpPr>
        <p:spPr>
          <a:xfrm>
            <a:off x="8572500" y="1657350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14232B"/>
                </a:solidFill>
                <a:latin typeface="Arial"/>
                <a:ea typeface="Arial"/>
                <a:cs typeface="Arial"/>
              </a:rPr>
              <a:t>sₜ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B30D97-56E0-421E-B042-AAD67736CA9A}"/>
              </a:ext>
            </a:extLst>
          </p:cNvPr>
          <p:cNvSpPr>
            <a:spLocks noGrp="1"/>
          </p:cNvSpPr>
          <p:nvPr/>
        </p:nvSpPr>
        <p:spPr>
          <a:xfrm>
            <a:off x="9563100" y="1619250"/>
            <a:ext cx="876300" cy="742950"/>
          </a:xfrm>
          <a:prstGeom prst="roundRect">
            <a:avLst>
              <a:gd name="adj" fmla="val 23077"/>
            </a:avLst>
          </a:prstGeom>
          <a:solidFill>
            <a:srgbClr val="071821"/>
          </a:solidFill>
          <a:ln w="19050">
            <a:solidFill>
              <a:srgbClr val="0718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4B6D1-57BF-4E3D-8AAE-B8688CA87804}"/>
              </a:ext>
            </a:extLst>
          </p:cNvPr>
          <p:cNvSpPr>
            <a:spLocks noGrp="1"/>
          </p:cNvSpPr>
          <p:nvPr/>
        </p:nvSpPr>
        <p:spPr>
          <a:xfrm>
            <a:off x="9639300" y="1685925"/>
            <a:ext cx="723900" cy="609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πθ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B2CA11-CC3E-4AC3-AB8C-5385161FBB23}"/>
              </a:ext>
            </a:extLst>
          </p:cNvPr>
          <p:cNvSpPr>
            <a:spLocks noGrp="1"/>
          </p:cNvSpPr>
          <p:nvPr/>
        </p:nvSpPr>
        <p:spPr>
          <a:xfrm>
            <a:off x="10687050" y="1619250"/>
            <a:ext cx="742950" cy="74295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8892B7-B331-45D0-B82B-AD781BC048DE}"/>
              </a:ext>
            </a:extLst>
          </p:cNvPr>
          <p:cNvSpPr>
            <a:spLocks noGrp="1"/>
          </p:cNvSpPr>
          <p:nvPr/>
        </p:nvSpPr>
        <p:spPr>
          <a:xfrm>
            <a:off x="10687050" y="1657350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aₜ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2C3B69-4881-4A24-9F0B-FBEE95016663}"/>
              </a:ext>
            </a:extLst>
          </p:cNvPr>
          <p:cNvSpPr>
            <a:spLocks noGrp="1"/>
          </p:cNvSpPr>
          <p:nvPr/>
        </p:nvSpPr>
        <p:spPr>
          <a:xfrm>
            <a:off x="9048750" y="2447925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direct mapping</a:t>
            </a:r>
          </a:p>
        </p:txBody>
      </p:sp>
    </p:spTree>
    <p:extLst>
      <p:ext uri="{BB962C8B-B14F-4D97-AF65-F5344CB8AC3E}">
        <p14:creationId xmlns:p14="http://schemas.microsoft.com/office/powerpoint/2010/main" val="76350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E28A78-D1F4-4F58-ACA2-C322F7F5F994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876271-76C4-4C2C-B90E-6F7D97A83BA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Thought experiment: chess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83B73-B58D-463D-BCF5-B7E5F175C40D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6EB353-64FC-47B8-84EE-556C1E64875D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D259B-8C19-4712-AF0D-898FE755F15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7FE747-DD57-4141-9C69-4E2EF97B144D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810250" cy="409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Playing chess with PG means waiting to lose at the end of the game, only then learning that something was suboptimal along the way</a:t>
            </a:r>
          </a:p>
          <a:p>
            <a:pPr marL="279400" indent="-139700">
              <a:spcAft>
                <a:spcPts val="6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How do humans play chess?</a:t>
            </a:r>
          </a:p>
          <a:p>
            <a:pPr marL="533400" indent="-139700">
              <a:spcAft>
                <a:spcPts val="8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We learn the rules</a:t>
            </a:r>
          </a:p>
          <a:p>
            <a:pPr marL="533400" indent="-139700">
              <a:spcAft>
                <a:spcPts val="8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We plan several moves ahead, considering the opponent’s possible moves</a:t>
            </a:r>
          </a:p>
          <a:p>
            <a:pPr marL="533400" indent="-139700">
              <a:spcAft>
                <a:spcPts val="8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We know how to estimate positions along the way</a:t>
            </a:r>
          </a:p>
        </p:txBody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0" y="147637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F81850-F5EB-4896-BD6C-0228148EB4F0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28D10-7091-4144-9ED2-648E5BF1F9C2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Inductive bias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5325F-B1D9-46A3-94D0-60AED063A14F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30173F-3B65-4CCF-A47E-E3132C9E1C87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3A2FE4-51C1-4C17-B54C-2361A77FF2FA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08DC6C-4B24-4C08-BC71-1F93DB0A904B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6286500" cy="385762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800"/>
              </a:spcAft>
              <a:buChar char="•"/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Assumptions about the structure of the world</a:t>
            </a:r>
          </a:p>
          <a:p>
            <a:pPr marL="279400" indent="-139700">
              <a:spcAft>
                <a:spcPts val="700"/>
              </a:spcAft>
              <a:buChar char="•"/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More assumptions:</a:t>
            </a:r>
          </a:p>
          <a:p>
            <a:pPr marL="7366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Higher data efficiency</a:t>
            </a:r>
          </a:p>
          <a:p>
            <a:pPr marL="7366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Better generalization under these assumptions</a:t>
            </a:r>
          </a:p>
          <a:p>
            <a:pPr marL="736600" indent="-342900">
              <a:spcAft>
                <a:spcPts val="1200"/>
              </a:spcAft>
              <a:buFont typeface="Wingdings" panose="05000000000000000000" pitchFamily="2" charset="2"/>
              <a:buChar char="ü"/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Better performance</a:t>
            </a:r>
          </a:p>
          <a:p>
            <a:pPr marL="139700">
              <a:spcAft>
                <a:spcPts val="1200"/>
              </a:spcAft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endParaRPr lang="en-US" b="1" dirty="0"/>
          </a:p>
          <a:p>
            <a:pPr marL="139700">
              <a:spcAft>
                <a:spcPts val="1200"/>
              </a:spcAft>
              <a:defRPr sz="20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FF0000"/>
                </a:solidFill>
              </a:rPr>
              <a:t>Wrong assumptions lead to systematic bias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06581" y="1571625"/>
            <a:ext cx="4151088" cy="45243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CE97FC-92D1-4F47-BC10-D2758911478D}"/>
              </a:ext>
            </a:extLst>
          </p:cNvPr>
          <p:cNvSpPr>
            <a:spLocks noGrp="1"/>
          </p:cNvSpPr>
          <p:nvPr/>
        </p:nvSpPr>
        <p:spPr>
          <a:xfrm>
            <a:off x="7239000" y="592455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8336"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6757D"/>
                </a:solidFill>
                <a:latin typeface="Arial"/>
                <a:ea typeface="Arial"/>
                <a:cs typeface="Arial"/>
              </a:rPr>
              <a:t>A useful assumption helps </a:t>
            </a:r>
            <a:r>
              <a:rPr lang="en-US" sz="1350" b="0" dirty="0">
                <a:solidFill>
                  <a:srgbClr val="66757D"/>
                </a:solidFill>
                <a:latin typeface="Arial"/>
                <a:ea typeface="Arial"/>
                <a:cs typeface="Arial"/>
              </a:rPr>
              <a:t>as long as</a:t>
            </a:r>
            <a:r>
              <a:rPr sz="1350" b="0" dirty="0">
                <a:solidFill>
                  <a:srgbClr val="66757D"/>
                </a:solidFill>
                <a:latin typeface="Arial"/>
                <a:ea typeface="Arial"/>
                <a:cs typeface="Arial"/>
              </a:rPr>
              <a:t> it matches the world.</a:t>
            </a:r>
          </a:p>
        </p:txBody>
      </p:sp>
    </p:spTree>
    <p:extLst>
      <p:ext uri="{BB962C8B-B14F-4D97-AF65-F5344CB8AC3E}">
        <p14:creationId xmlns:p14="http://schemas.microsoft.com/office/powerpoint/2010/main" val="115957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/>
          <p:cNvCxnSpPr>
            <a:stCxn id="11" idx="2"/>
            <a:endCxn id="13" idx="0"/>
          </p:cNvCxnSpPr>
          <p:nvPr/>
        </p:nvCxnSpPr>
        <p:spPr>
          <a:xfrm>
            <a:off x="10239375" y="4038600"/>
            <a:ext cx="0" cy="47625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19" name="Straight Arrow Connector 18"/>
          <p:cNvCxnSpPr>
            <a:stCxn id="9" idx="2"/>
            <a:endCxn id="11" idx="0"/>
          </p:cNvCxnSpPr>
          <p:nvPr/>
        </p:nvCxnSpPr>
        <p:spPr>
          <a:xfrm>
            <a:off x="10239375" y="2876550"/>
            <a:ext cx="0" cy="476250"/>
          </a:xfrm>
          <a:prstGeom prst="straightConnector1">
            <a:avLst/>
          </a:prstGeom>
          <a:ln w="28575">
            <a:solidFill>
              <a:srgbClr val="5877E8"/>
            </a:solidFill>
            <a:prstDash val="solid"/>
            <a:tailEnd type="triangle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C6A02D8-E3AD-437E-B9E7-1175B749FB18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AE910E-8E33-4E01-9289-DD117339F70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RL approaches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989B8E-C754-4F48-955B-207F2D6E4033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F9B80-FD85-4E4F-817B-D71B29D70AAE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E11B67-2EF7-427E-AEE1-EFEB45B0A41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18497-206A-4E5F-8EDD-EEB1ED706836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7810500" cy="3429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RL has 3 archetypes of inductive bias levels: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89321-25DB-4425-BCB5-AA540CD5DED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01000" cy="3714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5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/>
              <a:t>Policy search</a:t>
            </a:r>
            <a:r>
              <a:t> - assumes almost nothing (REINFORCE, TRPO)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Learning the solution directly</a:t>
            </a:r>
          </a:p>
          <a:p>
            <a:pPr marL="279400" indent="-139700">
              <a:spcAft>
                <a:spcPts val="5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/>
              <a:t>Value-based</a:t>
            </a:r>
            <a:r>
              <a:t> - assumes full observability (Q-learning, DQN)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Learning - optimizing iterative process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Enables convergence to a single point</a:t>
            </a:r>
          </a:p>
          <a:p>
            <a:pPr marL="279400" indent="-139700">
              <a:spcAft>
                <a:spcPts val="5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/>
              <a:t>Model-based</a:t>
            </a:r>
            <a:r>
              <a:t> - assumes the Markov property (MCTS, MuZero)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Enables simulation and planning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In simple environments - analytical solution</a:t>
            </a:r>
          </a:p>
          <a:p>
            <a:pPr marL="533400" indent="-139700">
              <a:spcAft>
                <a:spcPts val="700"/>
              </a:spcAft>
              <a:buChar char="•"/>
              <a:defRPr sz="165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Learning once, then optimize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2CCA0-A9EA-4980-8D9D-95ECC6162AFC}"/>
              </a:ext>
            </a:extLst>
          </p:cNvPr>
          <p:cNvSpPr>
            <a:spLocks noGrp="1"/>
          </p:cNvSpPr>
          <p:nvPr/>
        </p:nvSpPr>
        <p:spPr>
          <a:xfrm>
            <a:off x="666750" y="5876925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14232B"/>
                </a:solidFill>
                <a:latin typeface="Arial"/>
                <a:ea typeface="Arial"/>
                <a:cs typeface="Arial"/>
              </a:rPr>
              <a:t>*</a:t>
            </a:r>
            <a:r>
              <a:rPr b="1" dirty="0">
                <a:solidFill>
                  <a:srgbClr val="14232B"/>
                </a:solidFill>
                <a:latin typeface="Arial"/>
                <a:ea typeface="Arial"/>
                <a:cs typeface="Arial"/>
              </a:rPr>
              <a:t>Actor-critic methods are hybrid policy-value approaches (SAC, PPO)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F9E186-F7BC-4F77-BE87-0B7A59660FE6}"/>
              </a:ext>
            </a:extLst>
          </p:cNvPr>
          <p:cNvSpPr>
            <a:spLocks noGrp="1"/>
          </p:cNvSpPr>
          <p:nvPr/>
        </p:nvSpPr>
        <p:spPr>
          <a:xfrm>
            <a:off x="9334500" y="219075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FFFDF8"/>
          </a:solidFill>
          <a:ln w="19050">
            <a:solidFill>
              <a:srgbClr val="CAD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4084EE-54B0-490C-8FB6-BB34F9EFDBED}"/>
              </a:ext>
            </a:extLst>
          </p:cNvPr>
          <p:cNvSpPr>
            <a:spLocks noGrp="1"/>
          </p:cNvSpPr>
          <p:nvPr/>
        </p:nvSpPr>
        <p:spPr>
          <a:xfrm>
            <a:off x="9410700" y="2257425"/>
            <a:ext cx="1657350" cy="552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18D88F-2A51-4474-B825-E57C132B7891}"/>
              </a:ext>
            </a:extLst>
          </p:cNvPr>
          <p:cNvSpPr>
            <a:spLocks noGrp="1"/>
          </p:cNvSpPr>
          <p:nvPr/>
        </p:nvSpPr>
        <p:spPr>
          <a:xfrm>
            <a:off x="9334500" y="335280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 w="19050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34DE0A-6C66-415C-8845-2F37D19DD072}"/>
              </a:ext>
            </a:extLst>
          </p:cNvPr>
          <p:cNvSpPr>
            <a:spLocks noGrp="1"/>
          </p:cNvSpPr>
          <p:nvPr/>
        </p:nvSpPr>
        <p:spPr>
          <a:xfrm>
            <a:off x="9410700" y="3419475"/>
            <a:ext cx="1657350" cy="552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68C821-733E-485F-906A-4ED463FD8FC8}"/>
              </a:ext>
            </a:extLst>
          </p:cNvPr>
          <p:cNvSpPr>
            <a:spLocks noGrp="1"/>
          </p:cNvSpPr>
          <p:nvPr/>
        </p:nvSpPr>
        <p:spPr>
          <a:xfrm>
            <a:off x="9334500" y="4514850"/>
            <a:ext cx="1809750" cy="685800"/>
          </a:xfrm>
          <a:prstGeom prst="roundRect">
            <a:avLst>
              <a:gd name="adj" fmla="val 25000"/>
            </a:avLst>
          </a:prstGeom>
          <a:solidFill>
            <a:srgbClr val="DDF4F0"/>
          </a:solidFill>
          <a:ln w="19050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65B847-E94B-4F0F-86D1-54ACC4B9D7FB}"/>
              </a:ext>
            </a:extLst>
          </p:cNvPr>
          <p:cNvSpPr>
            <a:spLocks noGrp="1"/>
          </p:cNvSpPr>
          <p:nvPr/>
        </p:nvSpPr>
        <p:spPr>
          <a:xfrm>
            <a:off x="9410700" y="4581525"/>
            <a:ext cx="1657350" cy="552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B39BA-6304-424B-9FF4-8CFB6E683638}"/>
              </a:ext>
            </a:extLst>
          </p:cNvPr>
          <p:cNvSpPr>
            <a:spLocks noGrp="1"/>
          </p:cNvSpPr>
          <p:nvPr/>
        </p:nvSpPr>
        <p:spPr>
          <a:xfrm>
            <a:off x="8953500" y="5524500"/>
            <a:ext cx="2571750" cy="247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7D"/>
                </a:solidFill>
                <a:latin typeface="Arial"/>
                <a:ea typeface="Arial"/>
                <a:cs typeface="Arial"/>
              </a:rPr>
              <a:t>more inductive bias</a:t>
            </a:r>
          </a:p>
        </p:txBody>
      </p:sp>
    </p:spTree>
    <p:extLst>
      <p:ext uri="{BB962C8B-B14F-4D97-AF65-F5344CB8AC3E}">
        <p14:creationId xmlns:p14="http://schemas.microsoft.com/office/powerpoint/2010/main" val="167042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F26AB0-C13A-489E-834D-DFA5341FB573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21548-721F-43B5-B50E-2C9B060CF55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a model?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1477E7-E1AD-42B6-862D-F4A20B420C98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26C7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A039FC-B88A-48C5-BE90-C4DD5D88FD3D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A0A8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BFA31-F7F7-4682-A940-B24BECA980E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2A0A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E19A6-F768-451B-88EF-CB596B7983C8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model predicts the consequence of an action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6ABB5B-90B8-4C08-B42F-88C002381D6A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2000250" cy="1000125"/>
          </a:xfrm>
          <a:prstGeom prst="roundRect">
            <a:avLst>
              <a:gd name="adj" fmla="val 17143"/>
            </a:avLst>
          </a:prstGeom>
          <a:solidFill>
            <a:srgbClr val="163542"/>
          </a:solidFill>
          <a:ln w="19050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26558B-E441-4BFC-B41C-2653D8C2F2F2}"/>
              </a:ext>
            </a:extLst>
          </p:cNvPr>
          <p:cNvSpPr>
            <a:spLocks noGrp="1"/>
          </p:cNvSpPr>
          <p:nvPr/>
        </p:nvSpPr>
        <p:spPr>
          <a:xfrm>
            <a:off x="933450" y="2752725"/>
            <a:ext cx="1847850" cy="8667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STATE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sₜ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0D9D36-28B1-4548-ABF8-B64C51035A7E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2000250" cy="1000125"/>
          </a:xfrm>
          <a:prstGeom prst="roundRect">
            <a:avLst>
              <a:gd name="adj" fmla="val 17143"/>
            </a:avLst>
          </a:prstGeom>
          <a:solidFill>
            <a:srgbClr val="5B4330"/>
          </a:solidFill>
          <a:ln w="19050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88D1A8-229C-4BCF-953C-84837F8419C1}"/>
              </a:ext>
            </a:extLst>
          </p:cNvPr>
          <p:cNvSpPr>
            <a:spLocks noGrp="1"/>
          </p:cNvSpPr>
          <p:nvPr/>
        </p:nvSpPr>
        <p:spPr>
          <a:xfrm>
            <a:off x="933450" y="4276725"/>
            <a:ext cx="1847850" cy="8667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aₜ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E4BC5F-0A55-40BE-8931-2CA9F2ED23B7}"/>
              </a:ext>
            </a:extLst>
          </p:cNvPr>
          <p:cNvSpPr>
            <a:spLocks noGrp="1"/>
          </p:cNvSpPr>
          <p:nvPr/>
        </p:nvSpPr>
        <p:spPr>
          <a:xfrm>
            <a:off x="4191000" y="2857500"/>
            <a:ext cx="3048000" cy="2095500"/>
          </a:xfrm>
          <a:prstGeom prst="ellipse">
            <a:avLst/>
          </a:prstGeom>
          <a:solidFill>
            <a:srgbClr val="176E73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14929-5B93-45D5-B954-7582B2E605D8}"/>
              </a:ext>
            </a:extLst>
          </p:cNvPr>
          <p:cNvSpPr>
            <a:spLocks noGrp="1"/>
          </p:cNvSpPr>
          <p:nvPr/>
        </p:nvSpPr>
        <p:spPr>
          <a:xfrm>
            <a:off x="4191000" y="3257550"/>
            <a:ext cx="3048000" cy="100012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</a:t>
            </a:r>
          </a:p>
          <a:p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A16E0-AEB0-4C7F-9C02-7702F481F074}"/>
              </a:ext>
            </a:extLst>
          </p:cNvPr>
          <p:cNvSpPr>
            <a:spLocks noGrp="1"/>
          </p:cNvSpPr>
          <p:nvPr/>
        </p:nvSpPr>
        <p:spPr>
          <a:xfrm>
            <a:off x="4333875" y="4362450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D6F5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5F2"/>
                </a:solidFill>
                <a:latin typeface="Arial"/>
                <a:ea typeface="Arial"/>
                <a:cs typeface="Arial"/>
              </a:rPr>
              <a:t>p̂(sₜ₊₁, rₜ | sₜ, aₜ)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46384-E09B-4549-A0DC-93311D810D79}"/>
              </a:ext>
            </a:extLst>
          </p:cNvPr>
          <p:cNvSpPr>
            <a:spLocks noGrp="1"/>
          </p:cNvSpPr>
          <p:nvPr/>
        </p:nvSpPr>
        <p:spPr>
          <a:xfrm>
            <a:off x="8620125" y="2686050"/>
            <a:ext cx="2190750" cy="1000125"/>
          </a:xfrm>
          <a:prstGeom prst="roundRect">
            <a:avLst>
              <a:gd name="adj" fmla="val 17143"/>
            </a:avLst>
          </a:prstGeom>
          <a:solidFill>
            <a:srgbClr val="DDF4F0"/>
          </a:solidFill>
          <a:ln w="19050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28CF5A-DACF-49DE-BF69-799BFCB9A4D6}"/>
              </a:ext>
            </a:extLst>
          </p:cNvPr>
          <p:cNvSpPr>
            <a:spLocks noGrp="1"/>
          </p:cNvSpPr>
          <p:nvPr/>
        </p:nvSpPr>
        <p:spPr>
          <a:xfrm>
            <a:off x="8696325" y="2752725"/>
            <a:ext cx="2038350" cy="8667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NEXT STATE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sₜ₊₁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EA989E-88BC-42FD-A4C6-737CEDAFAA67}"/>
              </a:ext>
            </a:extLst>
          </p:cNvPr>
          <p:cNvSpPr>
            <a:spLocks noGrp="1"/>
          </p:cNvSpPr>
          <p:nvPr/>
        </p:nvSpPr>
        <p:spPr>
          <a:xfrm>
            <a:off x="8620125" y="4210050"/>
            <a:ext cx="2190750" cy="1000125"/>
          </a:xfrm>
          <a:prstGeom prst="roundRect">
            <a:avLst>
              <a:gd name="adj" fmla="val 17143"/>
            </a:avLst>
          </a:prstGeom>
          <a:solidFill>
            <a:srgbClr val="FBE1B9"/>
          </a:solidFill>
          <a:ln w="19050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416A9-0010-4B0C-960D-59E4DEC30D57}"/>
              </a:ext>
            </a:extLst>
          </p:cNvPr>
          <p:cNvSpPr>
            <a:spLocks noGrp="1"/>
          </p:cNvSpPr>
          <p:nvPr/>
        </p:nvSpPr>
        <p:spPr>
          <a:xfrm>
            <a:off x="8696325" y="4276725"/>
            <a:ext cx="2038350" cy="8667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REWARD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rₜ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75FDF0-D03D-488C-B139-91AF5773B922}"/>
              </a:ext>
            </a:extLst>
          </p:cNvPr>
          <p:cNvSpPr>
            <a:spLocks noGrp="1"/>
          </p:cNvSpPr>
          <p:nvPr/>
        </p:nvSpPr>
        <p:spPr>
          <a:xfrm>
            <a:off x="3067050" y="2943225"/>
            <a:ext cx="876300" cy="685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65A7F-007E-42DA-A630-14AB35D6FDE5}"/>
              </a:ext>
            </a:extLst>
          </p:cNvPr>
          <p:cNvSpPr>
            <a:spLocks noGrp="1"/>
          </p:cNvSpPr>
          <p:nvPr/>
        </p:nvSpPr>
        <p:spPr>
          <a:xfrm>
            <a:off x="3067050" y="4467225"/>
            <a:ext cx="876300" cy="685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A7570-4C63-4467-83F4-E871FC08D615}"/>
              </a:ext>
            </a:extLst>
          </p:cNvPr>
          <p:cNvSpPr>
            <a:spLocks noGrp="1"/>
          </p:cNvSpPr>
          <p:nvPr/>
        </p:nvSpPr>
        <p:spPr>
          <a:xfrm>
            <a:off x="7524750" y="2943225"/>
            <a:ext cx="876300" cy="685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E0F9D7-1543-42FB-B035-0176A7D30009}"/>
              </a:ext>
            </a:extLst>
          </p:cNvPr>
          <p:cNvSpPr>
            <a:spLocks noGrp="1"/>
          </p:cNvSpPr>
          <p:nvPr/>
        </p:nvSpPr>
        <p:spPr>
          <a:xfrm>
            <a:off x="7524750" y="4467225"/>
            <a:ext cx="876300" cy="685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A8D40F-7566-480F-B98A-9B9C7CE8BFAB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KNOWN MODEL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F9EBC2-4C1F-4C1B-BCFC-801C81BD564E}"/>
              </a:ext>
            </a:extLst>
          </p:cNvPr>
          <p:cNvSpPr>
            <a:spLocks noGrp="1"/>
          </p:cNvSpPr>
          <p:nvPr/>
        </p:nvSpPr>
        <p:spPr>
          <a:xfrm>
            <a:off x="2619375" y="58102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6D9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DD"/>
                </a:solidFill>
                <a:latin typeface="Arial"/>
                <a:ea typeface="Arial"/>
                <a:cs typeface="Arial"/>
              </a:rPr>
              <a:t>Rules, simulator, physics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BB3415-42F9-4413-8FBF-C9C28039A564}"/>
              </a:ext>
            </a:extLst>
          </p:cNvPr>
          <p:cNvSpPr>
            <a:spLocks noGrp="1"/>
          </p:cNvSpPr>
          <p:nvPr/>
        </p:nvSpPr>
        <p:spPr>
          <a:xfrm>
            <a:off x="6553200" y="582930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LEARNED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631E6D-0C65-4DE7-8526-20B0971D0EDC}"/>
              </a:ext>
            </a:extLst>
          </p:cNvPr>
          <p:cNvSpPr>
            <a:spLocks noGrp="1"/>
          </p:cNvSpPr>
          <p:nvPr/>
        </p:nvSpPr>
        <p:spPr>
          <a:xfrm>
            <a:off x="8382000" y="58102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6D9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DD"/>
                </a:solidFill>
                <a:latin typeface="Arial"/>
                <a:ea typeface="Arial"/>
                <a:cs typeface="Arial"/>
              </a:rPr>
              <a:t>Fit predictive structure from data</a:t>
            </a:r>
          </a:p>
        </p:txBody>
      </p:sp>
    </p:spTree>
    <p:extLst>
      <p:ext uri="{BB962C8B-B14F-4D97-AF65-F5344CB8AC3E}">
        <p14:creationId xmlns:p14="http://schemas.microsoft.com/office/powerpoint/2010/main" val="92744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Arrow Connector 33"/>
          <p:cNvCxnSpPr>
            <a:stCxn id="13" idx="6"/>
            <a:endCxn id="30" idx="2"/>
          </p:cNvCxnSpPr>
          <p:nvPr/>
        </p:nvCxnSpPr>
        <p:spPr>
          <a:xfrm>
            <a:off x="10077450" y="4324350"/>
            <a:ext cx="1066800" cy="28575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35" name="Straight Arrow Connector 34"/>
          <p:cNvCxnSpPr>
            <a:stCxn id="13" idx="6"/>
            <a:endCxn id="27" idx="2"/>
          </p:cNvCxnSpPr>
          <p:nvPr/>
        </p:nvCxnSpPr>
        <p:spPr>
          <a:xfrm flipV="1">
            <a:off x="10077450" y="3848100"/>
            <a:ext cx="1066800" cy="47625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36" name="Straight Arrow Connector 35"/>
          <p:cNvCxnSpPr>
            <a:stCxn id="11" idx="6"/>
            <a:endCxn id="24" idx="2"/>
          </p:cNvCxnSpPr>
          <p:nvPr/>
        </p:nvCxnSpPr>
        <p:spPr>
          <a:xfrm flipV="1">
            <a:off x="10077450" y="3181350"/>
            <a:ext cx="1066800" cy="95250"/>
          </a:xfrm>
          <a:prstGeom prst="straightConnector1">
            <a:avLst/>
          </a:prstGeom>
          <a:ln w="2857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7" name="Straight Arrow Connector 36"/>
          <p:cNvCxnSpPr>
            <a:stCxn id="9" idx="6"/>
            <a:endCxn id="21" idx="2"/>
          </p:cNvCxnSpPr>
          <p:nvPr/>
        </p:nvCxnSpPr>
        <p:spPr>
          <a:xfrm>
            <a:off x="10077450" y="2228850"/>
            <a:ext cx="1066800" cy="28575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38" name="Straight Arrow Connector 37"/>
          <p:cNvCxnSpPr>
            <a:stCxn id="9" idx="6"/>
            <a:endCxn id="18" idx="2"/>
          </p:cNvCxnSpPr>
          <p:nvPr/>
        </p:nvCxnSpPr>
        <p:spPr>
          <a:xfrm flipV="1">
            <a:off x="10077450" y="1752600"/>
            <a:ext cx="1066800" cy="47625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7" idx="6"/>
            <a:endCxn id="13" idx="2"/>
          </p:cNvCxnSpPr>
          <p:nvPr/>
        </p:nvCxnSpPr>
        <p:spPr>
          <a:xfrm>
            <a:off x="8801100" y="3400425"/>
            <a:ext cx="819150" cy="923925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cxnSp>
        <p:nvCxnSpPr>
          <p:cNvPr id="40" name="Straight Arrow Connector 39"/>
          <p:cNvCxnSpPr>
            <a:stCxn id="7" idx="6"/>
            <a:endCxn id="11" idx="2"/>
          </p:cNvCxnSpPr>
          <p:nvPr/>
        </p:nvCxnSpPr>
        <p:spPr>
          <a:xfrm flipV="1">
            <a:off x="8801100" y="3276600"/>
            <a:ext cx="819150" cy="123825"/>
          </a:xfrm>
          <a:prstGeom prst="straightConnector1">
            <a:avLst/>
          </a:prstGeom>
          <a:ln w="2857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41" name="Straight Arrow Connector 40"/>
          <p:cNvCxnSpPr>
            <a:stCxn id="7" idx="6"/>
            <a:endCxn id="9" idx="2"/>
          </p:cNvCxnSpPr>
          <p:nvPr/>
        </p:nvCxnSpPr>
        <p:spPr>
          <a:xfrm flipV="1">
            <a:off x="8801100" y="2228850"/>
            <a:ext cx="819150" cy="1171575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935FB80-7770-4A3F-A567-662849F36DB4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91499-8C6B-43D9-9B78-84B70A411A9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What is planning?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1B821-49EB-4AE0-B19D-FF92E31CA86C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B2FC12-3F0C-494A-9934-28302474CCFA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9F6E6-4B62-486F-ADA0-9F4EA37C717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E7129-E427-497E-A34F-F225083F6C2F}"/>
              </a:ext>
            </a:extLst>
          </p:cNvPr>
          <p:cNvSpPr>
            <a:spLocks noGrp="1"/>
          </p:cNvSpPr>
          <p:nvPr/>
        </p:nvSpPr>
        <p:spPr>
          <a:xfrm>
            <a:off x="723899" y="1762125"/>
            <a:ext cx="7105651" cy="400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4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 dirty="0"/>
              <a:t>Planning</a:t>
            </a:r>
            <a:r>
              <a:rPr dirty="0"/>
              <a:t> is </a:t>
            </a:r>
            <a:r>
              <a:rPr b="1" dirty="0">
                <a:solidFill>
                  <a:schemeClr val="accent2"/>
                </a:solidFill>
              </a:rPr>
              <a:t>simulating</a:t>
            </a:r>
            <a:r>
              <a:rPr dirty="0"/>
              <a:t> future trajectories and choosing the action that is likely to result in the </a:t>
            </a:r>
            <a:r>
              <a:rPr b="1" dirty="0">
                <a:solidFill>
                  <a:schemeClr val="accent3"/>
                </a:solidFill>
              </a:rPr>
              <a:t>best outcome</a:t>
            </a:r>
          </a:p>
          <a:p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chemeClr val="accent2"/>
                </a:solidFill>
              </a:rPr>
              <a:t>Simulating</a:t>
            </a:r>
            <a:r>
              <a:rPr dirty="0"/>
              <a:t> requires a model</a:t>
            </a:r>
          </a:p>
          <a:p>
            <a:pPr marL="279400" indent="-139700">
              <a:spcAft>
                <a:spcPts val="14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chemeClr val="accent3"/>
                </a:solidFill>
              </a:rPr>
              <a:t>Best outcome</a:t>
            </a:r>
            <a:r>
              <a:rPr dirty="0">
                <a:solidFill>
                  <a:schemeClr val="accent3"/>
                </a:solidFill>
              </a:rPr>
              <a:t> </a:t>
            </a:r>
            <a:r>
              <a:rPr dirty="0"/>
              <a:t>requires evaluating a state with a value or Q-function</a:t>
            </a:r>
          </a:p>
          <a:p>
            <a:pPr marL="279400" indent="-139700">
              <a:spcAft>
                <a:spcPts val="6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The knobs:</a:t>
            </a:r>
          </a:p>
          <a:p>
            <a:pPr marL="533400" indent="-139700">
              <a:spcAft>
                <a:spcPts val="10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More trajectories: more possible futures. We usually focus on the more likely or beneficial ones. This also reduces the effect of bad modeling.</a:t>
            </a:r>
          </a:p>
          <a:p>
            <a:pPr marL="533400" indent="-139700">
              <a:spcAft>
                <a:spcPts val="1000"/>
              </a:spcAft>
              <a:buChar char="•"/>
              <a:defRPr sz="172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Lookahead: reduces the effect of a bad value estimate by shifting toward actual rewards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9320B4-EC60-4EC8-8DA0-C7EF144643A4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704850" cy="704850"/>
          </a:xfrm>
          <a:prstGeom prst="ellipse">
            <a:avLst/>
          </a:prstGeom>
          <a:solidFill>
            <a:srgbClr val="071821"/>
          </a:solidFill>
          <a:ln w="28575">
            <a:solidFill>
              <a:srgbClr val="0718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8997B-EDC8-4F21-B99F-7DA741958B85}"/>
              </a:ext>
            </a:extLst>
          </p:cNvPr>
          <p:cNvSpPr>
            <a:spLocks noGrp="1"/>
          </p:cNvSpPr>
          <p:nvPr/>
        </p:nvSpPr>
        <p:spPr>
          <a:xfrm>
            <a:off x="8096250" y="3086100"/>
            <a:ext cx="704850" cy="628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sₜ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42FD85-BB0B-4F0B-8413-5749040D6141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457200" cy="457200"/>
          </a:xfrm>
          <a:prstGeom prst="ellipse">
            <a:avLst/>
          </a:prstGeom>
          <a:solidFill>
            <a:srgbClr val="BEEDE9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3F8F4-F67F-4D7D-94DC-095287A32DB3}"/>
              </a:ext>
            </a:extLst>
          </p:cNvPr>
          <p:cNvSpPr>
            <a:spLocks noGrp="1"/>
          </p:cNvSpPr>
          <p:nvPr/>
        </p:nvSpPr>
        <p:spPr>
          <a:xfrm>
            <a:off x="9620250" y="20383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C18C9B-F5F4-4797-BD74-001262DC4196}"/>
              </a:ext>
            </a:extLst>
          </p:cNvPr>
          <p:cNvSpPr>
            <a:spLocks noGrp="1"/>
          </p:cNvSpPr>
          <p:nvPr/>
        </p:nvSpPr>
        <p:spPr>
          <a:xfrm>
            <a:off x="9620250" y="3048000"/>
            <a:ext cx="457200" cy="457200"/>
          </a:xfrm>
          <a:prstGeom prst="ellipse">
            <a:avLst/>
          </a:prstGeom>
          <a:solidFill>
            <a:srgbClr val="FBE1B9"/>
          </a:solidFill>
          <a:ln w="28575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96E73-4E86-4851-BE42-C0CECC298691}"/>
              </a:ext>
            </a:extLst>
          </p:cNvPr>
          <p:cNvSpPr>
            <a:spLocks noGrp="1"/>
          </p:cNvSpPr>
          <p:nvPr/>
        </p:nvSpPr>
        <p:spPr>
          <a:xfrm>
            <a:off x="9620250" y="30861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BFC504-C730-4532-9223-D2831E0DDE01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457200" cy="457200"/>
          </a:xfrm>
          <a:prstGeom prst="ellipse">
            <a:avLst/>
          </a:prstGeom>
          <a:solidFill>
            <a:srgbClr val="BEEDE9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BE679C-485B-475E-AC1A-F16A50545394}"/>
              </a:ext>
            </a:extLst>
          </p:cNvPr>
          <p:cNvSpPr>
            <a:spLocks noGrp="1"/>
          </p:cNvSpPr>
          <p:nvPr/>
        </p:nvSpPr>
        <p:spPr>
          <a:xfrm>
            <a:off x="9620250" y="413385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1929B0-9FB4-40FF-8822-031378C859B7}"/>
              </a:ext>
            </a:extLst>
          </p:cNvPr>
          <p:cNvSpPr>
            <a:spLocks noGrp="1"/>
          </p:cNvSpPr>
          <p:nvPr/>
        </p:nvSpPr>
        <p:spPr>
          <a:xfrm>
            <a:off x="11144250" y="1619250"/>
            <a:ext cx="266700" cy="26670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2067C-BD70-486F-826B-147E0D72C43C}"/>
              </a:ext>
            </a:extLst>
          </p:cNvPr>
          <p:cNvSpPr>
            <a:spLocks noGrp="1"/>
          </p:cNvSpPr>
          <p:nvPr/>
        </p:nvSpPr>
        <p:spPr>
          <a:xfrm>
            <a:off x="11144250" y="165735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CF286B-C3A7-4B2E-81D9-EEBAF9296198}"/>
              </a:ext>
            </a:extLst>
          </p:cNvPr>
          <p:cNvSpPr>
            <a:spLocks noGrp="1"/>
          </p:cNvSpPr>
          <p:nvPr/>
        </p:nvSpPr>
        <p:spPr>
          <a:xfrm>
            <a:off x="11144250" y="2381250"/>
            <a:ext cx="266700" cy="26670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E9D603-EC87-4618-B9C5-49836138322D}"/>
              </a:ext>
            </a:extLst>
          </p:cNvPr>
          <p:cNvSpPr>
            <a:spLocks noGrp="1"/>
          </p:cNvSpPr>
          <p:nvPr/>
        </p:nvSpPr>
        <p:spPr>
          <a:xfrm>
            <a:off x="11144250" y="241935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C5EB2F-0379-480A-BFF4-16613CBDE79F}"/>
              </a:ext>
            </a:extLst>
          </p:cNvPr>
          <p:cNvSpPr>
            <a:spLocks noGrp="1"/>
          </p:cNvSpPr>
          <p:nvPr/>
        </p:nvSpPr>
        <p:spPr>
          <a:xfrm>
            <a:off x="11144250" y="3048000"/>
            <a:ext cx="266700" cy="26670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F0F5BF-C3DA-449B-B961-2CC83C744540}"/>
              </a:ext>
            </a:extLst>
          </p:cNvPr>
          <p:cNvSpPr>
            <a:spLocks noGrp="1"/>
          </p:cNvSpPr>
          <p:nvPr/>
        </p:nvSpPr>
        <p:spPr>
          <a:xfrm>
            <a:off x="11144250" y="308610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965657D-A38D-43C3-B46C-DA41B9F23049}"/>
              </a:ext>
            </a:extLst>
          </p:cNvPr>
          <p:cNvSpPr>
            <a:spLocks noGrp="1"/>
          </p:cNvSpPr>
          <p:nvPr/>
        </p:nvSpPr>
        <p:spPr>
          <a:xfrm>
            <a:off x="11144250" y="3714750"/>
            <a:ext cx="266700" cy="26670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D71D74-ECB4-470E-B033-3B8354FE49A7}"/>
              </a:ext>
            </a:extLst>
          </p:cNvPr>
          <p:cNvSpPr>
            <a:spLocks noGrp="1"/>
          </p:cNvSpPr>
          <p:nvPr/>
        </p:nvSpPr>
        <p:spPr>
          <a:xfrm>
            <a:off x="11144250" y="375285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0E564F-97E1-4124-948B-FA451702AD2B}"/>
              </a:ext>
            </a:extLst>
          </p:cNvPr>
          <p:cNvSpPr>
            <a:spLocks noGrp="1"/>
          </p:cNvSpPr>
          <p:nvPr/>
        </p:nvSpPr>
        <p:spPr>
          <a:xfrm>
            <a:off x="11144250" y="4476750"/>
            <a:ext cx="266700" cy="266700"/>
          </a:xfrm>
          <a:prstGeom prst="ellipse">
            <a:avLst/>
          </a:prstGeom>
          <a:solidFill>
            <a:srgbClr val="FFFDF8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40313B-D600-402B-A9FB-55B67FC05FCB}"/>
              </a:ext>
            </a:extLst>
          </p:cNvPr>
          <p:cNvSpPr>
            <a:spLocks noGrp="1"/>
          </p:cNvSpPr>
          <p:nvPr/>
        </p:nvSpPr>
        <p:spPr>
          <a:xfrm>
            <a:off x="11144250" y="4514850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4DBABB-9A71-4C02-93B3-C52ABC4A1AC9}"/>
              </a:ext>
            </a:extLst>
          </p:cNvPr>
          <p:cNvSpPr>
            <a:spLocks noGrp="1"/>
          </p:cNvSpPr>
          <p:nvPr/>
        </p:nvSpPr>
        <p:spPr>
          <a:xfrm>
            <a:off x="8782050" y="49530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7D"/>
                </a:solidFill>
                <a:latin typeface="Arial"/>
                <a:ea typeface="Arial"/>
                <a:cs typeface="Arial"/>
              </a:rPr>
              <a:t>simulate futures</a:t>
            </a:r>
          </a:p>
        </p:txBody>
      </p:sp>
    </p:spTree>
    <p:extLst>
      <p:ext uri="{BB962C8B-B14F-4D97-AF65-F5344CB8AC3E}">
        <p14:creationId xmlns:p14="http://schemas.microsoft.com/office/powerpoint/2010/main" val="58252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14D1E98-3B16-4814-ADA7-83216B3EC6EB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9D9BC-D51A-40DF-A5AC-817492A39E0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predictive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B00BD5-0D2D-47DC-9679-2B3B03977D8D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26C7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F18183-85CA-4670-8F84-DC0C61E8D0C9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A0A8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6FED4-0821-4450-9D39-A5E47640AA3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2A0A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4CD82B-B9EB-4163-A201-02BB3A3B695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Plan, act once, observe, then plan again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A35F16-9B03-4F54-98F5-C9C9C70CFE33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1905000" cy="895350"/>
          </a:xfrm>
          <a:prstGeom prst="roundRect">
            <a:avLst>
              <a:gd name="adj" fmla="val 19149"/>
            </a:avLst>
          </a:prstGeom>
          <a:solidFill>
            <a:srgbClr val="163542"/>
          </a:solidFill>
          <a:ln w="19050">
            <a:solidFill>
              <a:srgbClr val="163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C6050-CC8A-44E9-8A6A-F6FA2BF96E3F}"/>
              </a:ext>
            </a:extLst>
          </p:cNvPr>
          <p:cNvSpPr>
            <a:spLocks noGrp="1"/>
          </p:cNvSpPr>
          <p:nvPr/>
        </p:nvSpPr>
        <p:spPr>
          <a:xfrm>
            <a:off x="742950" y="2733675"/>
            <a:ext cx="1752600" cy="762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OBSERVE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CA0F0-9244-41A5-86CB-BD102328BDAC}"/>
              </a:ext>
            </a:extLst>
          </p:cNvPr>
          <p:cNvSpPr>
            <a:spLocks noGrp="1"/>
          </p:cNvSpPr>
          <p:nvPr/>
        </p:nvSpPr>
        <p:spPr>
          <a:xfrm>
            <a:off x="619125" y="37052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C4D7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D7DA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10B19B-7EFE-43DC-B35A-4E5ACFF49678}"/>
              </a:ext>
            </a:extLst>
          </p:cNvPr>
          <p:cNvSpPr>
            <a:spLocks noGrp="1"/>
          </p:cNvSpPr>
          <p:nvPr/>
        </p:nvSpPr>
        <p:spPr>
          <a:xfrm>
            <a:off x="3048000" y="2667000"/>
            <a:ext cx="1905000" cy="895350"/>
          </a:xfrm>
          <a:prstGeom prst="roundRect">
            <a:avLst>
              <a:gd name="adj" fmla="val 19149"/>
            </a:avLst>
          </a:prstGeom>
          <a:solidFill>
            <a:srgbClr val="15505B"/>
          </a:solidFill>
          <a:ln w="19050">
            <a:solidFill>
              <a:srgbClr val="1550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448583-AA3B-4A1B-8653-D2341B5BC031}"/>
              </a:ext>
            </a:extLst>
          </p:cNvPr>
          <p:cNvSpPr>
            <a:spLocks noGrp="1"/>
          </p:cNvSpPr>
          <p:nvPr/>
        </p:nvSpPr>
        <p:spPr>
          <a:xfrm>
            <a:off x="3124200" y="2733675"/>
            <a:ext cx="1752600" cy="762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IMAGINE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4FBC1-987C-4413-A15B-7A054163F0E0}"/>
              </a:ext>
            </a:extLst>
          </p:cNvPr>
          <p:cNvSpPr>
            <a:spLocks noGrp="1"/>
          </p:cNvSpPr>
          <p:nvPr/>
        </p:nvSpPr>
        <p:spPr>
          <a:xfrm>
            <a:off x="3000375" y="37052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5764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C4D7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D7DA"/>
                </a:solidFill>
                <a:latin typeface="Arial"/>
                <a:ea typeface="Arial"/>
                <a:cs typeface="Arial"/>
              </a:rPr>
              <a:t>candidate action sequences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0DB4F1-D9E8-4FE0-9802-766C12921C93}"/>
              </a:ext>
            </a:extLst>
          </p:cNvPr>
          <p:cNvSpPr>
            <a:spLocks noGrp="1"/>
          </p:cNvSpPr>
          <p:nvPr/>
        </p:nvSpPr>
        <p:spPr>
          <a:xfrm>
            <a:off x="5429250" y="2667000"/>
            <a:ext cx="1905000" cy="895350"/>
          </a:xfrm>
          <a:prstGeom prst="roundRect">
            <a:avLst>
              <a:gd name="adj" fmla="val 19149"/>
            </a:avLst>
          </a:prstGeom>
          <a:solidFill>
            <a:srgbClr val="176E73"/>
          </a:solidFill>
          <a:ln w="19050">
            <a:solidFill>
              <a:srgbClr val="176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A16E8A-9E63-4D60-B15C-0AC26874E87E}"/>
              </a:ext>
            </a:extLst>
          </p:cNvPr>
          <p:cNvSpPr>
            <a:spLocks noGrp="1"/>
          </p:cNvSpPr>
          <p:nvPr/>
        </p:nvSpPr>
        <p:spPr>
          <a:xfrm>
            <a:off x="5505450" y="2733675"/>
            <a:ext cx="1752600" cy="762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D79F15-ADD1-4A9C-9D21-D23E8779BF8C}"/>
              </a:ext>
            </a:extLst>
          </p:cNvPr>
          <p:cNvSpPr>
            <a:spLocks noGrp="1"/>
          </p:cNvSpPr>
          <p:nvPr/>
        </p:nvSpPr>
        <p:spPr>
          <a:xfrm>
            <a:off x="5381625" y="37052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C4D7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D7DA"/>
                </a:solidFill>
                <a:latin typeface="Arial"/>
                <a:ea typeface="Arial"/>
                <a:cs typeface="Arial"/>
              </a:rPr>
              <a:t>predicted returns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F724CA-11C9-46C5-B16A-51FDC36347E4}"/>
              </a:ext>
            </a:extLst>
          </p:cNvPr>
          <p:cNvSpPr>
            <a:spLocks noGrp="1"/>
          </p:cNvSpPr>
          <p:nvPr/>
        </p:nvSpPr>
        <p:spPr>
          <a:xfrm>
            <a:off x="7810500" y="2667000"/>
            <a:ext cx="1905000" cy="895350"/>
          </a:xfrm>
          <a:prstGeom prst="roundRect">
            <a:avLst>
              <a:gd name="adj" fmla="val 19149"/>
            </a:avLst>
          </a:prstGeom>
          <a:solidFill>
            <a:srgbClr val="188B8D"/>
          </a:solidFill>
          <a:ln w="19050">
            <a:solidFill>
              <a:srgbClr val="18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BBD46E-7F68-4318-85C7-D3903F52C34A}"/>
              </a:ext>
            </a:extLst>
          </p:cNvPr>
          <p:cNvSpPr>
            <a:spLocks noGrp="1"/>
          </p:cNvSpPr>
          <p:nvPr/>
        </p:nvSpPr>
        <p:spPr>
          <a:xfrm>
            <a:off x="7886700" y="2733675"/>
            <a:ext cx="1752600" cy="762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ACT ONCE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77C3FF-2ED8-430B-872A-1530A26A8C82}"/>
              </a:ext>
            </a:extLst>
          </p:cNvPr>
          <p:cNvSpPr>
            <a:spLocks noGrp="1"/>
          </p:cNvSpPr>
          <p:nvPr/>
        </p:nvSpPr>
        <p:spPr>
          <a:xfrm>
            <a:off x="7762875" y="37052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7153"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C4D7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D7DA"/>
                </a:solidFill>
                <a:latin typeface="Arial"/>
                <a:ea typeface="Arial"/>
                <a:cs typeface="Arial"/>
              </a:rPr>
              <a:t>execute only the first 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5DB8E3-23FA-48A0-A6EC-B4A920A9A53D}"/>
              </a:ext>
            </a:extLst>
          </p:cNvPr>
          <p:cNvSpPr>
            <a:spLocks noGrp="1"/>
          </p:cNvSpPr>
          <p:nvPr/>
        </p:nvSpPr>
        <p:spPr>
          <a:xfrm>
            <a:off x="2571750" y="2800350"/>
            <a:ext cx="476250" cy="5238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333739-89DC-4600-A149-7ECD10836D13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476250" cy="5238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25983A-82AB-40C4-881F-8EA5165B175F}"/>
              </a:ext>
            </a:extLst>
          </p:cNvPr>
          <p:cNvSpPr>
            <a:spLocks noGrp="1"/>
          </p:cNvSpPr>
          <p:nvPr/>
        </p:nvSpPr>
        <p:spPr>
          <a:xfrm>
            <a:off x="7334250" y="2800350"/>
            <a:ext cx="476250" cy="5238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8ADDCD-7F78-4636-94C7-3F3C0A43AF4D}"/>
              </a:ext>
            </a:extLst>
          </p:cNvPr>
          <p:cNvSpPr>
            <a:spLocks noGrp="1"/>
          </p:cNvSpPr>
          <p:nvPr/>
        </p:nvSpPr>
        <p:spPr>
          <a:xfrm>
            <a:off x="1428750" y="4495800"/>
            <a:ext cx="7334250" cy="4000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←  NEW OBSERVATION CLOSES THE LOOP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0FD7D-61B2-479C-8980-B29AA3D73578}"/>
              </a:ext>
            </a:extLst>
          </p:cNvPr>
          <p:cNvSpPr>
            <a:spLocks noGrp="1"/>
          </p:cNvSpPr>
          <p:nvPr/>
        </p:nvSpPr>
        <p:spPr>
          <a:xfrm>
            <a:off x="742950" y="5476875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MPC continuously corrects the plan as the real world reveals new information.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22122" y="147270"/>
            <a:ext cx="4783015" cy="23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28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66A6B3-22C6-4CF0-920A-3C5F6F96CAA4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F65B5B-6D86-42D9-9E29-F5125083BCE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Monte Carlo Tree Search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21FA91-16CA-4D95-BCF5-895153F43005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212C9-32AF-4ADC-A5A2-B0DF012ECFC1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BBA28-D8F8-4293-A9E0-78AAD4E8D6E7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D6FF7-B984-41F4-BC8B-8F8F812F8434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953000" cy="1619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3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Repeat:</a:t>
            </a:r>
          </a:p>
          <a:p>
            <a:pPr marL="533400" indent="-139700">
              <a:spcAft>
                <a:spcPts val="3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Select the most promising state</a:t>
            </a:r>
          </a:p>
          <a:p>
            <a:pPr marL="533400" indent="-139700">
              <a:spcAft>
                <a:spcPts val="3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Expand</a:t>
            </a:r>
          </a:p>
          <a:p>
            <a:pPr marL="533400" indent="-139700">
              <a:spcAft>
                <a:spcPts val="3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Simulate</a:t>
            </a:r>
          </a:p>
          <a:p>
            <a:pPr marL="533400" indent="-139700">
              <a:spcAft>
                <a:spcPts val="3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Backpropagate value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2042" y="3037743"/>
            <a:ext cx="9302708" cy="365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ADB7F8-0BF4-4D93-B44F-BB0A8EAF17BB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3E9C2A-CF9D-4F79-AEA6-2E3EDD8BBC6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MCTS properties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C9BEEA-C83A-4C98-9BCE-DA80A62A711B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BD3B5-8F59-4184-AD8E-8B18D089F07D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FE0CF-179F-4B59-B7E3-BC228D0C7D4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78687-C5F9-4944-89DE-2BF97F56875C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6286500" cy="40005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6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Focuses computation on promising trajectories using value estimates and an exploration bonus</a:t>
            </a:r>
          </a:p>
          <a:p>
            <a:pPr marL="279400" indent="-139700">
              <a:spcAft>
                <a:spcPts val="16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Classical MCTS may evaluate a leaf with a rollout. Neural MCTS often uses a learned value function</a:t>
            </a:r>
          </a:p>
          <a:p>
            <a:pPr marL="279400" indent="-139700">
              <a:spcAft>
                <a:spcPts val="16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More simulations expand the tree and improve value estimates</a:t>
            </a:r>
          </a:p>
          <a:p>
            <a:pPr marL="279400" indent="-139700">
              <a:spcAft>
                <a:spcPts val="1200"/>
              </a:spcAft>
              <a:buChar char="•"/>
              <a:defRPr sz="18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t>More compute usually produces better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FA47F7-93D6-4E19-BE1E-CDB981FAF248}"/>
              </a:ext>
            </a:extLst>
          </p:cNvPr>
          <p:cNvSpPr>
            <a:spLocks noGrp="1"/>
          </p:cNvSpPr>
          <p:nvPr/>
        </p:nvSpPr>
        <p:spPr>
          <a:xfrm>
            <a:off x="7429500" y="1762125"/>
            <a:ext cx="28575" cy="3905250"/>
          </a:xfrm>
          <a:prstGeom prst="rect">
            <a:avLst/>
          </a:prstGeom>
          <a:solidFill>
            <a:srgbClr val="CAD4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715250" y="1619250"/>
            <a:ext cx="38100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9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C7CB8F-561B-444E-A443-55E9A1BCC020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DDBB16-FD4E-4146-A12F-F6713C1D611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AlphaZero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0E8B5-8342-46A8-AB63-7A4DE3225253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DA148-393F-4472-8F5A-9D80AED46712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8DE09-4BF9-4CED-B518-922EC67051D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D007BF-8C9E-442D-B2B3-23DD864BA04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6191250" cy="4572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5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Keep MCTS, but:</a:t>
            </a:r>
          </a:p>
          <a:p>
            <a:pPr marL="533400" indent="-139700">
              <a:spcAft>
                <a:spcPts val="7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A value network replaces random rollouts</a:t>
            </a:r>
          </a:p>
          <a:p>
            <a:pPr marL="533400" indent="-139700">
              <a:spcAft>
                <a:spcPts val="7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A policy network supplies action priors; PUCT balances priors, value, and exploration</a:t>
            </a:r>
          </a:p>
          <a:p>
            <a:pPr marL="279400" indent="-139700">
              <a:spcAft>
                <a:spcPts val="12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Improve through self-play</a:t>
            </a:r>
          </a:p>
          <a:p>
            <a:pPr marL="279400" indent="-139700">
              <a:spcAft>
                <a:spcPts val="5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At each state:</a:t>
            </a:r>
          </a:p>
          <a:p>
            <a:pPr marL="533400" indent="-139700">
              <a:spcAft>
                <a:spcPts val="6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Run hundreds of MCTS simulations</a:t>
            </a:r>
          </a:p>
          <a:p>
            <a:pPr marL="533400" indent="-139700">
              <a:spcAft>
                <a:spcPts val="6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Record each action’s visit count N(</a:t>
            </a:r>
            <a:r>
              <a:rPr sz="2000" dirty="0" err="1"/>
              <a:t>s,a</a:t>
            </a:r>
            <a:r>
              <a:rPr sz="2000" dirty="0"/>
              <a:t>)</a:t>
            </a:r>
          </a:p>
          <a:p>
            <a:pPr marL="533400" indent="-139700">
              <a:spcAft>
                <a:spcPts val="6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Choose an action from π(</a:t>
            </a:r>
            <a:r>
              <a:rPr sz="2000" dirty="0" err="1"/>
              <a:t>a|s</a:t>
            </a:r>
            <a:r>
              <a:rPr sz="2000" dirty="0"/>
              <a:t>) ∝ N(</a:t>
            </a:r>
            <a:r>
              <a:rPr sz="2000" dirty="0" err="1"/>
              <a:t>s,a</a:t>
            </a:r>
            <a:r>
              <a:rPr sz="2000" dirty="0"/>
              <a:t>)¹/ᵀ and continue until the game ends</a:t>
            </a:r>
          </a:p>
          <a:p>
            <a:pPr marL="279400" indent="-139700">
              <a:spcAft>
                <a:spcPts val="1000"/>
              </a:spcAft>
              <a:buChar char="•"/>
              <a:defRPr sz="1575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Train the policy on MCTS visit counts and the value on the final game outcome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15313" y="1571625"/>
            <a:ext cx="1428750" cy="14287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15313" y="3143250"/>
            <a:ext cx="1428750" cy="14287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15313" y="4714875"/>
            <a:ext cx="1428750" cy="1428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30DD38-ADC1-49C8-9540-11EBD4509EAF}"/>
              </a:ext>
            </a:extLst>
          </p:cNvPr>
          <p:cNvSpPr>
            <a:spLocks noGrp="1"/>
          </p:cNvSpPr>
          <p:nvPr/>
        </p:nvSpPr>
        <p:spPr>
          <a:xfrm>
            <a:off x="7067550" y="207645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50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3BAA59-40DD-4F84-BF2D-A5CF34A47AFD}"/>
              </a:ext>
            </a:extLst>
          </p:cNvPr>
          <p:cNvSpPr>
            <a:spLocks noGrp="1"/>
          </p:cNvSpPr>
          <p:nvPr/>
        </p:nvSpPr>
        <p:spPr>
          <a:xfrm>
            <a:off x="6858000" y="3648075"/>
            <a:ext cx="1162050" cy="304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50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CHESS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1BBE88-5AB9-4EB9-AC37-E49AB5504B14}"/>
              </a:ext>
            </a:extLst>
          </p:cNvPr>
          <p:cNvSpPr>
            <a:spLocks noGrp="1"/>
          </p:cNvSpPr>
          <p:nvPr/>
        </p:nvSpPr>
        <p:spPr>
          <a:xfrm>
            <a:off x="6858000" y="5219700"/>
            <a:ext cx="1162050" cy="304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5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SHOGI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E3176-CEE2-4864-AAFB-0D42DE3620D9}"/>
              </a:ext>
            </a:extLst>
          </p:cNvPr>
          <p:cNvSpPr>
            <a:spLocks noGrp="1"/>
          </p:cNvSpPr>
          <p:nvPr/>
        </p:nvSpPr>
        <p:spPr>
          <a:xfrm>
            <a:off x="7929563" y="228600"/>
            <a:ext cx="1714500" cy="2000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66757D"/>
                </a:solidFill>
                <a:latin typeface="Arial"/>
                <a:ea typeface="Arial"/>
                <a:cs typeface="Arial"/>
              </a:rPr>
              <a:t>Known game rules = the model</a:t>
            </a:r>
          </a:p>
        </p:txBody>
      </p:sp>
    </p:spTree>
    <p:extLst>
      <p:ext uri="{BB962C8B-B14F-4D97-AF65-F5344CB8AC3E}">
        <p14:creationId xmlns:p14="http://schemas.microsoft.com/office/powerpoint/2010/main" val="54691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29B6BDC-ED64-4FC5-8E1C-E420C8270534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383C4-78DE-4C87-97AF-9B716E830F3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MuZero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A570D-C5BF-4996-91C9-474210A30BE9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26C7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530E4-B9B4-4F67-A5E8-16A3B797FBDB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A0A8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222809-0C5F-46C5-9E23-6E0FA9944DFE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2A0A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855A9C-DC7B-4E34-9676-8B0CBAFA342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AlphaZero needs a simulator. MuZero instead learns the three mappings that planning needs.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E984A6-8458-4DFF-92CF-9A31F305EE39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3143250" cy="1676400"/>
          </a:xfrm>
          <a:prstGeom prst="roundRect">
            <a:avLst>
              <a:gd name="adj" fmla="val 12500"/>
            </a:avLst>
          </a:prstGeom>
          <a:solidFill>
            <a:srgbClr val="164B56"/>
          </a:solidFill>
          <a:ln w="28575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BA36BD-0DD7-44CE-BF17-2577586E8A13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REPRESENTATION  hθ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5439A9-9B1A-48BB-9043-CFD16511BE35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2724150" cy="7143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 history  →  latent state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81CAAF-818D-486E-BD06-7E722C9E77EC}"/>
              </a:ext>
            </a:extLst>
          </p:cNvPr>
          <p:cNvSpPr>
            <a:spLocks noGrp="1"/>
          </p:cNvSpPr>
          <p:nvPr/>
        </p:nvSpPr>
        <p:spPr>
          <a:xfrm>
            <a:off x="4114800" y="2476500"/>
            <a:ext cx="3143250" cy="1676400"/>
          </a:xfrm>
          <a:prstGeom prst="roundRect">
            <a:avLst>
              <a:gd name="adj" fmla="val 12500"/>
            </a:avLst>
          </a:prstGeom>
          <a:solidFill>
            <a:srgbClr val="5B4330"/>
          </a:solidFill>
          <a:ln w="28575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6627C1-1AD3-4FE3-B55C-14D847502F0F}"/>
              </a:ext>
            </a:extLst>
          </p:cNvPr>
          <p:cNvSpPr>
            <a:spLocks noGrp="1"/>
          </p:cNvSpPr>
          <p:nvPr/>
        </p:nvSpPr>
        <p:spPr>
          <a:xfrm>
            <a:off x="4286250" y="26860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DYNAMICS  gθ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F76014-AC75-40AE-AA4D-3A79D5757E21}"/>
              </a:ext>
            </a:extLst>
          </p:cNvPr>
          <p:cNvSpPr>
            <a:spLocks noGrp="1"/>
          </p:cNvSpPr>
          <p:nvPr/>
        </p:nvSpPr>
        <p:spPr>
          <a:xfrm>
            <a:off x="4324350" y="3143250"/>
            <a:ext cx="2724150" cy="7143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state + action  →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latent state + reward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C5BFF4-AF90-43B8-A1B4-BCC7EFB19CE2}"/>
              </a:ext>
            </a:extLst>
          </p:cNvPr>
          <p:cNvSpPr>
            <a:spLocks noGrp="1"/>
          </p:cNvSpPr>
          <p:nvPr/>
        </p:nvSpPr>
        <p:spPr>
          <a:xfrm>
            <a:off x="7600950" y="2476500"/>
            <a:ext cx="3143250" cy="1676400"/>
          </a:xfrm>
          <a:prstGeom prst="roundRect">
            <a:avLst>
              <a:gd name="adj" fmla="val 12500"/>
            </a:avLst>
          </a:prstGeom>
          <a:solidFill>
            <a:srgbClr val="263E70"/>
          </a:solidFill>
          <a:ln w="28575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B2AC21-AC62-4CA1-871D-C499973EBE84}"/>
              </a:ext>
            </a:extLst>
          </p:cNvPr>
          <p:cNvSpPr>
            <a:spLocks noGrp="1"/>
          </p:cNvSpPr>
          <p:nvPr/>
        </p:nvSpPr>
        <p:spPr>
          <a:xfrm>
            <a:off x="7772400" y="26860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PREDICTION  fθ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B577B0-CC3B-4800-B735-45DDD76906C6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2724150" cy="7143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state  →  policy +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F647C-EFE1-47DF-A505-FB9F8F25BA6D}"/>
              </a:ext>
            </a:extLst>
          </p:cNvPr>
          <p:cNvSpPr>
            <a:spLocks noGrp="1"/>
          </p:cNvSpPr>
          <p:nvPr/>
        </p:nvSpPr>
        <p:spPr>
          <a:xfrm>
            <a:off x="2667000" y="44386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MCTS runs inside the learned latent dynamics model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565461-72A7-4C9B-A527-10AA9A2996FD}"/>
              </a:ext>
            </a:extLst>
          </p:cNvPr>
          <p:cNvSpPr>
            <a:spLocks noGrp="1"/>
          </p:cNvSpPr>
          <p:nvPr/>
        </p:nvSpPr>
        <p:spPr>
          <a:xfrm>
            <a:off x="714375" y="5095875"/>
            <a:ext cx="10763250" cy="904875"/>
          </a:xfrm>
          <a:prstGeom prst="roundRect">
            <a:avLst>
              <a:gd name="adj" fmla="val 16842"/>
            </a:avLst>
          </a:prstGeom>
          <a:solidFill>
            <a:srgbClr val="102D39"/>
          </a:solidFill>
          <a:ln w="9525">
            <a:solidFill>
              <a:srgbClr val="315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C728CE-C28E-45D0-95AB-BEA6B7DD93D3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2619375" cy="247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LATENT, NOT PIXEL-PERFECT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AD2416-EDD5-4488-B451-5BEEE07C66FE}"/>
              </a:ext>
            </a:extLst>
          </p:cNvPr>
          <p:cNvSpPr>
            <a:spLocks noGrp="1"/>
          </p:cNvSpPr>
          <p:nvPr/>
        </p:nvSpPr>
        <p:spPr>
          <a:xfrm>
            <a:off x="3476625" y="5219700"/>
            <a:ext cx="7762875" cy="609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D5E4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E4E7"/>
                </a:solidFill>
                <a:latin typeface="Arial"/>
                <a:ea typeface="Arial"/>
                <a:cs typeface="Arial"/>
              </a:rPr>
              <a:t>The learned state only needs to preserve reward, policy, and value information. Like JEPA, prediction happens in representation space—but MuZero’s targets are planning-specific.</a:t>
            </a:r>
          </a:p>
        </p:txBody>
      </p:sp>
    </p:spTree>
    <p:extLst>
      <p:ext uri="{BB962C8B-B14F-4D97-AF65-F5344CB8AC3E}">
        <p14:creationId xmlns:p14="http://schemas.microsoft.com/office/powerpoint/2010/main" val="104850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nector: Elbow 26"/>
          <p:cNvCxnSpPr>
            <a:stCxn id="13" idx="1"/>
            <a:endCxn id="7" idx="2"/>
          </p:cNvCxnSpPr>
          <p:nvPr/>
        </p:nvCxnSpPr>
        <p:spPr>
          <a:xfrm flipH="1" flipV="1">
            <a:off x="1804988" y="3571875"/>
            <a:ext cx="7386638" cy="1238250"/>
          </a:xfrm>
          <a:prstGeom prst="bentConnector2">
            <a:avLst/>
          </a:prstGeom>
          <a:ln w="28575">
            <a:solidFill>
              <a:srgbClr val="66757D"/>
            </a:solidFill>
            <a:prstDash val="solid"/>
            <a:tailEnd type="triangle" w="sm" len="sm"/>
          </a:ln>
        </p:spPr>
      </p:cxnSp>
      <p:cxnSp>
        <p:nvCxnSpPr>
          <p:cNvPr id="28" name="Connector: Elbow 27"/>
          <p:cNvCxnSpPr>
            <a:stCxn id="11" idx="2"/>
            <a:endCxn id="13" idx="0"/>
          </p:cNvCxnSpPr>
          <p:nvPr/>
        </p:nvCxnSpPr>
        <p:spPr>
          <a:xfrm>
            <a:off x="9239250" y="3714750"/>
            <a:ext cx="1071563" cy="6858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5877E8"/>
            </a:solidFill>
            <a:prstDash val="solid"/>
            <a:tailEnd type="triangle" w="sm" len="sm"/>
          </a:ln>
        </p:spPr>
      </p:cxnSp>
      <p:cxnSp>
        <p:nvCxnSpPr>
          <p:cNvPr id="29" name="Straight Arrow Connector 28"/>
          <p:cNvCxnSpPr>
            <a:stCxn id="9" idx="3"/>
            <a:endCxn id="11" idx="1"/>
          </p:cNvCxnSpPr>
          <p:nvPr/>
        </p:nvCxnSpPr>
        <p:spPr>
          <a:xfrm>
            <a:off x="6619875" y="3143250"/>
            <a:ext cx="1190625" cy="0"/>
          </a:xfrm>
          <a:prstGeom prst="straightConnector1">
            <a:avLst/>
          </a:prstGeom>
          <a:ln w="28575">
            <a:solidFill>
              <a:srgbClr val="F4A641"/>
            </a:solidFill>
            <a:prstDash val="solid"/>
            <a:tailEnd type="triangle" w="sm" len="sm"/>
          </a:ln>
        </p:spPr>
      </p:cxnSp>
      <p:cxnSp>
        <p:nvCxnSpPr>
          <p:cNvPr id="30" name="Straight Arrow Connector 29"/>
          <p:cNvCxnSpPr>
            <a:stCxn id="7" idx="3"/>
            <a:endCxn id="9" idx="1"/>
          </p:cNvCxnSpPr>
          <p:nvPr/>
        </p:nvCxnSpPr>
        <p:spPr>
          <a:xfrm>
            <a:off x="2924175" y="3143250"/>
            <a:ext cx="1076325" cy="0"/>
          </a:xfrm>
          <a:prstGeom prst="straightConnector1">
            <a:avLst/>
          </a:prstGeom>
          <a:ln w="28575">
            <a:solidFill>
              <a:srgbClr val="26C7C2"/>
            </a:solidFill>
            <a:prstDash val="solid"/>
            <a:tailEnd type="triangle" w="sm" len="sm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88AAC-0D3D-411D-94DD-921E285204A0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31E90-E1D3-4873-A3A9-9C101CA928F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Dreamer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71FED2-2EF6-4F92-9D48-BF259A90355B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33DFA-AE73-4A94-A5F4-CA1E45559E3E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232E9-994F-4F76-BFC0-0D921F36280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1F5F22-96F4-4ABD-915F-A29E288D1B28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6858000" cy="4381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0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757D"/>
                </a:solidFill>
                <a:latin typeface="Arial"/>
                <a:ea typeface="Arial"/>
                <a:cs typeface="Arial"/>
              </a:rPr>
              <a:t>Learn behavior from imagined latent trajectories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669C12-5348-474E-AFE2-2CDF3C7B608E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2238375" cy="857250"/>
          </a:xfrm>
          <a:prstGeom prst="roundRect">
            <a:avLst>
              <a:gd name="adj" fmla="val 20000"/>
            </a:avLst>
          </a:prstGeom>
          <a:solidFill>
            <a:srgbClr val="071821"/>
          </a:solidFill>
          <a:ln w="19050">
            <a:solidFill>
              <a:srgbClr val="0718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D2A8C3-D12E-4818-8CF5-7E3A394A2E0C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085975" cy="7239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EXPERIENCE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474AF8-D507-4C9F-9DEF-4EDCAFCE0278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619375" cy="1143000"/>
          </a:xfrm>
          <a:prstGeom prst="roundRect">
            <a:avLst>
              <a:gd name="adj" fmla="val 15000"/>
            </a:avLst>
          </a:prstGeom>
          <a:solidFill>
            <a:srgbClr val="BEEDE9"/>
          </a:solidFill>
          <a:ln w="19050">
            <a:solidFill>
              <a:srgbClr val="26C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4DFA03-44CE-44D3-B493-CC02F37FE722}"/>
              </a:ext>
            </a:extLst>
          </p:cNvPr>
          <p:cNvSpPr>
            <a:spLocks noGrp="1"/>
          </p:cNvSpPr>
          <p:nvPr/>
        </p:nvSpPr>
        <p:spPr>
          <a:xfrm>
            <a:off x="4076700" y="2638425"/>
            <a:ext cx="2466975" cy="1009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LATENT WORLD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8BE271-4244-40AF-A3C9-E7B54B32D39D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2857500" cy="1143000"/>
          </a:xfrm>
          <a:prstGeom prst="roundRect">
            <a:avLst>
              <a:gd name="adj" fmla="val 15000"/>
            </a:avLst>
          </a:prstGeom>
          <a:solidFill>
            <a:srgbClr val="FBE1B9"/>
          </a:solidFill>
          <a:ln w="19050">
            <a:solidFill>
              <a:srgbClr val="F4A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D37313-4039-4AA0-AD54-277B5626E50E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2705100" cy="1009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IMAGINED</a:t>
            </a: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TRAJECTORIES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18564B-8C3D-4E1A-B609-7D34BFA2C5C2}"/>
              </a:ext>
            </a:extLst>
          </p:cNvPr>
          <p:cNvSpPr>
            <a:spLocks noGrp="1"/>
          </p:cNvSpPr>
          <p:nvPr/>
        </p:nvSpPr>
        <p:spPr>
          <a:xfrm>
            <a:off x="9191625" y="4400550"/>
            <a:ext cx="2238375" cy="819150"/>
          </a:xfrm>
          <a:prstGeom prst="roundRect">
            <a:avLst>
              <a:gd name="adj" fmla="val 20930"/>
            </a:avLst>
          </a:prstGeom>
          <a:solidFill>
            <a:srgbClr val="5877E8"/>
          </a:solidFill>
          <a:ln w="19050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DB9A93-B19B-4DD6-BDF0-8055CCF055F9}"/>
              </a:ext>
            </a:extLst>
          </p:cNvPr>
          <p:cNvSpPr>
            <a:spLocks noGrp="1"/>
          </p:cNvSpPr>
          <p:nvPr/>
        </p:nvSpPr>
        <p:spPr>
          <a:xfrm>
            <a:off x="9267825" y="4467225"/>
            <a:ext cx="2085975" cy="685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ACTOR + CRITIC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C01ABF-5BE2-4C79-9E08-AF2E721C3BE4}"/>
              </a:ext>
            </a:extLst>
          </p:cNvPr>
          <p:cNvSpPr>
            <a:spLocks noGrp="1"/>
          </p:cNvSpPr>
          <p:nvPr/>
        </p:nvSpPr>
        <p:spPr>
          <a:xfrm>
            <a:off x="3028950" y="22383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train the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10B9D4-0EC6-4C5D-9A83-9235179BE14D}"/>
              </a:ext>
            </a:extLst>
          </p:cNvPr>
          <p:cNvSpPr>
            <a:spLocks noGrp="1"/>
          </p:cNvSpPr>
          <p:nvPr/>
        </p:nvSpPr>
        <p:spPr>
          <a:xfrm>
            <a:off x="9620250" y="39052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train behavior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C94CA0-6FB9-4AC4-8A91-00B2945EC457}"/>
              </a:ext>
            </a:extLst>
          </p:cNvPr>
          <p:cNvSpPr>
            <a:spLocks noGrp="1"/>
          </p:cNvSpPr>
          <p:nvPr/>
        </p:nvSpPr>
        <p:spPr>
          <a:xfrm>
            <a:off x="2905125" y="44958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collect more experience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4270A9-378F-4EF0-A6B7-CE2F0D3FE4ED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Benefit: high sample efficiency and cheap parallel imagination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FFBFE2-486B-4DB4-90C2-E572B16F8A67}"/>
              </a:ext>
            </a:extLst>
          </p:cNvPr>
          <p:cNvSpPr>
            <a:spLocks noGrp="1"/>
          </p:cNvSpPr>
          <p:nvPr/>
        </p:nvSpPr>
        <p:spPr>
          <a:xfrm>
            <a:off x="6762750" y="52387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4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Risk: model error biases the learned policy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18B901-8663-43F6-B30B-B6380F0B507F}"/>
              </a:ext>
            </a:extLst>
          </p:cNvPr>
          <p:cNvSpPr>
            <a:spLocks noGrp="1"/>
          </p:cNvSpPr>
          <p:nvPr/>
        </p:nvSpPr>
        <p:spPr>
          <a:xfrm>
            <a:off x="714375" y="5734050"/>
            <a:ext cx="10763250" cy="495300"/>
          </a:xfrm>
          <a:prstGeom prst="roundRect">
            <a:avLst>
              <a:gd name="adj" fmla="val 26923"/>
            </a:avLst>
          </a:prstGeom>
          <a:solidFill>
            <a:srgbClr val="EAF2FB"/>
          </a:solidFill>
          <a:ln w="9525">
            <a:solidFill>
              <a:srgbClr val="587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4D4826-DC6B-49AC-9057-73AC3726316B}"/>
              </a:ext>
            </a:extLst>
          </p:cNvPr>
          <p:cNvSpPr>
            <a:spLocks noGrp="1"/>
          </p:cNvSpPr>
          <p:nvPr/>
        </p:nvSpPr>
        <p:spPr>
          <a:xfrm>
            <a:off x="914400" y="587692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5238"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DAYDREAMER — REAL ROBOTS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D1935-6737-44A7-96FD-B1D20307989E}"/>
              </a:ext>
            </a:extLst>
          </p:cNvPr>
          <p:cNvSpPr>
            <a:spLocks noGrp="1"/>
          </p:cNvSpPr>
          <p:nvPr/>
        </p:nvSpPr>
        <p:spPr>
          <a:xfrm>
            <a:off x="3381375" y="5819775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A quadruped learned to stand and walk from scratch in about 1 hour, without a simulator.</a:t>
            </a:r>
          </a:p>
        </p:txBody>
      </p:sp>
    </p:spTree>
    <p:extLst>
      <p:ext uri="{BB962C8B-B14F-4D97-AF65-F5344CB8AC3E}">
        <p14:creationId xmlns:p14="http://schemas.microsoft.com/office/powerpoint/2010/main" val="56709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690765B-ADBF-4C4B-90DE-EC37984203FF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A85B9-AC18-45E4-B980-C05E2D17117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Published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04CD8-7D54-4209-90E1-B3DF68B90C61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F4A64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990B3-5CAD-459C-86BC-AC3F8EF8AEC6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9399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B36B68-F87D-48AB-ABA3-A98046E92F3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5939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93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5D438-AF2D-4409-9D3B-B75A40EC2275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6580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MBRL has strong published demonstrations across fields—but the evidence ranges from real hardware to simulation studies.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72D6F2-21D2-479D-89AC-CDF5B80F1C85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5143500" cy="1619250"/>
          </a:xfrm>
          <a:prstGeom prst="roundRect">
            <a:avLst>
              <a:gd name="adj" fmla="val 10588"/>
            </a:avLst>
          </a:prstGeom>
          <a:solidFill>
            <a:srgbClr val="FFFDF8"/>
          </a:solidFill>
          <a:ln w="19050">
            <a:solidFill>
              <a:srgbClr val="26C7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8AA3F-5C10-49A4-8496-2D46F299DCAF}"/>
              </a:ext>
            </a:extLst>
          </p:cNvPr>
          <p:cNvSpPr>
            <a:spLocks noGrp="1"/>
          </p:cNvSpPr>
          <p:nvPr/>
        </p:nvSpPr>
        <p:spPr>
          <a:xfrm>
            <a:off x="876300" y="23907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4EAD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AD83"/>
                </a:solidFill>
                <a:latin typeface="Arial"/>
                <a:ea typeface="Arial"/>
                <a:cs typeface="Arial"/>
              </a:rPr>
              <a:t>REAL ROBOTS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950703-BA28-44E4-B67F-C12C3EDFD9C6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ROBOTICS — DayDreamer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B7A469-6B13-45A3-A810-36E9A8748B6E}"/>
              </a:ext>
            </a:extLst>
          </p:cNvPr>
          <p:cNvSpPr>
            <a:spLocks noGrp="1"/>
          </p:cNvSpPr>
          <p:nvPr/>
        </p:nvSpPr>
        <p:spPr>
          <a:xfrm>
            <a:off x="876300" y="3019425"/>
            <a:ext cx="4724400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2B"/>
                </a:solidFill>
                <a:latin typeface="Arial"/>
                <a:ea typeface="Arial"/>
                <a:cs typeface="Arial"/>
              </a:rPr>
              <a:t>Learned online on four physical robots without simulators; a quadruped learned to stand and walk in about 1 hour.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C89BA-8E89-493C-B341-15161AD62995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4724400" cy="1809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5034"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Wu et al. · CoRL 2022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4EF2A3-FCAF-4173-BE2C-BB1B3F1BEE15}"/>
              </a:ext>
            </a:extLst>
          </p:cNvPr>
          <p:cNvSpPr>
            <a:spLocks noGrp="1"/>
          </p:cNvSpPr>
          <p:nvPr/>
        </p:nvSpPr>
        <p:spPr>
          <a:xfrm>
            <a:off x="6381750" y="2238375"/>
            <a:ext cx="5143500" cy="1619250"/>
          </a:xfrm>
          <a:prstGeom prst="roundRect">
            <a:avLst>
              <a:gd name="adj" fmla="val 10588"/>
            </a:avLst>
          </a:prstGeom>
          <a:solidFill>
            <a:srgbClr val="FFFDF8"/>
          </a:solidFill>
          <a:ln w="19050">
            <a:solidFill>
              <a:srgbClr val="5877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52294B-A3CF-4E22-BA43-5BEE4EA41CD8}"/>
              </a:ext>
            </a:extLst>
          </p:cNvPr>
          <p:cNvSpPr>
            <a:spLocks noGrp="1"/>
          </p:cNvSpPr>
          <p:nvPr/>
        </p:nvSpPr>
        <p:spPr>
          <a:xfrm>
            <a:off x="6591300" y="2390775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DRIVING SIMULATION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799D1-5415-4E3C-A464-A9B23EC30A30}"/>
              </a:ext>
            </a:extLst>
          </p:cNvPr>
          <p:cNvSpPr>
            <a:spLocks noGrp="1"/>
          </p:cNvSpPr>
          <p:nvPr/>
        </p:nvSpPr>
        <p:spPr>
          <a:xfrm>
            <a:off x="6591300" y="266700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AUTONOMOUS DRIVING — UA-MBRL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0AABD1-2ED9-4F7F-8639-3A47943FB410}"/>
              </a:ext>
            </a:extLst>
          </p:cNvPr>
          <p:cNvSpPr>
            <a:spLocks noGrp="1"/>
          </p:cNvSpPr>
          <p:nvPr/>
        </p:nvSpPr>
        <p:spPr>
          <a:xfrm>
            <a:off x="6591300" y="3019425"/>
            <a:ext cx="4724400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7797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2B"/>
                </a:solidFill>
                <a:latin typeface="Arial"/>
                <a:ea typeface="Arial"/>
                <a:cs typeface="Arial"/>
              </a:rPr>
              <a:t>An uncertainty-aware learned environment model generated virtual interactions for end-to-end vehicle control across driving scenarios.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DDD73-F123-465A-9D64-A3E86B693B69}"/>
              </a:ext>
            </a:extLst>
          </p:cNvPr>
          <p:cNvSpPr>
            <a:spLocks noGrp="1"/>
          </p:cNvSpPr>
          <p:nvPr/>
        </p:nvSpPr>
        <p:spPr>
          <a:xfrm>
            <a:off x="6591300" y="3619500"/>
            <a:ext cx="4724400" cy="1809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5034"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Wu, Huang &amp; Lv · IEEE T-IV 2022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2F70B1-6E7C-4B44-B147-EE5AD6954447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5143500" cy="1619250"/>
          </a:xfrm>
          <a:prstGeom prst="roundRect">
            <a:avLst>
              <a:gd name="adj" fmla="val 10588"/>
            </a:avLst>
          </a:prstGeom>
          <a:solidFill>
            <a:srgbClr val="FFFDF8"/>
          </a:solidFill>
          <a:ln w="19050">
            <a:solidFill>
              <a:srgbClr val="E76F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2A17FC-0267-4E20-A9A6-2206EF511CC3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PK–PD SIMULATION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92269D-02FA-4061-9D6D-8DEBC13BB7F7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PRECISION DOSING — Propofol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12341-9C59-43D0-A0EE-8BBC417BC936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4724400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7226"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2B"/>
                </a:solidFill>
                <a:latin typeface="Arial"/>
                <a:ea typeface="Arial"/>
                <a:cs typeface="Arial"/>
              </a:rPr>
              <a:t>A pharmacokinetic–pharmacodynamic model supplied synthetic experience for an RL dosing policy; the paper is explicitly a theoretical case study.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45723F-435C-4AE3-8EFB-B692E8A304D8}"/>
              </a:ext>
            </a:extLst>
          </p:cNvPr>
          <p:cNvSpPr>
            <a:spLocks noGrp="1"/>
          </p:cNvSpPr>
          <p:nvPr/>
        </p:nvSpPr>
        <p:spPr>
          <a:xfrm>
            <a:off x="876300" y="5476875"/>
            <a:ext cx="4724400" cy="1809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5034"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Clinical and Translational Science · 2023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2120A7-4450-402C-925A-D894A4772C62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5143500" cy="1619250"/>
          </a:xfrm>
          <a:prstGeom prst="roundRect">
            <a:avLst>
              <a:gd name="adj" fmla="val 10588"/>
            </a:avLst>
          </a:prstGeom>
          <a:solidFill>
            <a:srgbClr val="FFFDF8"/>
          </a:solidFill>
          <a:ln w="19050">
            <a:solidFill>
              <a:srgbClr val="F4A6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5CDBE-42FB-482A-9B48-AAF6EC939A24}"/>
              </a:ext>
            </a:extLst>
          </p:cNvPr>
          <p:cNvSpPr>
            <a:spLocks noGrp="1"/>
          </p:cNvSpPr>
          <p:nvPr/>
        </p:nvSpPr>
        <p:spPr>
          <a:xfrm>
            <a:off x="6591300" y="42481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BUILDING SIMULATION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55795F-E859-47F7-9104-42B8D4575468}"/>
              </a:ext>
            </a:extLst>
          </p:cNvPr>
          <p:cNvSpPr>
            <a:spLocks noGrp="1"/>
          </p:cNvSpPr>
          <p:nvPr/>
        </p:nvSpPr>
        <p:spPr>
          <a:xfrm>
            <a:off x="6591300" y="4524375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8261"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2B"/>
                </a:solidFill>
                <a:latin typeface="Arial"/>
                <a:ea typeface="Arial"/>
                <a:cs typeface="Arial"/>
              </a:rPr>
              <a:t>ENERGY — CLUE HVAC CONTROL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010AC1-F585-480C-8BF0-F5FF211BDC0D}"/>
              </a:ext>
            </a:extLst>
          </p:cNvPr>
          <p:cNvSpPr>
            <a:spLocks noGrp="1"/>
          </p:cNvSpPr>
          <p:nvPr/>
        </p:nvSpPr>
        <p:spPr>
          <a:xfrm>
            <a:off x="6591300" y="4876800"/>
            <a:ext cx="4724400" cy="4953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423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2B"/>
                </a:solidFill>
                <a:latin typeface="Arial"/>
                <a:ea typeface="Arial"/>
                <a:cs typeface="Arial"/>
              </a:rPr>
              <a:t>A Gaussian-process dynamics model and uncertainty-aware control were evaluated on a simulated five-zone office building.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8A4143-9232-4C59-AF72-ED151230E096}"/>
              </a:ext>
            </a:extLst>
          </p:cNvPr>
          <p:cNvSpPr>
            <a:spLocks noGrp="1"/>
          </p:cNvSpPr>
          <p:nvPr/>
        </p:nvSpPr>
        <p:spPr>
          <a:xfrm>
            <a:off x="6591300" y="5476875"/>
            <a:ext cx="4724400" cy="1809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85034"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67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7D"/>
                </a:solidFill>
                <a:latin typeface="Arial"/>
                <a:ea typeface="Arial"/>
                <a:cs typeface="Arial"/>
              </a:rPr>
              <a:t>Ding et al. · ACM BuildSys 2023</a:t>
            </a:r>
          </a:p>
        </p:txBody>
      </p:sp>
    </p:spTree>
    <p:extLst>
      <p:ext uri="{BB962C8B-B14F-4D97-AF65-F5344CB8AC3E}">
        <p14:creationId xmlns:p14="http://schemas.microsoft.com/office/powerpoint/2010/main" val="1273474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F5CE3DB-B6AD-410C-B0D0-AC7724C9D53B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178E9C-5F2E-4D07-8D0D-4E19A6C9F534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A3424-FA10-4CD2-9E15-3D5B7D76FECF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23900" cy="47625"/>
          </a:xfrm>
          <a:prstGeom prst="rect">
            <a:avLst/>
          </a:prstGeom>
          <a:solidFill>
            <a:srgbClr val="26C7C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76B20-BB8E-4273-9BBB-352979496B19}"/>
              </a:ext>
            </a:extLst>
          </p:cNvPr>
          <p:cNvSpPr>
            <a:spLocks noGrp="1"/>
          </p:cNvSpPr>
          <p:nvPr/>
        </p:nvSpPr>
        <p:spPr>
          <a:xfrm>
            <a:off x="647700" y="649605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2A0A8"/>
                </a:solidFill>
                <a:latin typeface="Arial"/>
                <a:ea typeface="Arial"/>
                <a:cs typeface="Arial"/>
              </a:rPr>
              <a:t>MODEL-BASED 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1195C-DBDF-4956-9C0D-9AA07A4327F0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82A0A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2A0A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C8BD0B-C24B-4847-94FB-12D81D2F765C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5877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77E8"/>
                </a:solidFill>
                <a:latin typeface="Arial"/>
                <a:ea typeface="Arial"/>
                <a:cs typeface="Arial"/>
              </a:rPr>
              <a:t>MODEL-FREE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88590B-F884-4EF4-B4FB-0D692B19DBE4}"/>
              </a:ext>
            </a:extLst>
          </p:cNvPr>
          <p:cNvSpPr>
            <a:spLocks noGrp="1"/>
          </p:cNvSpPr>
          <p:nvPr/>
        </p:nvSpPr>
        <p:spPr>
          <a:xfrm>
            <a:off x="6762750" y="17526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26C7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C7C2"/>
                </a:solidFill>
                <a:latin typeface="Arial"/>
                <a:ea typeface="Arial"/>
                <a:cs typeface="Arial"/>
              </a:rPr>
              <a:t>MODEL-BASED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52638-DAD8-497D-88D3-814744D938DB}"/>
              </a:ext>
            </a:extLst>
          </p:cNvPr>
          <p:cNvSpPr>
            <a:spLocks noGrp="1"/>
          </p:cNvSpPr>
          <p:nvPr/>
        </p:nvSpPr>
        <p:spPr>
          <a:xfrm>
            <a:off x="742950" y="2333625"/>
            <a:ext cx="4667250" cy="2762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Fewer structural assumptions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Often robust to model misspecification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Requires more real experience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planning at decision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27A7BD-A1B0-4A32-9CF2-AB4055644702}"/>
              </a:ext>
            </a:extLst>
          </p:cNvPr>
          <p:cNvSpPr>
            <a:spLocks noGrp="1"/>
          </p:cNvSpPr>
          <p:nvPr/>
        </p:nvSpPr>
        <p:spPr>
          <a:xfrm>
            <a:off x="6762750" y="2333625"/>
            <a:ext cx="4762500" cy="2762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>
            <a:normAutofit/>
          </a:bodyPr>
          <a:lstStyle/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Separates learning from optimization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Reuses experience through imagined futures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Enables planning and adaptation</a:t>
            </a:r>
          </a:p>
          <a:p>
            <a:pPr marL="279400" indent="-139700">
              <a:spcAft>
                <a:spcPts val="1800"/>
              </a:spcAft>
              <a:buChar char="•"/>
              <a:defRPr sz="18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Pays in model bias and planning compute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AB331-F2E4-4E68-9064-D746AAB2B76D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10782300" cy="19050"/>
          </a:xfrm>
          <a:prstGeom prst="rect">
            <a:avLst/>
          </a:prstGeom>
          <a:solidFill>
            <a:srgbClr val="31505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A67FD-6704-44F3-9FBA-A28A97A5C153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t">
            <a:normAutofit fontScale="95573"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4A6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A641"/>
                </a:solidFill>
                <a:latin typeface="Arial"/>
                <a:ea typeface="Arial"/>
                <a:cs typeface="Arial"/>
              </a:rPr>
              <a:t>Model-based RL trades model bias and planning compute for sample efficiency and lookahead.</a:t>
            </a:r>
          </a:p>
        </p:txBody>
      </p:sp>
    </p:spTree>
    <p:extLst>
      <p:ext uri="{BB962C8B-B14F-4D97-AF65-F5344CB8AC3E}">
        <p14:creationId xmlns:p14="http://schemas.microsoft.com/office/powerpoint/2010/main" val="15200044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Microsoft Office PowerPoint</Application>
  <DocSecurity>0</DocSecurity>
  <PresentationFormat>Widescreen</PresentationFormat>
  <Paragraphs>226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Assaf Hallak</cp:lastModifiedBy>
  <cp:revision>1</cp:revision>
  <dcterms:created xsi:type="dcterms:W3CDTF">2026-10-06T10:07:52Z</dcterms:created>
  <dcterms:modified xsi:type="dcterms:W3CDTF">2026-10-06T10:46:20Z</dcterms:modified>
</cp:coreProperties>
</file>
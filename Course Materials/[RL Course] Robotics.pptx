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rc_slide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rc_slide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0–0.5 min (0.5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 robotics crash course for PhD students after four days of RL. The 90-minute lecture introduces the decisions between a policy and a moving robot. The separate five-hour practical gives students a first experience of changing and testing a controller. No submissions or grading: the experiments are for their own learning. Aim for curiosity and a feel for what is possible, not mastery of robotics in one day. Opening Unitree demonstration GIFs are motivation, not course results.</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rc_overview_robot_type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rc_overview_robot_type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0.5–1 min (0.5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Robots differ in body structure, support, and environment. This is a visual overview, not an exhaustive taxonomy or a ranking of task difficulty. Microduck is Pollen Robotics’ small biped. The underwater example is a BlueROV2, a remotely operated vehicle. Next narrow to fixed-base arms, quadrupeds, and humanoids to explain increasing balance and whole-body coupling. Photos are not to scale. Sources: https://grasplab2022.github.io/ ; https://uwaterloo.ca/robohub/ ; https://shop.unitree.com/ ; https://www.bitcraze.io/ ; https://bluerobotics.com/ ; https://pollen-robotics.com/microduck/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rc_overview_fixed: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rc_overview_fixed: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1–2 min (1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the video, not a taxonomy. The arms are mounted to a fixed support. The robot still needs perception, dexterous coordination, and feedback, but does not need to balance a free-moving base. This is a progression in balance and whole-body coupling, not a claim that every arm task is easier than every walking task. Generalist describes GEN-1 as an embodied foundation model, with human-interaction pretraining and robot adaptation. Do not label it a conventional VLA or claim it is a WAM. Source: https://generalistai.com/blog/gen-1</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rc_overview_quad: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rc_overview_quad: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2–3 min (1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release the base from its mount. This quadruped learns parkour with large-scale RL in simulation and uses a front-facing depth camera. The clip shows a physical robot crossing an obstacle course. Four legs provide more possible support contacts, but fast locomotion is still a dynamic balance problem and can include flight phases. Do not equate four legs with guaranteed stability. Source: https://extreme-parkour.github.io/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rc_overview_humanoid: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rc_overview_humanoid: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3–4 min (1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Flexion demonstrates a humanoid navigating a building and manipulating objects. Explain the added coupling: moving the arms or carrying an object changes what the legs and torso must do to keep balance. With fewer available support contacts, whole-body coordination becomes central. Flexion describes mission-level VLM reasoning, a motion layer combining a VLA with RL-based skills, and a real-time whole-body controller. The demo illustrates an integrated system, not one monolithic policy or a WAM. Source: https://flexion.ai/news/flexion-reflect-v1.0</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rc_overview_model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rc_overview_model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4–5 min (1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diagram shows training, not a runtime chain of modules. Visual observations going into actions do not by themselves make a policy a VLA or WAM. RT-2 adapts a pretrained vision-language model to output robot actions, retaining image/text knowledge. DreamZero builds on a pretrained video diffusion model and learns to jointly predict future video and actions. Its video prior supplies learned regularities about how scenes change, not a physics guarantee. These are representative approaches, not an exhaustive taxonomy: not every VLA or WAM must use these exact backbones, and the families can overlap. Both can run closed-loop using observations and instructions; proprioception is omitted here. Our course focuses on learning a feedback motion controller using motion demonstrations and RL rather than adapting a vision-language or video backbone. Sources: https://robotics-transformer2.github.io/ ; https://dreamzero0.github.io/</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rc_overview_cours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rc_overview_course: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5–6 min (1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Transition from the overview to the course. A biped can fall and needs active balance during motion. Human motion capture supplies useful examples of coordinated behavior, not robot motor commands. We adapt the reference to the robot and learn a feedback policy that executes it under physics. Across diverse motions, this can form the basis for a reusable motion prior and later task learning. We start by distinguishing a kinematic motion from physical control on the next slide. This course focuses on that control foundation rather than training an entire VLA or WAM. The animation is the same motion-tracking visual used later in the lecture. Source: https://github.com/tesslerc/nvidia-mentee-rl-robotics-course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rc_slide_animation: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rc_slide_animation: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6–8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Animation describes a body changing pose over time. In kinematic playback, the pose sequence is applied directly, without requiring actuator forces to generate it. The green DeepMimic reference is this playback. In physics-based animation, the blue character is moved by actions selected by a feedback policy, and the simulator computes the resulting motion. A motion plan or a generator can propose a future pose sequence; a controller makes it happen and reacts to the state it actually reaches. This is a planning/control analogy, not a claim that a fixed clip is a learned world model. A world model predicts consequences, a planner chooses a desired future, and a controller chooses actions. DeepMimic combines reference-motion imitation with reinforcement learning for high-quality physics-based movement. The paired flip visual demonstrates reproduction in simulation; it does not itself demonstrate perturbation recovery. Sources: https://xbpeng.github.io/projects/DeepMimic/index.html and https://bair.berkeley.edu/blog/2018/04/10/virtual-stuntman/ . GIF: authors' sideflip comparison, blue simulation on the left, green kinematic reference on the right.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rc_slide_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rc_slide_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8–9 min (1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previous slide showed that animation itself can be physics-based and reactive. Robotics adds a different end goal: the controller must operate a physical machine. We use simulation to learn, test, and deliberately explore failures before deployment. A simulator approximates reality; success there is not a guarantee of real-world success. Point to the IsaacLab, MuJoCo, and hardware panels as examples of the path from training to deployment, not as identical trials or evidence for this course's checkpoints. Real robots introduce sensing, actuator limits, latency, contact uncertainty, and safety constraints. This motivates the control-interface and transfer sections that follow. GIFs: Unitree RL Lab public demonstrations.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rc_slide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rc_slide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9–10 min (1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Roadmap: from animation to physical robots, then interfaces and task choices; motion tracking as a foundation; data coverage, transfer, and scenes; closing demonstrations of prompting and adaptation. Focus on robotics design choices, not a repeat of PPO derivations.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rc_slide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rc_slide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10–13 min (3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Walk once around the loop: sensors and state estimation produce observations, policy produces joint targets, a low-level controller produces actuator commands, the physical robot moves, sensors measure the result. Desired motion or task commands are additional inputs. Reward and critic are training components, not runtime inputs. Ask where latency enters.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rc_slide_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rc_slide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13–15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base is the body frame used as the root of the kinematic model. A fixed-base arm is rigidly attached to the world: its joints move, but the mount's position and orientation do not. For a humanoid, we commonly choose the pelvis as the floating base. It has six unactuated degrees of freedom: three translations and three rotations. These are state variables, not six extra motor commands. Joint torques act through the coupled body dynamics and contacts to move and balance the robot. A foot touching the floor does not make this a fixed-base system: contacts can change, slip, or break. “Floating” does not mean airborne. Bridge to the next slide: contact changes which motions and forces are possible.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rc_slide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rc_slide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15–18 min (3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Contrast standing support, swing, and landing. A planted foot can exert a contact force, a swing foot cannot. Friction limits tangential forces; a rigid contact model is an approximation. Do not suggest that center of mass must always stay inside a static support polygon during dynamic motion. Ask: can a walking animation be physically infeasible?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rc_slide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rc_slide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18–20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Proprioception means sensing the robot's own body. Joint encoders measure angles. A torso IMU measures angular velocity and specific force (accelerometer output). Filtering and state estimation provide quantities such as tilt and joint speeds. Previous actions are known controller history, not sensor measurements. Exteroception, such as cameras or depth sensors, provides information about the surrounding world. Privileged information is defined relative to the deployed policy's input interface: it is available during training but not supplied to that policy at deployment. Examples include simulator ground-truth base velocity, contact forces, and friction parameters. Some quantities can be estimated or measured with additional hardware; this does not make their exact simulator values deployable. Privileged information can improve rewards, a critic, or a teacher, while the deployed policy uses only its chosen sensors and estimates. Later slides explain teacher–student training.</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rc_slide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rc_slide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20–22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policy can output desired joint positions, desired joint velocities, or torque commands. Position targets use a position servo, often PD. Velocity targets use a velocity servo. Direct torque commands still pass through torque/current regulation and actuator limits. These are alternative action interfaces, not three sequential stages. Gains, action scaling, latency, saturation, and the actuator model all affect the learning problem. The course uses position targets. Avoid suggesting that choosing PD prescribes a gait.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rc_slide_pd_demo: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rc_slide_pd_demo: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22–24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the 7-second animation to predict and then compare the response. Both joints have identical unit inertia, initial angle, target, and proportional gain. The left uses proportional control only; the right adds damping. Torque tau is Kp times the position error minus Kd times measured angular velocity. Desired angular velocity is zero here; for a moving target, derivative feedback can use desired minus measured velocity. The simplified model has no gravity, passive damping, torque limits, or contact. Kp=12, Kd=0 versus 7, inertia=1; explicit integration at 1 ms. P-only oscillation here is illustrative, not a claim that all physical P-only systems oscillate forever. Too much or too little damping changes settling, and latency or large gains can cause problems. The policy chooses the target; PD handles local feedback.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Explain the physical intuition: P acts like a virtual spring pulling toward the target. With zero desired velocity, D acts like viscous friction, applying motor torque opposite to joint velocity and reducing oscillation. This is active damping produced by the motor, not passive mechanical friction. Both terms act simultaneously, not in two sequential phases.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rc_slide_action_evidenc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rc_slide_action_evidence: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24–26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 Xue Bin Peng and Michiel van de Panne, Learning Locomotion Skills Using DeepRL: Does the Choice of Action Space Matter?, SCA 2017, supplemental Table 4. https://xbpeng.github.io/projects/ActionSpace/index.html The chart reproduces the Raptor Run row, not Run (Sim): torque 0.3814, velocity 0.7008, PD 0.8372, muscle activation 0.7258. AUC is normalized area under the learning curve, a summary of progress over training; it is not success rate, final return, or wall-clock time. Four actuation models are shown to preserve the study's comparison. PD has the highest AUC in five of seven tasks; it is not universally best. The study uses planar imitation tasks, not G1 hardware. Explain that local feedback is a useful inductive bias: the learner can specify targets instead of discovering every stabilizing torque from scratch.</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rc_slide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rc_slide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26–29 min (3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Concrete example, not a universal G1 specification. Unitree's official unitree_rl_gym G1 MuJoCo configuration sets simulation_dt=0.002 seconds and control_decimation=10. The simulation loop recomputes PD torque from current q and qdot every physics step, then advances MuJoCo. It runs policy inference every tenth step. Thus PD/physics run at 500 Hz and the policy at 50 Hz (20 ms). Between inference steps, the desired joint angles stay fixed, but the torque changes as the robot moves. The two dense timeline rows represent successive operations in the same inner loop, not a claim that they occur simultaneously.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https://github.com/unitreerobotics/unitree_rl_gym/blob/main/deploy/deploy_mujoco/configs/g1.yaml</a:t>
            </a:r>
            <a:endParaRPr/>
          </a:p>
          <a:p>
            <a:pPr indent="0" lvl="0" marL="0" rtl="0" algn="l">
              <a:spcBef>
                <a:spcPts val="0"/>
              </a:spcBef>
              <a:spcAft>
                <a:spcPts val="0"/>
              </a:spcAft>
              <a:buNone/>
            </a:pPr>
            <a:r>
              <a:rPr lang="en"/>
              <a:t>https://github.com/unitreerobotics/unitree_rl_gym/blob/main/deploy/deploy_mujoco/deploy_mujoco.py</a:t>
            </a:r>
            <a:endParaRPr/>
          </a:p>
          <a:p>
            <a:pPr indent="0" lvl="0" marL="0" rtl="0" algn="l">
              <a:spcBef>
                <a:spcPts val="0"/>
              </a:spcBef>
              <a:spcAft>
                <a:spcPts val="0"/>
              </a:spcAft>
              <a:buNone/>
            </a:pPr>
            <a:r>
              <a:rPr lang="en"/>
              <a:t>HUSKY, Section IV-A, reports a real G1 at 50 Hz policy with 500 Hz joint PD: https://arxiv.org/html/2602.03205v1#S4.SS1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Rates vary. BeyondMimic's public training config uses simulation dt=0.005 and decimation=4 (200 Hz physics, 50 Hz policy): https://github.com/HybridRobotics/whole_body_tracking/blob/main/source/whole_body_tracking/whole_body_tracking/tasks/tracking/tracking_env_cfg.py</a:t>
            </a:r>
            <a:endParaRPr/>
          </a:p>
          <a:p>
            <a:pPr indent="0" lvl="0" marL="0" rtl="0" algn="l">
              <a:spcBef>
                <a:spcPts val="0"/>
              </a:spcBef>
              <a:spcAft>
                <a:spcPts val="0"/>
              </a:spcAft>
              <a:buNone/>
            </a:pPr>
            <a:r>
              <a:rPr lang="en"/>
              <a:t>SONIC reports 50 Hz inference and a 500 Hz target publishing process. A command publishing frequency should not be automatically identified with the internal motor servo frequency: https://nvlabs.github.io/GEAR-SONIC/static/pdf/sonic_paper.pdf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real hardware, physics evolves continuously; it does not have a numerical simulation tick. Do not claim that all G1 controllers run PD at 1 kHz. The simplified hierarchy analogy concerns separation of timescales and target abstraction: the low-level PD law is fixed, not a learned subpolicy.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rc_slide_task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rc_slide_task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29–30 min (1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examples of objectives built around the same observation-action-physics loop. Locomotion follows commands, manipulation moves an object, recovery returns to standing, and motion tracking follows a reference. They overlap: a tracking policy may execute walking, reaching, or a get-up. Motion tracking is the entry task for this course because a reference gives a concrete objective and abundant motion data. Entry-level means a structured starting point, not an easy solved problem. Transition to why tracking can provide a foundation beyond reproducing a single clip.</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rc_slide_why_tracking: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rc_slide_why_tracking: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30–31 min (1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central motivation is data. Generative models benefit from high-quality, diverse examples, and humans provide a rich source of movement demonstrations. Motion tracking is the gateway that makes these demonstrations useful for robot control: after adapting the motion to the robot's body, we train a feedback controller to reproduce it under simulated physics. This already involves optimization in simulation; the distinction is learning to execute demonstrations first, then adapting to new task objectives. Across many motions, tracking can provide a foundation or supervision for a reusable generative motion prior. Tracking alone is not automatically a generative model, and transfer to unseen tasks is not guaranteed. Later examples show two routes: learning task adapters on top of a prior, or supplying new goals to a frozen promptable controller. Human demonstrations are an important data source, not the only one; synthetic data can fill gaps such as recovery states.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rc_slide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rc_slide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31–32 min (1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Invite students to take a minute to think individually about the three questions. No pair discussion or group reporting. Advance to the next slide for a worked answer. The question and answer together retain the original three-minute slot.</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rc_interface_answer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rc_interface_answer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32–34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Reveal this after the one-minute individual reflection. Present it as one practical design, not the only correct answer.</a:t>
            </a:r>
            <a:endParaRPr/>
          </a:p>
          <a:p>
            <a:pPr indent="0" lvl="0" marL="0" rtl="0" algn="l">
              <a:spcBef>
                <a:spcPts val="0"/>
              </a:spcBef>
              <a:spcAft>
                <a:spcPts val="0"/>
              </a:spcAft>
              <a:buNone/>
            </a:pPr>
            <a:r>
              <a:rPr lang="en"/>
              <a:t>1. Joint angles and speeds and inertial measurements describe the current body motion. Recent observations and previous actions provide context. Reference goals tell the policy which motion to follow. Keep privileged simulator-only state separate from deployable actor inputs.</a:t>
            </a:r>
            <a:endParaRPr/>
          </a:p>
          <a:p>
            <a:pPr indent="0" lvl="0" marL="0" rtl="0" algn="l">
              <a:spcBef>
                <a:spcPts val="0"/>
              </a:spcBef>
              <a:spcAft>
                <a:spcPts val="0"/>
              </a:spcAft>
              <a:buNone/>
            </a:pPr>
            <a:r>
              <a:rPr lang="en"/>
              <a:t>2. Map the policy outputs to joint-position targets for a faster PD controller. Velocity targets and direct torque are other valid designs, as discussed earlier.</a:t>
            </a:r>
            <a:endParaRPr/>
          </a:p>
          <a:p>
            <a:pPr indent="0" lvl="0" marL="0" rtl="0" algn="l">
              <a:spcBef>
                <a:spcPts val="0"/>
              </a:spcBef>
              <a:spcAft>
                <a:spcPts val="0"/>
              </a:spcAft>
              <a:buNone/>
            </a:pPr>
            <a:r>
              <a:rPr lang="en"/>
              <a:t>3. Delayed measurements describe an earlier state. Use recent observation/action history and train with delays representative of deployment. History can help infer current motion but does not remove latency or guarantee stability.</a:t>
            </a:r>
            <a:endParaRPr/>
          </a:p>
          <a:p>
            <a:pPr indent="0" lvl="0" marL="0" rtl="0" algn="l">
              <a:spcBef>
                <a:spcPts val="0"/>
              </a:spcBef>
              <a:spcAft>
                <a:spcPts val="0"/>
              </a:spcAft>
              <a:buNone/>
            </a:pPr>
            <a:r>
              <a:rPr lang="en"/>
              <a:t>The reference supplies the desired motion. Feedback lets the policy adjust its actions as the actual state changes.</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rc_slide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rc_slide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34–37 min (3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Retargeting maps a reference motion to another body while accounting for geometry and joint limits. That kinematic fit does not prove the motion is dynamically feasible. Tracking then learns actions that realize the motion under physics. Distinguish direct state playback from an actual feedback controller.</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rc_slide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rc_slide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37–40 min (3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animation compares a simulated character (SIM, blue) with its kinematic reference (REF, green). Reference: supplied GPC presentation, slide 13. This is an illustrative tracking example, not a G1 hardware recording.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Connect this to a reconstruction objective: compare the simulated body positions p with reference body positions p* at the same motion time in a common coordinate frame. The squared Euclidean (L2) error is a simple example of a tracking error. k is a positive sensitivity parameter. Converting it to exp(-k*error) gives a higher reward for smaller errors. Equivalently, one can penalize squared error; actual tracking rewards often combine separate position, rotation, and velocity terms. The next slide explains these additions.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displayed formula is pedagogical, not a claim about the exact GPC reward. We are not supervising actions with an L2 action loss and not directly assigning reference poses to the simulated character. The policy observes the current state and reference, outputs actions, and the simulator determines the next state. RL optimizes accumulated reward through interaction, without requiring a differentiable simulator. Gravity, inertia, contacts, and actuator limits still apply.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Unlike a fixed sequence of copied poses, a tracking controller can choose different actions after a disturbance to return toward the same reference.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rc_slide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rc_slide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40–43 min (3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tracking objective typically combines pose and velocity agreement with control-quality and joint-limit penalties. Discuss how an oversized smoothness reward can favor standing still, and why tracking accuracy alone does not guarantee useful actions. Reward penalties are not hard safety guarantees.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rc_slide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rc_slide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43–46 min (3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Reference-state initialization exposes later portions of a motion without first solving its beginning. Failure termination can improve training efficiency but remove the experience needed to recover. Reset noise and perturbations broaden state coverage. Distinguish regaining balance from getting up after a fall. Neither follows automatically from choosing PPO.</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rc_slide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rc_slide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46–48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actor uses observations available at deployment. The critic can use additional simulator state during training to estimate value. The critic is not needed at runtime. Distilling a privileged teacher into a deployable student is a different route, illustrated later by ADEPT.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rc_slide_bridge_teacher: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rc_slide_bridge_teacher: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48–48.5 min (0.5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have trained a tracker with RL to execute motion demonstrations. We can now use it as an expert that supplies actions for training another policy. This is useful when changing the architecture, inputs, or goal interface, or building a reusable motion prior. This step is optional: a tracker can also be deployed directly. The next question is whether recording expert rollouts and fitting the actions is enough. This motivates behavior cloning and the distribution-shift problem.</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rc_slide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rc_slide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48.5–50.5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Collect observation-action pairs from a competent controller, fit a student by supervised learning, then run it closed-loop. Match observation and action conventions. Low held-out action error does not establish long-horizon control quality. This basic imitation idea also appears inside larger distillation pipelines.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rc_slide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rc_slide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50.5–53.5 min (3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Naive behavior cloning fits the expert's actions on a fixed dataset of expert-visited states. During deployment, even a small imitation error changes the next state. The student can then encounter observations missing from its training data, make a larger error, and drift further. No external push is required. The diagram is illustrative, not measured data. Low held-out action error on expert states therefore does not guarantee successful closed-loop behavior. This is a distribution-shift problem, not a claim that BC always fails. Transition: rather than collecting only successful expert motion, teach corrective actions at states the learner is likely to encounter. Source: Ross, Gordon, and Bagnell, AISTATS 2011, https://proceedings.mlr.press/v15/ross11a.html</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rc_slide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rc_slide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53.5–55.5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Two alternative ways to collect corrective supervision. DAgger (Dataset Aggregation): roll out the current student, query a capable expert for the appropriate action at each visited state, aggregate those labeled samples with earlier data, train the student, and repeat. Early rollouts may mix expert and student actions. Noisy-expert collection: execute expert actions with added noise or perturbations so the expert visits off-nominal states. Store the expert's clean intended action at the actual visited state, not the noise-corrupted action that was executed. Train BC on this expanded dataset. This creates recovery examples without rolling out the current student, but its usefulness depends on the perturbations covering the learner's likely errors and the expert being able to correct them. DART is a related method that tunes noise to approximate learner error; arbitrary noise injection is not the full DART algorithm. Neither method guarantees recovery outside the collected coverage. Sources: Ross et al. (2011), https://proceedings.mlr.press/v15/ross11a.html ; Laskey et al. (2017), DART, https://arxiv.org/abs/1703.09327</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rc_slide_bridge_world: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rc_slide_bridge_world: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55.5–56 min (0.5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previous section addressed which states we train on: a student may drift away from expert demonstrations. Now change the question. Even if it handles those states in the training simulator, what happens when friction, mass, motor response, or delay changes? DAgger does not by itself fix an inaccurate physics model. Domain randomization exposes training to a range of plausible conditions, while sim-to-sim checks behavior in another engine. These are complementary tools; changing dynamics also changes the states encountered. A useful transition line: we have broadened the states, and now we broaden the worlds.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rc_slide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rc_slide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56–58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policy can succeed in the simulator's nominal physics setting yet fail on hardware because the model is imperfect. Real conditions also vary over time and place: sand can deform, rubber and wood change contact behavior, and temperature can change motor response or limits. The two robot renders are schematic, not a comparison of measured hardware results. The same commands and policy weights can therefore produce different motion. This motivates training over plausible physical variation, rather than assuming one perfectly matched world. Randomizing friction alone does not capture every terrain effect, especially deformable ground such as sand. More representative contact models or targeted data may be needed. We are now motivating domain randomization, not debugging a simulator interface.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rc_slide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rc_slide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58–60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Randomize plausible uncertainty in friction, body dynamics, sensing, actions, and disturbances. Distinguish parameters that persist for an episode from per-step noise. Excessively wide ranges can impede learning. Choose ranges from system knowledge and observed failure modes, and keep held-out evaluation conditions.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rc_slide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rc_slide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60–62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Sim-to-sim is useful evidence: running a policy in a second physics engine can reveal dependence on the training simulator or errors in the control interface. It is not a direct measurement of hardware performance. Both simulators may share the same inaccurate robot asset, so validate relevant geometry, mass and inertia, motor response, contact behavior, and delays against the physical robot. Visual resemblance alone is not enough. Hardware deployment also requires software and hardware integration: reliable sensor and motor communication, state estimation, perception when the task needs it, and safety systems such as limits, watchdogs, emergency stops, and controlled testing. These steps complement simulation rather than replacing it.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rc_slide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rc_slide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62–64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Diagnostic order: invalid motion at reset -&gt; inspect asset, reference, frames, scene alignment. Immediate instability -&gt; actions, PD gains, limits, timing. Good training reward but poor rollout -&gt; rewards, termination, reset and data coverage. Failure only after transfer -&gt; convention mismatches first, then dynamics/observations. Change one factor at a time. This is a practical starting order, not an exhaustive taxonomy.</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rc_slide_theory_practic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rc_slide_theory_practice: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64–65 min (1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Transition from the general training process to research systems. Ask students to look for the same ingredients in each example: observations, action interfaces, training signals, state coverage, and deployment tests. Start with robot arms, then humanoids, then connect the research back to the course experiments. These are examples, not a ranking of methods.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rc_slide_industreal: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rc_slide_industreal: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the ten-part assembly example. This is simulation, not a hardware result. The robot learns its manipulation sequence without demonstrations or scripted stages. The ten-part policy is trained separately from the policy that learns all 20 individual assembly tasks.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 and video: https://alpha-nist.github.io/</a:t>
            </a:r>
            <a:endParaRPr/>
          </a:p>
          <a:p>
            <a:pPr indent="0" lvl="0" marL="0" rtl="0" algn="l">
              <a:spcBef>
                <a:spcPts val="0"/>
              </a:spcBef>
              <a:spcAft>
                <a:spcPts val="0"/>
              </a:spcAft>
              <a:buNone/>
            </a:pPr>
            <a:r>
              <a:rPr lang="en"/>
              <a:t>Paper: https://arxiv.org/abs/2610.13354</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rc_slide_alpha_method: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rc_slide_alpha_method: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PPO policy learns across 20 individual assembly tasks. Cached reset states span loose parts, grasps and partial assemblies; they provide starting states, not demonstrated action sequences. Success-guided sampling allocates more practice near 50% recent success, while keeping all states sampleable. The task reward marks completed assembly; control penalties discourage excessive effort. Geometry point clouds and robot state feed a policy that outputs joint-position increments and a gripper command at 25 Hz.</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demonstration on the previous slide uses a separately trained ten-part policy. Its task reward requires all active pairs to be assembled together, without a prescribed order.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 https://arxiv.org/html/2610.13354v1 (Sections IV-B through IV-D).</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rc_slide_adept_result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rc_slide_adept_result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67–69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ADEPT, by Lee and colleagues including Ankur Handa, demonstrates insertion and dish placement after simulation training. Left: Flexiv–Sharpa. Right: KUKA–Allegro. The 8/10 versus 3/10 comparison concerns Flexiv–Sharpa insertion with and without tactile input, not the two videos. Ten hardware trials per condition is a limited evaluation, not a universal reliability claim. Connect touch to the earlier question of what the policy can observe. Source: https://adept-dexterity.github.io/</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rc_slide_adept_recip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rc_slide_adept_recipe: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69–72 min (3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learn object repositioning on randomized primitive shapes. Second, adapt to task-specific manipulation: transfer the actor by behavior cloning, warm up the new critic, and use conservative PPO updates. Third, distill the specialist into a student using vision and, on the tactile platform, touch. Randomized physics and appearance support transfer. A shared geometric-fabric controller mediates actions in simulation and hardware. The base does not solve every downstream task without training. Connect to reusable priors, privileged teachers, deployable observations, and low-level action interfaces. Source: https://arxiv.org/html/2608.19182v1</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rc_slide_humanoid_training: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rc_slide_humanoid_training: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72–75 min (3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RoboGPC: train a reference tracker with PPO and a discrete bottleneck. Freeze its encoder/decoder, then train a transformer to predict skill tokens from the current proprioceptive state. Task-conditioned CoLA adapters are trained by supervised learning and/or RL while base weights remain fixed. Domain randomization is used throughout. This is based on the user-supplied local RoboGPC draft; do not add its anonymous website link. Metatron: train a dense tracker with RL, freeze it, and distill its actions on student-visited states while masking future goals. At deployment the learned policy accepts partial goals from skill code, without task-specific policy updates. This row is a high-level teaching summary, not an assertion that the two models share an architecture. Metatron source: https://metatron.lfy.nvidia.com/</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rc_slide_robogpc_tracking: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rc_slide_robogpc_tracking: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75–78 min (3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Unpublished RoboGPC material provided by the user.  Left: dynamic dance tracking without external perturbations, first 16 seconds. Right: the corresponding behavior with forces applied to the legs, first 20 seconds. These are separate trials, not synchronized measurements or a controlled quantitative comparison. Ask students to identify the reference, measured robot state, and the policy response. Connect back to feedback tracking: the action responds to deviations even when the desired behavior remains the same. A reference-only animation has no mechanism for responding to these forces. Do not infer arbitrary disturbance robustness from this demonstration. Course video copies are in the user-provided shared Drive folder. Do not include the anonymous source website link.</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rc_slide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rc_slide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78–80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Unpublished RoboGPC material provided by the user.  This excerpt shows a fall and get-up from the squatting-steering demonstration (source seconds 22–41.195). It replaces the cartwheel recovery clip because that clip's Google Slides preview failed. Ask what actions are needed after leaving the nominal behavior. Connect to resets, termination choices, perturbations, and recovery-state coverage. The clip does not establish the cause of the fall or quantify recovery success. It illustrates that evaluating a behavior should include what happens after a failure, not only successful nominal execution. Course video copies are in the user-provided shared Drive folder. Do not include the anonymous source website link.</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rc_slide_robogpc_adapt: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rc_slide_robogpc_adapt: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80–83 min (3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Compare regular steering (left) with squatting-style steering (right), in separate hardware trials at original speed. Regular steering uses RL for the commanded travel velocity and facing direction. Stylized steering first uses supervised adaptation to squatting motion, then RL for the steering task. CoLA adapters are trained while the base controller remains frozen. Contrast this with Metatron, where the demonstrated tasks change goals without new motor-policy training. Course video copies are in the shared Drive folder; do not include the anonymous source website link.</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rc_slide_robogpc_method: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rc_slide_robogpc_method: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PPO trains an encoder and action decoder through a finite scalar quantization (FSQ) bottleneck using motion-tracking rewards. The colored blocks represent discrete motion codes, not named tasks or a prescribed sequence of behaviors. Second, freeze that encoder and decoder. Collect robot observations and codes, then train a transformer by next-token prediction to model the code distribution conditioned on the current robot state. Autoregression is over code groups within a control step, not a long-horizon motion plan. The decoder combines these codes with proprioception to output PD joint targets. Third, insert task-conditioned CoLA adapters into the frozen transformer. Train only these small adapters with supervised learning and/or RL, regularizing toward the pretrained prior. For example, a steering adapter receives velocity and heading commands. Domain randomization supports deployment. Connect to the previous lessons on motion tracking, reusable priors, observation interfaces, and task rewards. Source: the supplied RoboGPC draft, Method Sections 3.1–3.4. No anonymous project link is included.</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rc_slide_metatron: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rc_slide_metatron: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83–86 min (3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Metatron distills a dense motion tracker into a controller that accepts partial motion goals. Skill code provides goals while the motor policy stays fixed. Left: timed body goals for hurdles in MuJoCo simulation. Middle: hand targets and steering for teleoperation on physical G1. Right: scene geometry and torso/foot goals for sitting on a chair and standing up on physical G1. The sitting demonstration starts near the furniture with its geometry supplied; it does not show autonomous object discovery or navigation. All three use the same trained G1 controller, without task-specific motor-policy retraining. Humans or coding agents can author the skills offline; the runtime skills are ordinary code. Connect these examples to goal interfaces, state-distribution coverage, and scene conditioning. Public project: https://metatron.lfy.nvidia.com/</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rc_slide_metatron_method: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rc_slide_metatron_method: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Train a dense motion tracker with PPO on complete reference motions. Freeze the tracker and train a generative student through masked on-policy distillation: mask selected reference goals, run the student, and ask the tracker for target actions at the states actually reached. This connects to the DAgger discussion, although the full method uses a conditional VAE and a privileged training encoder. The tracker labels the current state; it does not simply replay actions from the original motion. At deployment, only the distilled controller is used, with proprioception and partial motion goals. Gray prompt blocks mean unspecified, not zero. Goals can include selected body poses and arrival times, velocity, heading, style, and scene geometry; multiple types can be combined. A skill is ordinary stateful code that updates these goals. Humans or coding agents can write and test skills offline, while runtime execution does not require an LLM call at each control step. New skills operate within the policy’s learned capabilities, without task-specific motor-policy training. In contrast, RoboGPC learns task adapters. Public project: https://metatron.lfy.nvidia.com/</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rc_slide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rc_slide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88–90 min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Close with curiosity rather than a submission checklist. We have tried a small part of robotics: connecting observations, actions, motion data and training conditions to the behavior of a simulated humanoid. There is nothing to hand in and no grading. Invite students to think about what surprised them and one change they would like to try next; no pair discussion or group reports are needed. Perception, manipulation, different bodies and real-robot deployment open many further questions. The course gives them a starting point, not a complete robotics education. Point them to the optional experiments, ProtoMotions documentation and linked papers in the guide.</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6.jpg"/><Relationship Id="rId4" Type="http://schemas.openxmlformats.org/officeDocument/2006/relationships/image" Target="../media/image33.jpg"/><Relationship Id="rId9" Type="http://schemas.openxmlformats.org/officeDocument/2006/relationships/image" Target="../media/image1.jpg"/><Relationship Id="rId5" Type="http://schemas.openxmlformats.org/officeDocument/2006/relationships/image" Target="../media/image35.jpg"/><Relationship Id="rId6" Type="http://schemas.openxmlformats.org/officeDocument/2006/relationships/image" Target="../media/image2.png"/><Relationship Id="rId7" Type="http://schemas.openxmlformats.org/officeDocument/2006/relationships/image" Target="../media/image22.png"/><Relationship Id="rId8"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hyperlink" Target="https://generalistai.com/blog/gen-1" TargetMode="External"/><Relationship Id="rId4" Type="http://schemas.openxmlformats.org/officeDocument/2006/relationships/hyperlink" Target="http://drive.google.com/file/d/1nuqDl_CbUZ-L8vnIhgLsOQUsA12wMzXg/view" TargetMode="External"/><Relationship Id="rId5"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hyperlink" Target="https://extreme-parkour.github.io/" TargetMode="External"/><Relationship Id="rId4" Type="http://schemas.openxmlformats.org/officeDocument/2006/relationships/hyperlink" Target="http://drive.google.com/file/d/1b9HhheJAA4xExHnDe2rjabIFEwqzy62T/view" TargetMode="External"/><Relationship Id="rId5" Type="http://schemas.openxmlformats.org/officeDocument/2006/relationships/image" Target="../media/image2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hyperlink" Target="http://drive.google.com/file/d/1Hgn5fhnbUnCPn3p8aBipaykVIV6ZhQA7/view" TargetMode="Externa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s://robotics-transformer2.github.io/" TargetMode="External"/><Relationship Id="rId4" Type="http://schemas.openxmlformats.org/officeDocument/2006/relationships/hyperlink" Target="https://dreamzero0.github.io/"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8.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9.gif"/><Relationship Id="rId4" Type="http://schemas.openxmlformats.org/officeDocument/2006/relationships/hyperlink" Target="https://xbpeng.github.io/projects/DeepMimic/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1.gif"/><Relationship Id="rId4" Type="http://schemas.openxmlformats.org/officeDocument/2006/relationships/image" Target="../media/image18.gif"/><Relationship Id="rId5" Type="http://schemas.openxmlformats.org/officeDocument/2006/relationships/image" Target="../media/image23.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hyperlink" Target="http://drive.google.com/file/d/15DBtKbhcUcZ2qa6nzIH65GOrGOMelq8v/view" TargetMode="External"/><Relationship Id="rId4"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hyperlink" Target="https://xbpeng.github.io/projects/ActionSpace/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hyperlink" Target="https://github.com/unitreerobotics/unitree_rl_gym/blob/main/deploy/deploy_mujoco/deploy_mujoco.py" TargetMode="External"/><Relationship Id="rId4" Type="http://schemas.openxmlformats.org/officeDocument/2006/relationships/hyperlink" Target="https://arxiv.org/html/2602.03205v1#S4.SS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8.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hyperlink" Target="https://alpha-nist.github.io/" TargetMode="External"/><Relationship Id="rId4" Type="http://schemas.openxmlformats.org/officeDocument/2006/relationships/hyperlink" Target="http://drive.google.com/file/d/1qvbVKXMz7XDCY0hS5bGFPW7Q1G9chhHX/view" TargetMode="External"/><Relationship Id="rId5" Type="http://schemas.openxmlformats.org/officeDocument/2006/relationships/image" Target="../media/image2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hyperlink" Target="https://arxiv.org/abs/2610.13354" TargetMode="Externa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hyperlink" Target="http://drive.google.com/file/d/1ZSO0odNsmRC_wlt2KnvoDIUPZitXoHKB/view" TargetMode="External"/><Relationship Id="rId4" Type="http://schemas.openxmlformats.org/officeDocument/2006/relationships/image" Target="../media/image24.jpg"/><Relationship Id="rId5" Type="http://schemas.openxmlformats.org/officeDocument/2006/relationships/hyperlink" Target="http://drive.google.com/file/d/1Up_Tm1atobggKtirl70Mma0kSRy4-P1x/view" TargetMode="External"/><Relationship Id="rId6" Type="http://schemas.openxmlformats.org/officeDocument/2006/relationships/image" Target="../media/image1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31.jpg"/><Relationship Id="rId4" Type="http://schemas.openxmlformats.org/officeDocument/2006/relationships/image" Target="../media/image19.jpg"/><Relationship Id="rId5" Type="http://schemas.openxmlformats.org/officeDocument/2006/relationships/image" Target="../media/image2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hyperlink" Target="http://drive.google.com/file/d/1dXTEfBpZXXcapU82DKaazOPJ_47m9v_b/view" TargetMode="External"/><Relationship Id="rId4" Type="http://schemas.openxmlformats.org/officeDocument/2006/relationships/image" Target="../media/image25.jpg"/><Relationship Id="rId5" Type="http://schemas.openxmlformats.org/officeDocument/2006/relationships/hyperlink" Target="http://drive.google.com/file/d/16Dnp-AEMw78d42dJnOiuc_DNNXN3_Bg6/view" TargetMode="External"/><Relationship Id="rId6"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hyperlink" Target="http://drive.google.com/file/d/1V7Ixk6WvpUw2YVOxzRX9BardccET_UPw/view" TargetMode="External"/><Relationship Id="rId4" Type="http://schemas.openxmlformats.org/officeDocument/2006/relationships/image" Target="../media/image3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hyperlink" Target="http://drive.google.com/file/d/1pfJoIIukgvPBip0r21xrs2dncYLnODYp/view" TargetMode="External"/><Relationship Id="rId4" Type="http://schemas.openxmlformats.org/officeDocument/2006/relationships/image" Target="../media/image10.png"/><Relationship Id="rId5" Type="http://schemas.openxmlformats.org/officeDocument/2006/relationships/hyperlink" Target="http://drive.google.com/file/d/1ZDjZ719Kn_ffD_7up8m9vWgTozGc6pCh/view" TargetMode="External"/><Relationship Id="rId6" Type="http://schemas.openxmlformats.org/officeDocument/2006/relationships/image" Target="../media/image27.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hyperlink" Target="http://drive.google.com/file/d/1WYUPsYWi3dIYze60zVR-oH3PO65biLFk/view" TargetMode="External"/><Relationship Id="rId4" Type="http://schemas.openxmlformats.org/officeDocument/2006/relationships/image" Target="../media/image30.jpg"/><Relationship Id="rId5" Type="http://schemas.openxmlformats.org/officeDocument/2006/relationships/hyperlink" Target="http://drive.google.com/file/d/1CUewul_OEZTngVE7l1-aUrkwvC9Ku6Ee/view" TargetMode="External"/><Relationship Id="rId6" Type="http://schemas.openxmlformats.org/officeDocument/2006/relationships/image" Target="../media/image21.jpg"/><Relationship Id="rId7" Type="http://schemas.openxmlformats.org/officeDocument/2006/relationships/hyperlink" Target="http://drive.google.com/file/d/1jBrVis6LZxdiOCv-EEBxeR8P8hP5sGUm/view" TargetMode="External"/><Relationship Id="rId8" Type="http://schemas.openxmlformats.org/officeDocument/2006/relationships/image" Target="../media/image17.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hyperlink" Target="http://drive.google.com/file/d/16Lf1tkYiiruR6l-KXoyTYBHLyvUinb78/view" TargetMode="External"/><Relationship Id="rId4"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53B"/>
        </a:solidFill>
      </p:bgPr>
    </p:bg>
    <p:spTree>
      <p:nvGrpSpPr>
        <p:cNvPr id="53" name="Shape 53"/>
        <p:cNvGrpSpPr/>
        <p:nvPr/>
      </p:nvGrpSpPr>
      <p:grpSpPr>
        <a:xfrm>
          <a:off x="0" y="0"/>
          <a:ext cx="0" cy="0"/>
          <a:chOff x="0" y="0"/>
          <a:chExt cx="0" cy="0"/>
        </a:xfrm>
      </p:grpSpPr>
      <p:sp>
        <p:nvSpPr>
          <p:cNvPr id="54" name="Google Shape;54;p13"/>
          <p:cNvSpPr/>
          <p:nvPr/>
        </p:nvSpPr>
        <p:spPr>
          <a:xfrm>
            <a:off x="0" y="4838700"/>
            <a:ext cx="9144000" cy="304800"/>
          </a:xfrm>
          <a:prstGeom prst="rect">
            <a:avLst/>
          </a:prstGeom>
          <a:solidFill>
            <a:srgbClr val="1020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ph type="ctrTitle"/>
          </p:nvPr>
        </p:nvSpPr>
        <p:spPr>
          <a:xfrm>
            <a:off x="381000" y="1066800"/>
            <a:ext cx="4827000" cy="180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4000">
                <a:solidFill>
                  <a:srgbClr val="F7FAFF"/>
                </a:solidFill>
              </a:rPr>
              <a:t>From RL to robotics</a:t>
            </a:r>
            <a:endParaRPr b="1" sz="4000">
              <a:solidFill>
                <a:srgbClr val="F7FAFF"/>
              </a:solidFill>
            </a:endParaRPr>
          </a:p>
        </p:txBody>
      </p:sp>
      <p:sp>
        <p:nvSpPr>
          <p:cNvPr id="57" name="Google Shape;57;p13"/>
          <p:cNvSpPr txBox="1"/>
          <p:nvPr>
            <p:ph idx="1" type="subTitle"/>
          </p:nvPr>
        </p:nvSpPr>
        <p:spPr>
          <a:xfrm>
            <a:off x="381000" y="3022600"/>
            <a:ext cx="4650000" cy="105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E7EEF7"/>
                </a:solidFill>
              </a:rPr>
              <a:t>A hands-on crash course in</a:t>
            </a:r>
            <a:endParaRPr sz="2100">
              <a:solidFill>
                <a:srgbClr val="E7EEF7"/>
              </a:solidFill>
            </a:endParaRPr>
          </a:p>
          <a:p>
            <a:pPr indent="0" lvl="0" marL="0" rtl="0" algn="l">
              <a:spcBef>
                <a:spcPts val="0"/>
              </a:spcBef>
              <a:spcAft>
                <a:spcPts val="0"/>
              </a:spcAft>
              <a:buNone/>
            </a:pPr>
            <a:r>
              <a:rPr lang="en" sz="2100">
                <a:solidFill>
                  <a:srgbClr val="E7EEF7"/>
                </a:solidFill>
              </a:rPr>
              <a:t>making robots move</a:t>
            </a:r>
            <a:endParaRPr sz="2100">
              <a:solidFill>
                <a:srgbClr val="E7EEF7"/>
              </a:solidFill>
            </a:endParaRPr>
          </a:p>
        </p:txBody>
      </p:sp>
      <p:sp>
        <p:nvSpPr>
          <p:cNvPr id="58" name="Google Shape;58;p13"/>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B6C9DF"/>
                </a:solidFill>
              </a:rPr>
              <a:t>INTRODUCTION   /   1 OF 51</a:t>
            </a:r>
            <a:endParaRPr sz="900">
              <a:solidFill>
                <a:srgbClr val="B6C9DF"/>
              </a:solidFill>
            </a:endParaRPr>
          </a:p>
        </p:txBody>
      </p:sp>
      <p:sp>
        <p:nvSpPr>
          <p:cNvPr id="59" name="Google Shape;59;p13"/>
          <p:cNvSpPr txBox="1"/>
          <p:nvPr/>
        </p:nvSpPr>
        <p:spPr>
          <a:xfrm>
            <a:off x="381000" y="4089400"/>
            <a:ext cx="53340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800">
                <a:solidFill>
                  <a:srgbClr val="8BBFFF"/>
                </a:solidFill>
              </a:rPr>
              <a:t>90 minutes  ·  RL → robotics</a:t>
            </a:r>
            <a:endParaRPr sz="1800">
              <a:solidFill>
                <a:srgbClr val="8BBFFF"/>
              </a:solidFill>
            </a:endParaRPr>
          </a:p>
        </p:txBody>
      </p:sp>
      <p:pic>
        <p:nvPicPr>
          <p:cNvPr id="60" name="Google Shape;60;p13"/>
          <p:cNvPicPr preferRelativeResize="0"/>
          <p:nvPr/>
        </p:nvPicPr>
        <p:blipFill>
          <a:blip r:embed="rId3">
            <a:alphaModFix/>
          </a:blip>
          <a:stretch>
            <a:fillRect/>
          </a:stretch>
        </p:blipFill>
        <p:spPr>
          <a:xfrm>
            <a:off x="4991100" y="889000"/>
            <a:ext cx="3467100" cy="3467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14"/>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4"/>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Robotics comes in many forms</a:t>
            </a:r>
            <a:endParaRPr b="1">
              <a:solidFill>
                <a:srgbClr val="15253B"/>
              </a:solidFill>
            </a:endParaRPr>
          </a:p>
        </p:txBody>
      </p:sp>
      <p:sp>
        <p:nvSpPr>
          <p:cNvPr id="68" name="Google Shape;68;p14"/>
          <p:cNvSpPr txBox="1"/>
          <p:nvPr/>
        </p:nvSpPr>
        <p:spPr>
          <a:xfrm>
            <a:off x="381000" y="4889500"/>
            <a:ext cx="8382000" cy="1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596C82"/>
                </a:solidFill>
              </a:rPr>
              <a:t>A ROBOTICS OVERVIEW   /   2 OF 51</a:t>
            </a:r>
            <a:endParaRPr sz="900">
              <a:solidFill>
                <a:srgbClr val="596C82"/>
              </a:solidFill>
            </a:endParaRPr>
          </a:p>
        </p:txBody>
      </p:sp>
      <p:pic>
        <p:nvPicPr>
          <p:cNvPr id="69" name="Google Shape;69;p14"/>
          <p:cNvPicPr preferRelativeResize="0"/>
          <p:nvPr/>
        </p:nvPicPr>
        <p:blipFill>
          <a:blip r:embed="rId3">
            <a:alphaModFix/>
          </a:blip>
          <a:stretch>
            <a:fillRect/>
          </a:stretch>
        </p:blipFill>
        <p:spPr>
          <a:xfrm>
            <a:off x="439815" y="1168400"/>
            <a:ext cx="1787370" cy="1219200"/>
          </a:xfrm>
          <a:prstGeom prst="rect">
            <a:avLst/>
          </a:prstGeom>
          <a:noFill/>
          <a:ln>
            <a:noFill/>
          </a:ln>
        </p:spPr>
      </p:pic>
      <p:sp>
        <p:nvSpPr>
          <p:cNvPr id="70" name="Google Shape;70;p14"/>
          <p:cNvSpPr txBox="1"/>
          <p:nvPr/>
        </p:nvSpPr>
        <p:spPr>
          <a:xfrm>
            <a:off x="381000" y="2400300"/>
            <a:ext cx="1905000" cy="31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15253B"/>
                </a:solidFill>
              </a:rPr>
              <a:t>Robot arms</a:t>
            </a:r>
            <a:endParaRPr b="1" sz="1500">
              <a:solidFill>
                <a:srgbClr val="15253B"/>
              </a:solidFill>
            </a:endParaRPr>
          </a:p>
        </p:txBody>
      </p:sp>
      <p:pic>
        <p:nvPicPr>
          <p:cNvPr id="71" name="Google Shape;71;p14"/>
          <p:cNvPicPr preferRelativeResize="0"/>
          <p:nvPr/>
        </p:nvPicPr>
        <p:blipFill>
          <a:blip r:embed="rId4">
            <a:alphaModFix/>
          </a:blip>
          <a:stretch>
            <a:fillRect/>
          </a:stretch>
        </p:blipFill>
        <p:spPr>
          <a:xfrm>
            <a:off x="2785918" y="1168400"/>
            <a:ext cx="1413164" cy="1219200"/>
          </a:xfrm>
          <a:prstGeom prst="rect">
            <a:avLst/>
          </a:prstGeom>
          <a:noFill/>
          <a:ln>
            <a:noFill/>
          </a:ln>
        </p:spPr>
      </p:pic>
      <p:sp>
        <p:nvSpPr>
          <p:cNvPr id="72" name="Google Shape;72;p14"/>
          <p:cNvSpPr txBox="1"/>
          <p:nvPr/>
        </p:nvSpPr>
        <p:spPr>
          <a:xfrm>
            <a:off x="2540000" y="2400300"/>
            <a:ext cx="1905000" cy="31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15253B"/>
                </a:solidFill>
              </a:rPr>
              <a:t>Wheeled robots</a:t>
            </a:r>
            <a:endParaRPr b="1" sz="1500">
              <a:solidFill>
                <a:srgbClr val="15253B"/>
              </a:solidFill>
            </a:endParaRPr>
          </a:p>
        </p:txBody>
      </p:sp>
      <p:pic>
        <p:nvPicPr>
          <p:cNvPr id="73" name="Google Shape;73;p14"/>
          <p:cNvPicPr preferRelativeResize="0"/>
          <p:nvPr/>
        </p:nvPicPr>
        <p:blipFill>
          <a:blip r:embed="rId5">
            <a:alphaModFix/>
          </a:blip>
          <a:stretch>
            <a:fillRect/>
          </a:stretch>
        </p:blipFill>
        <p:spPr>
          <a:xfrm>
            <a:off x="5041900" y="1168400"/>
            <a:ext cx="1219199" cy="1219199"/>
          </a:xfrm>
          <a:prstGeom prst="rect">
            <a:avLst/>
          </a:prstGeom>
          <a:noFill/>
          <a:ln>
            <a:noFill/>
          </a:ln>
        </p:spPr>
      </p:pic>
      <p:sp>
        <p:nvSpPr>
          <p:cNvPr id="74" name="Google Shape;74;p14"/>
          <p:cNvSpPr txBox="1"/>
          <p:nvPr/>
        </p:nvSpPr>
        <p:spPr>
          <a:xfrm>
            <a:off x="4699000" y="2400300"/>
            <a:ext cx="1905000" cy="31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15253B"/>
                </a:solidFill>
              </a:rPr>
              <a:t>Quadrupeds</a:t>
            </a:r>
            <a:endParaRPr b="1" sz="1500">
              <a:solidFill>
                <a:srgbClr val="15253B"/>
              </a:solidFill>
            </a:endParaRPr>
          </a:p>
        </p:txBody>
      </p:sp>
      <p:pic>
        <p:nvPicPr>
          <p:cNvPr id="75" name="Google Shape;75;p14"/>
          <p:cNvPicPr preferRelativeResize="0"/>
          <p:nvPr/>
        </p:nvPicPr>
        <p:blipFill>
          <a:blip r:embed="rId6">
            <a:alphaModFix/>
          </a:blip>
          <a:stretch>
            <a:fillRect/>
          </a:stretch>
        </p:blipFill>
        <p:spPr>
          <a:xfrm>
            <a:off x="7200900" y="1168400"/>
            <a:ext cx="1219200" cy="1219200"/>
          </a:xfrm>
          <a:prstGeom prst="rect">
            <a:avLst/>
          </a:prstGeom>
          <a:noFill/>
          <a:ln>
            <a:noFill/>
          </a:ln>
        </p:spPr>
      </p:pic>
      <p:sp>
        <p:nvSpPr>
          <p:cNvPr id="76" name="Google Shape;76;p14"/>
          <p:cNvSpPr txBox="1"/>
          <p:nvPr/>
        </p:nvSpPr>
        <p:spPr>
          <a:xfrm>
            <a:off x="6858000" y="2400300"/>
            <a:ext cx="1905000" cy="31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15253B"/>
                </a:solidFill>
              </a:rPr>
              <a:t>Humanoids</a:t>
            </a:r>
            <a:endParaRPr b="1" sz="1500">
              <a:solidFill>
                <a:srgbClr val="15253B"/>
              </a:solidFill>
            </a:endParaRPr>
          </a:p>
        </p:txBody>
      </p:sp>
      <p:pic>
        <p:nvPicPr>
          <p:cNvPr id="77" name="Google Shape;77;p14"/>
          <p:cNvPicPr preferRelativeResize="0"/>
          <p:nvPr/>
        </p:nvPicPr>
        <p:blipFill>
          <a:blip r:embed="rId7">
            <a:alphaModFix/>
          </a:blip>
          <a:stretch>
            <a:fillRect/>
          </a:stretch>
        </p:blipFill>
        <p:spPr>
          <a:xfrm>
            <a:off x="903811" y="2908300"/>
            <a:ext cx="1621379" cy="1219201"/>
          </a:xfrm>
          <a:prstGeom prst="rect">
            <a:avLst/>
          </a:prstGeom>
          <a:noFill/>
          <a:ln>
            <a:noFill/>
          </a:ln>
        </p:spPr>
      </p:pic>
      <p:sp>
        <p:nvSpPr>
          <p:cNvPr id="78" name="Google Shape;78;p14"/>
          <p:cNvSpPr txBox="1"/>
          <p:nvPr/>
        </p:nvSpPr>
        <p:spPr>
          <a:xfrm>
            <a:off x="762000" y="4140200"/>
            <a:ext cx="1905000" cy="31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15253B"/>
                </a:solidFill>
              </a:rPr>
              <a:t>Flying robots</a:t>
            </a:r>
            <a:endParaRPr b="1" sz="1500">
              <a:solidFill>
                <a:srgbClr val="15253B"/>
              </a:solidFill>
            </a:endParaRPr>
          </a:p>
        </p:txBody>
      </p:sp>
      <p:pic>
        <p:nvPicPr>
          <p:cNvPr id="79" name="Google Shape;79;p14"/>
          <p:cNvPicPr preferRelativeResize="0"/>
          <p:nvPr/>
        </p:nvPicPr>
        <p:blipFill>
          <a:blip r:embed="rId8">
            <a:alphaModFix/>
          </a:blip>
          <a:stretch>
            <a:fillRect/>
          </a:stretch>
        </p:blipFill>
        <p:spPr>
          <a:xfrm>
            <a:off x="3517900" y="2908300"/>
            <a:ext cx="1219200" cy="1219200"/>
          </a:xfrm>
          <a:prstGeom prst="rect">
            <a:avLst/>
          </a:prstGeom>
          <a:noFill/>
          <a:ln>
            <a:noFill/>
          </a:ln>
        </p:spPr>
      </p:pic>
      <p:sp>
        <p:nvSpPr>
          <p:cNvPr id="80" name="Google Shape;80;p14"/>
          <p:cNvSpPr txBox="1"/>
          <p:nvPr/>
        </p:nvSpPr>
        <p:spPr>
          <a:xfrm>
            <a:off x="3175000" y="4140200"/>
            <a:ext cx="1905000" cy="31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15253B"/>
                </a:solidFill>
              </a:rPr>
              <a:t>Underwater robots</a:t>
            </a:r>
            <a:endParaRPr b="1" sz="1500">
              <a:solidFill>
                <a:srgbClr val="15253B"/>
              </a:solidFill>
            </a:endParaRPr>
          </a:p>
        </p:txBody>
      </p:sp>
      <p:pic>
        <p:nvPicPr>
          <p:cNvPr id="81" name="Google Shape;81;p14"/>
          <p:cNvPicPr preferRelativeResize="0"/>
          <p:nvPr/>
        </p:nvPicPr>
        <p:blipFill>
          <a:blip r:embed="rId9">
            <a:alphaModFix/>
          </a:blip>
          <a:stretch>
            <a:fillRect/>
          </a:stretch>
        </p:blipFill>
        <p:spPr>
          <a:xfrm>
            <a:off x="6014357" y="2908300"/>
            <a:ext cx="2322285" cy="1219200"/>
          </a:xfrm>
          <a:prstGeom prst="rect">
            <a:avLst/>
          </a:prstGeom>
          <a:noFill/>
          <a:ln>
            <a:noFill/>
          </a:ln>
        </p:spPr>
      </p:pic>
      <p:sp>
        <p:nvSpPr>
          <p:cNvPr id="82" name="Google Shape;82;p14"/>
          <p:cNvSpPr txBox="1"/>
          <p:nvPr/>
        </p:nvSpPr>
        <p:spPr>
          <a:xfrm>
            <a:off x="5588000" y="4140200"/>
            <a:ext cx="3174900" cy="31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15253B"/>
                </a:solidFill>
              </a:rPr>
              <a:t>Microduck · small biped</a:t>
            </a:r>
            <a:endParaRPr b="1" sz="1500">
              <a:solidFill>
                <a:srgbClr val="15253B"/>
              </a:solidFill>
            </a:endParaRPr>
          </a:p>
        </p:txBody>
      </p:sp>
      <p:sp>
        <p:nvSpPr>
          <p:cNvPr id="83" name="Google Shape;83;p14"/>
          <p:cNvSpPr txBox="1"/>
          <p:nvPr/>
        </p:nvSpPr>
        <p:spPr>
          <a:xfrm>
            <a:off x="381000" y="4572000"/>
            <a:ext cx="8382000" cy="190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rgbClr val="596C82"/>
                </a:solidFill>
              </a:rPr>
              <a:t>Images: GRASP Lab · Waterloo · Unitree · Bitcraze · Blue Robotics · Pollen Robotics</a:t>
            </a:r>
            <a:endParaRPr sz="900">
              <a:solidFill>
                <a:srgbClr val="596C8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87" name="Shape 87"/>
        <p:cNvGrpSpPr/>
        <p:nvPr/>
      </p:nvGrpSpPr>
      <p:grpSpPr>
        <a:xfrm>
          <a:off x="0" y="0"/>
          <a:ext cx="0" cy="0"/>
          <a:chOff x="0" y="0"/>
          <a:chExt cx="0" cy="0"/>
        </a:xfrm>
      </p:grpSpPr>
      <p:sp>
        <p:nvSpPr>
          <p:cNvPr id="88" name="Google Shape;88;p15"/>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5"/>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Fixed-base robots: learn to manipulate</a:t>
            </a:r>
            <a:endParaRPr b="1">
              <a:solidFill>
                <a:srgbClr val="15253B"/>
              </a:solidFill>
            </a:endParaRPr>
          </a:p>
        </p:txBody>
      </p:sp>
      <p:sp>
        <p:nvSpPr>
          <p:cNvPr id="91" name="Google Shape;91;p15"/>
          <p:cNvSpPr txBox="1"/>
          <p:nvPr/>
        </p:nvSpPr>
        <p:spPr>
          <a:xfrm>
            <a:off x="381000" y="4584700"/>
            <a:ext cx="8382000" cy="2031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100" u="sng">
                <a:solidFill>
                  <a:schemeClr val="hlink"/>
                </a:solidFill>
                <a:hlinkClick r:id="rId3"/>
              </a:rPr>
              <a:t>Generalist · GEN-1 · autonomous box folding · 1×</a:t>
            </a:r>
            <a:endParaRPr sz="1100">
              <a:solidFill>
                <a:srgbClr val="5C5C5C"/>
              </a:solidFill>
            </a:endParaRPr>
          </a:p>
        </p:txBody>
      </p:sp>
      <p:sp>
        <p:nvSpPr>
          <p:cNvPr id="92" name="Google Shape;92;p15"/>
          <p:cNvSpPr txBox="1"/>
          <p:nvPr/>
        </p:nvSpPr>
        <p:spPr>
          <a:xfrm>
            <a:off x="381000" y="4889500"/>
            <a:ext cx="8382000" cy="1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596C82"/>
                </a:solidFill>
              </a:rPr>
              <a:t>A ROBOTICS OVERVIEW   /   3 OF 51</a:t>
            </a:r>
            <a:endParaRPr sz="900">
              <a:solidFill>
                <a:srgbClr val="596C82"/>
              </a:solidFill>
            </a:endParaRPr>
          </a:p>
        </p:txBody>
      </p:sp>
      <p:pic>
        <p:nvPicPr>
          <p:cNvPr id="93" name="Google Shape;93;p15">
            <a:hlinkClick r:id="rId4"/>
          </p:cNvPr>
          <p:cNvPicPr preferRelativeResize="0"/>
          <p:nvPr/>
        </p:nvPicPr>
        <p:blipFill>
          <a:blip r:embed="rId5">
            <a:alphaModFix/>
          </a:blip>
          <a:stretch>
            <a:fillRect/>
          </a:stretch>
        </p:blipFill>
        <p:spPr>
          <a:xfrm>
            <a:off x="381000" y="1219200"/>
            <a:ext cx="5334000" cy="299803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1000"/>
                                        <p:tgtEl>
                                          <p:spTgt spid="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97" name="Shape 97"/>
        <p:cNvGrpSpPr/>
        <p:nvPr/>
      </p:nvGrpSpPr>
      <p:grpSpPr>
        <a:xfrm>
          <a:off x="0" y="0"/>
          <a:ext cx="0" cy="0"/>
          <a:chOff x="0" y="0"/>
          <a:chExt cx="0" cy="0"/>
        </a:xfrm>
      </p:grpSpPr>
      <p:sp>
        <p:nvSpPr>
          <p:cNvPr id="98" name="Google Shape;98;p16"/>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6"/>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Quadrupeds: balance through changing contacts</a:t>
            </a:r>
            <a:endParaRPr b="1">
              <a:solidFill>
                <a:srgbClr val="15253B"/>
              </a:solidFill>
            </a:endParaRPr>
          </a:p>
        </p:txBody>
      </p:sp>
      <p:sp>
        <p:nvSpPr>
          <p:cNvPr id="101" name="Google Shape;101;p16"/>
          <p:cNvSpPr txBox="1"/>
          <p:nvPr/>
        </p:nvSpPr>
        <p:spPr>
          <a:xfrm>
            <a:off x="381000" y="4584700"/>
            <a:ext cx="8382000" cy="2031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100" u="sng">
                <a:solidFill>
                  <a:schemeClr val="hlink"/>
                </a:solidFill>
                <a:hlinkClick r:id="rId3"/>
              </a:rPr>
              <a:t>Extreme Parkour · Cheng et al., ICRA 2024 · real robot</a:t>
            </a:r>
            <a:endParaRPr sz="1100">
              <a:solidFill>
                <a:srgbClr val="5C5C5C"/>
              </a:solidFill>
            </a:endParaRPr>
          </a:p>
        </p:txBody>
      </p:sp>
      <p:sp>
        <p:nvSpPr>
          <p:cNvPr id="102" name="Google Shape;102;p16"/>
          <p:cNvSpPr txBox="1"/>
          <p:nvPr/>
        </p:nvSpPr>
        <p:spPr>
          <a:xfrm>
            <a:off x="381000" y="4889500"/>
            <a:ext cx="8382000" cy="1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596C82"/>
                </a:solidFill>
              </a:rPr>
              <a:t>A ROBOTICS OVERVIEW   /   4 OF 51</a:t>
            </a:r>
            <a:endParaRPr sz="900">
              <a:solidFill>
                <a:srgbClr val="596C82"/>
              </a:solidFill>
            </a:endParaRPr>
          </a:p>
        </p:txBody>
      </p:sp>
      <p:pic>
        <p:nvPicPr>
          <p:cNvPr id="103" name="Google Shape;103;p16">
            <a:hlinkClick r:id="rId4"/>
          </p:cNvPr>
          <p:cNvPicPr preferRelativeResize="0"/>
          <p:nvPr/>
        </p:nvPicPr>
        <p:blipFill>
          <a:blip r:embed="rId5">
            <a:alphaModFix/>
          </a:blip>
          <a:stretch>
            <a:fillRect/>
          </a:stretch>
        </p:blipFill>
        <p:spPr>
          <a:xfrm>
            <a:off x="381000" y="1778000"/>
            <a:ext cx="8382000" cy="1606550"/>
          </a:xfrm>
          <a:prstGeom prst="rect">
            <a:avLst/>
          </a:prstGeom>
          <a:noFill/>
          <a:ln>
            <a:noFill/>
          </a:ln>
        </p:spPr>
      </p:pic>
      <p:sp>
        <p:nvSpPr>
          <p:cNvPr id="104" name="Google Shape;104;p16"/>
          <p:cNvSpPr txBox="1"/>
          <p:nvPr/>
        </p:nvSpPr>
        <p:spPr>
          <a:xfrm>
            <a:off x="381000" y="1193800"/>
            <a:ext cx="8382000" cy="4065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000">
                <a:solidFill>
                  <a:srgbClr val="15253B"/>
                </a:solidFill>
              </a:rPr>
              <a:t>The base moves. Ground contact changes at every step.</a:t>
            </a:r>
            <a:endParaRPr sz="2000">
              <a:solidFill>
                <a:srgbClr val="15253B"/>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000"/>
                                        <p:tgtEl>
                                          <p:spTgt spid="1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108" name="Shape 108"/>
        <p:cNvGrpSpPr/>
        <p:nvPr/>
      </p:nvGrpSpPr>
      <p:grpSpPr>
        <a:xfrm>
          <a:off x="0" y="0"/>
          <a:ext cx="0" cy="0"/>
          <a:chOff x="0" y="0"/>
          <a:chExt cx="0" cy="0"/>
        </a:xfrm>
      </p:grpSpPr>
      <p:sp>
        <p:nvSpPr>
          <p:cNvPr id="109" name="Google Shape;109;p17"/>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7"/>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Humanoids: move, manipulate, and balance</a:t>
            </a:r>
            <a:endParaRPr b="1">
              <a:solidFill>
                <a:srgbClr val="15253B"/>
              </a:solidFill>
            </a:endParaRPr>
          </a:p>
        </p:txBody>
      </p:sp>
      <p:sp>
        <p:nvSpPr>
          <p:cNvPr id="112" name="Google Shape;112;p17"/>
          <p:cNvSpPr txBox="1"/>
          <p:nvPr/>
        </p:nvSpPr>
        <p:spPr>
          <a:xfrm>
            <a:off x="381000" y="4584700"/>
            <a:ext cx="8382000" cy="2031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100">
                <a:solidFill>
                  <a:srgbClr val="5C5C5C"/>
                </a:solidFill>
              </a:rPr>
              <a:t>Flexion · Reflect · stairs and box pickup · demo excerpts</a:t>
            </a:r>
            <a:endParaRPr sz="1100">
              <a:solidFill>
                <a:srgbClr val="5C5C5C"/>
              </a:solidFill>
            </a:endParaRPr>
          </a:p>
        </p:txBody>
      </p:sp>
      <p:sp>
        <p:nvSpPr>
          <p:cNvPr id="113" name="Google Shape;113;p17"/>
          <p:cNvSpPr txBox="1"/>
          <p:nvPr/>
        </p:nvSpPr>
        <p:spPr>
          <a:xfrm>
            <a:off x="381000" y="4889500"/>
            <a:ext cx="8382000" cy="1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596C82"/>
                </a:solidFill>
              </a:rPr>
              <a:t>A ROBOTICS OVERVIEW   /   5 OF 51</a:t>
            </a:r>
            <a:endParaRPr sz="900">
              <a:solidFill>
                <a:srgbClr val="596C82"/>
              </a:solidFill>
            </a:endParaRPr>
          </a:p>
        </p:txBody>
      </p:sp>
      <p:pic>
        <p:nvPicPr>
          <p:cNvPr id="114" name="Google Shape;114;p17">
            <a:hlinkClick r:id="rId3"/>
          </p:cNvPr>
          <p:cNvPicPr preferRelativeResize="0"/>
          <p:nvPr/>
        </p:nvPicPr>
        <p:blipFill>
          <a:blip r:embed="rId4">
            <a:alphaModFix/>
          </a:blip>
          <a:stretch>
            <a:fillRect/>
          </a:stretch>
        </p:blipFill>
        <p:spPr>
          <a:xfrm>
            <a:off x="381000" y="1219200"/>
            <a:ext cx="5334000" cy="3000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0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53B"/>
        </a:solidFill>
      </p:bgPr>
    </p:bg>
    <p:spTree>
      <p:nvGrpSpPr>
        <p:cNvPr id="118" name="Shape 118"/>
        <p:cNvGrpSpPr/>
        <p:nvPr/>
      </p:nvGrpSpPr>
      <p:grpSpPr>
        <a:xfrm>
          <a:off x="0" y="0"/>
          <a:ext cx="0" cy="0"/>
          <a:chOff x="0" y="0"/>
          <a:chExt cx="0" cy="0"/>
        </a:xfrm>
      </p:grpSpPr>
      <p:sp>
        <p:nvSpPr>
          <p:cNvPr id="119" name="Google Shape;119;p18"/>
          <p:cNvSpPr/>
          <p:nvPr/>
        </p:nvSpPr>
        <p:spPr>
          <a:xfrm>
            <a:off x="0" y="4838700"/>
            <a:ext cx="9144000" cy="304800"/>
          </a:xfrm>
          <a:prstGeom prst="rect">
            <a:avLst/>
          </a:prstGeom>
          <a:solidFill>
            <a:srgbClr val="1020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8"/>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7FAFF"/>
                </a:solidFill>
              </a:rPr>
              <a:t>VLA and WAM: reuse pretrained models</a:t>
            </a:r>
            <a:endParaRPr b="1">
              <a:solidFill>
                <a:srgbClr val="F7FAFF"/>
              </a:solidFill>
            </a:endParaRPr>
          </a:p>
        </p:txBody>
      </p:sp>
      <p:sp>
        <p:nvSpPr>
          <p:cNvPr id="122" name="Google Shape;122;p18"/>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B6C9DF"/>
                </a:solidFill>
              </a:rPr>
              <a:t>MODELS AND CONTROL   /   6 OF 51</a:t>
            </a:r>
            <a:endParaRPr sz="900">
              <a:solidFill>
                <a:srgbClr val="B6C9DF"/>
              </a:solidFill>
            </a:endParaRPr>
          </a:p>
        </p:txBody>
      </p:sp>
      <p:sp>
        <p:nvSpPr>
          <p:cNvPr id="123" name="Google Shape;123;p18"/>
          <p:cNvSpPr txBox="1"/>
          <p:nvPr/>
        </p:nvSpPr>
        <p:spPr>
          <a:xfrm>
            <a:off x="381000" y="1346200"/>
            <a:ext cx="40386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8BBFFF"/>
                </a:solidFill>
              </a:rPr>
              <a:t>VLA · Vision–Language–Action</a:t>
            </a:r>
            <a:endParaRPr b="1" sz="1500">
              <a:solidFill>
                <a:srgbClr val="8BBFFF"/>
              </a:solidFill>
            </a:endParaRPr>
          </a:p>
        </p:txBody>
      </p:sp>
      <p:sp>
        <p:nvSpPr>
          <p:cNvPr id="124" name="Google Shape;124;p18"/>
          <p:cNvSpPr txBox="1"/>
          <p:nvPr/>
        </p:nvSpPr>
        <p:spPr>
          <a:xfrm>
            <a:off x="381000" y="1816100"/>
            <a:ext cx="4038600" cy="80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E7EEF7"/>
                </a:solidFill>
              </a:rPr>
              <a:t>Pretrained</a:t>
            </a:r>
            <a:endParaRPr sz="2100">
              <a:solidFill>
                <a:srgbClr val="E7EEF7"/>
              </a:solidFill>
            </a:endParaRPr>
          </a:p>
          <a:p>
            <a:pPr indent="0" lvl="0" marL="0" marR="0" rtl="0" algn="l">
              <a:lnSpc>
                <a:spcPct val="115000"/>
              </a:lnSpc>
              <a:spcBef>
                <a:spcPts val="0"/>
              </a:spcBef>
              <a:spcAft>
                <a:spcPts val="0"/>
              </a:spcAft>
              <a:buNone/>
            </a:pPr>
            <a:r>
              <a:rPr lang="en" sz="2100">
                <a:solidFill>
                  <a:srgbClr val="E7EEF7"/>
                </a:solidFill>
              </a:rPr>
              <a:t>vision-language model</a:t>
            </a:r>
            <a:endParaRPr sz="2100">
              <a:solidFill>
                <a:srgbClr val="E7EEF7"/>
              </a:solidFill>
            </a:endParaRPr>
          </a:p>
        </p:txBody>
      </p:sp>
      <p:sp>
        <p:nvSpPr>
          <p:cNvPr id="125" name="Google Shape;125;p18"/>
          <p:cNvSpPr txBox="1"/>
          <p:nvPr/>
        </p:nvSpPr>
        <p:spPr>
          <a:xfrm>
            <a:off x="4724400" y="1346200"/>
            <a:ext cx="40386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8BBFFF"/>
                </a:solidFill>
              </a:rPr>
              <a:t>WAM · World–Action Model</a:t>
            </a:r>
            <a:endParaRPr b="1" sz="1500">
              <a:solidFill>
                <a:srgbClr val="8BBFFF"/>
              </a:solidFill>
            </a:endParaRPr>
          </a:p>
        </p:txBody>
      </p:sp>
      <p:sp>
        <p:nvSpPr>
          <p:cNvPr id="126" name="Google Shape;126;p18"/>
          <p:cNvSpPr txBox="1"/>
          <p:nvPr/>
        </p:nvSpPr>
        <p:spPr>
          <a:xfrm>
            <a:off x="4724400" y="1816100"/>
            <a:ext cx="4038600" cy="80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E7EEF7"/>
                </a:solidFill>
              </a:rPr>
              <a:t>Pretrained</a:t>
            </a:r>
            <a:endParaRPr sz="2100">
              <a:solidFill>
                <a:srgbClr val="E7EEF7"/>
              </a:solidFill>
            </a:endParaRPr>
          </a:p>
          <a:p>
            <a:pPr indent="0" lvl="0" marL="0" marR="0" rtl="0" algn="l">
              <a:lnSpc>
                <a:spcPct val="115000"/>
              </a:lnSpc>
              <a:spcBef>
                <a:spcPts val="0"/>
              </a:spcBef>
              <a:spcAft>
                <a:spcPts val="0"/>
              </a:spcAft>
              <a:buNone/>
            </a:pPr>
            <a:r>
              <a:rPr lang="en" sz="2100">
                <a:solidFill>
                  <a:srgbClr val="E7EEF7"/>
                </a:solidFill>
              </a:rPr>
              <a:t>video model</a:t>
            </a:r>
            <a:endParaRPr sz="2100">
              <a:solidFill>
                <a:srgbClr val="E7EEF7"/>
              </a:solidFill>
            </a:endParaRPr>
          </a:p>
        </p:txBody>
      </p:sp>
      <p:sp>
        <p:nvSpPr>
          <p:cNvPr id="127" name="Google Shape;127;p18"/>
          <p:cNvSpPr txBox="1"/>
          <p:nvPr/>
        </p:nvSpPr>
        <p:spPr>
          <a:xfrm>
            <a:off x="381000" y="4102100"/>
            <a:ext cx="8382000" cy="507900"/>
          </a:xfrm>
          <a:prstGeom prst="rect">
            <a:avLst/>
          </a:prstGeom>
          <a:solidFill>
            <a:srgbClr val="223D5E"/>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600">
                <a:solidFill>
                  <a:srgbClr val="B6D6FF"/>
                </a:solidFill>
              </a:rPr>
              <a:t>This course: learn motion control from demonstrations and RL.</a:t>
            </a:r>
            <a:endParaRPr b="1" sz="1600">
              <a:solidFill>
                <a:srgbClr val="B6D6FF"/>
              </a:solidFill>
            </a:endParaRPr>
          </a:p>
        </p:txBody>
      </p:sp>
      <p:cxnSp>
        <p:nvCxnSpPr>
          <p:cNvPr id="128" name="Google Shape;128;p18"/>
          <p:cNvCxnSpPr/>
          <p:nvPr/>
        </p:nvCxnSpPr>
        <p:spPr>
          <a:xfrm>
            <a:off x="2260600" y="2705100"/>
            <a:ext cx="0" cy="419100"/>
          </a:xfrm>
          <a:prstGeom prst="straightConnector1">
            <a:avLst/>
          </a:prstGeom>
          <a:noFill/>
          <a:ln cap="flat" cmpd="sng" w="25400">
            <a:solidFill>
              <a:srgbClr val="8BBFFF"/>
            </a:solidFill>
            <a:prstDash val="solid"/>
            <a:round/>
            <a:headEnd len="med" w="med" type="none"/>
            <a:tailEnd len="med" w="med" type="triangle"/>
          </a:ln>
        </p:spPr>
      </p:cxnSp>
      <p:cxnSp>
        <p:nvCxnSpPr>
          <p:cNvPr id="129" name="Google Shape;129;p18"/>
          <p:cNvCxnSpPr/>
          <p:nvPr/>
        </p:nvCxnSpPr>
        <p:spPr>
          <a:xfrm>
            <a:off x="6604000" y="2705100"/>
            <a:ext cx="0" cy="419100"/>
          </a:xfrm>
          <a:prstGeom prst="straightConnector1">
            <a:avLst/>
          </a:prstGeom>
          <a:noFill/>
          <a:ln cap="flat" cmpd="sng" w="25400">
            <a:solidFill>
              <a:srgbClr val="8BBFFF"/>
            </a:solidFill>
            <a:prstDash val="solid"/>
            <a:round/>
            <a:headEnd len="med" w="med" type="none"/>
            <a:tailEnd len="med" w="med" type="triangle"/>
          </a:ln>
        </p:spPr>
      </p:cxnSp>
      <p:sp>
        <p:nvSpPr>
          <p:cNvPr id="130" name="Google Shape;130;p18"/>
          <p:cNvSpPr txBox="1"/>
          <p:nvPr/>
        </p:nvSpPr>
        <p:spPr>
          <a:xfrm>
            <a:off x="381000" y="3251200"/>
            <a:ext cx="4038600" cy="609600"/>
          </a:xfrm>
          <a:prstGeom prst="rect">
            <a:avLst/>
          </a:prstGeom>
          <a:solidFill>
            <a:srgbClr val="223D5E"/>
          </a:solid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100">
                <a:solidFill>
                  <a:srgbClr val="E7EEF7"/>
                </a:solidFill>
              </a:rPr>
              <a:t>Predict robot actions</a:t>
            </a:r>
            <a:endParaRPr sz="2100">
              <a:solidFill>
                <a:srgbClr val="E7EEF7"/>
              </a:solidFill>
            </a:endParaRPr>
          </a:p>
        </p:txBody>
      </p:sp>
      <p:sp>
        <p:nvSpPr>
          <p:cNvPr id="131" name="Google Shape;131;p18"/>
          <p:cNvSpPr txBox="1"/>
          <p:nvPr/>
        </p:nvSpPr>
        <p:spPr>
          <a:xfrm>
            <a:off x="4724400" y="3251200"/>
            <a:ext cx="4038600" cy="609600"/>
          </a:xfrm>
          <a:prstGeom prst="rect">
            <a:avLst/>
          </a:prstGeom>
          <a:solidFill>
            <a:srgbClr val="223D5E"/>
          </a:solid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000">
                <a:solidFill>
                  <a:srgbClr val="E7EEF7"/>
                </a:solidFill>
              </a:rPr>
              <a:t>Predict video + actions</a:t>
            </a:r>
            <a:endParaRPr sz="2000">
              <a:solidFill>
                <a:srgbClr val="E7EEF7"/>
              </a:solidFill>
            </a:endParaRPr>
          </a:p>
        </p:txBody>
      </p:sp>
      <p:sp>
        <p:nvSpPr>
          <p:cNvPr id="132" name="Google Shape;132;p18"/>
          <p:cNvSpPr txBox="1"/>
          <p:nvPr/>
        </p:nvSpPr>
        <p:spPr>
          <a:xfrm>
            <a:off x="381000" y="4635500"/>
            <a:ext cx="8382000" cy="1905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1000">
                <a:solidFill>
                  <a:srgbClr val="B6C9DF"/>
                </a:solidFill>
              </a:rPr>
              <a:t>Examples: </a:t>
            </a:r>
            <a:r>
              <a:rPr lang="en" sz="1000" u="sng">
                <a:solidFill>
                  <a:schemeClr val="hlink"/>
                </a:solidFill>
                <a:hlinkClick r:id="rId3"/>
              </a:rPr>
              <a:t>RT-2 (VLA)</a:t>
            </a:r>
            <a:r>
              <a:rPr lang="en" sz="1000">
                <a:solidFill>
                  <a:srgbClr val="B6C9DF"/>
                </a:solidFill>
              </a:rPr>
              <a:t> · </a:t>
            </a:r>
            <a:r>
              <a:rPr lang="en" sz="1000" u="sng">
                <a:solidFill>
                  <a:schemeClr val="hlink"/>
                </a:solidFill>
                <a:hlinkClick r:id="rId4"/>
              </a:rPr>
              <a:t>DreamZero (WAM)</a:t>
            </a:r>
            <a:endParaRPr sz="1000">
              <a:solidFill>
                <a:srgbClr val="B6C9DF"/>
              </a:solidFill>
            </a:endParaRPr>
          </a:p>
        </p:txBody>
      </p:sp>
      <p:sp>
        <p:nvSpPr>
          <p:cNvPr id="133" name="Google Shape;133;p18"/>
          <p:cNvSpPr txBox="1"/>
          <p:nvPr/>
        </p:nvSpPr>
        <p:spPr>
          <a:xfrm>
            <a:off x="2463800" y="2679700"/>
            <a:ext cx="1955700" cy="469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B6C9DF"/>
                </a:solidFill>
              </a:rPr>
              <a:t>Adapt with robot data</a:t>
            </a:r>
            <a:endParaRPr sz="1300">
              <a:solidFill>
                <a:srgbClr val="B6C9DF"/>
              </a:solidFill>
            </a:endParaRPr>
          </a:p>
        </p:txBody>
      </p:sp>
      <p:sp>
        <p:nvSpPr>
          <p:cNvPr id="134" name="Google Shape;134;p18"/>
          <p:cNvSpPr txBox="1"/>
          <p:nvPr/>
        </p:nvSpPr>
        <p:spPr>
          <a:xfrm>
            <a:off x="6807200" y="2679700"/>
            <a:ext cx="1955700" cy="469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B6C9DF"/>
                </a:solidFill>
              </a:rPr>
              <a:t>Adapt with robot data</a:t>
            </a:r>
            <a:endParaRPr sz="1300">
              <a:solidFill>
                <a:srgbClr val="B6C9D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138" name="Shape 138"/>
        <p:cNvGrpSpPr/>
        <p:nvPr/>
      </p:nvGrpSpPr>
      <p:grpSpPr>
        <a:xfrm>
          <a:off x="0" y="0"/>
          <a:ext cx="0" cy="0"/>
          <a:chOff x="0" y="0"/>
          <a:chExt cx="0" cy="0"/>
        </a:xfrm>
      </p:grpSpPr>
      <p:sp>
        <p:nvSpPr>
          <p:cNvPr id="139" name="Google Shape;139;p19"/>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19"/>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Our focus: teach a biped to move</a:t>
            </a:r>
            <a:endParaRPr b="1">
              <a:solidFill>
                <a:srgbClr val="15253B"/>
              </a:solidFill>
            </a:endParaRPr>
          </a:p>
        </p:txBody>
      </p:sp>
      <p:sp>
        <p:nvSpPr>
          <p:cNvPr id="142" name="Google Shape;142;p19"/>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OUR COURSE   /   7 OF 51</a:t>
            </a:r>
            <a:endParaRPr sz="900">
              <a:solidFill>
                <a:srgbClr val="596C82"/>
              </a:solidFill>
            </a:endParaRPr>
          </a:p>
        </p:txBody>
      </p:sp>
      <p:sp>
        <p:nvSpPr>
          <p:cNvPr id="143" name="Google Shape;143;p19"/>
          <p:cNvSpPr txBox="1"/>
          <p:nvPr/>
        </p:nvSpPr>
        <p:spPr>
          <a:xfrm>
            <a:off x="5943600" y="1422400"/>
            <a:ext cx="2768700" cy="7875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15253B"/>
                </a:solidFill>
              </a:rPr>
              <a:t>Start with human</a:t>
            </a:r>
            <a:endParaRPr sz="1900">
              <a:solidFill>
                <a:srgbClr val="15253B"/>
              </a:solidFill>
            </a:endParaRPr>
          </a:p>
          <a:p>
            <a:pPr indent="0" lvl="0" marL="0" marR="0" rtl="0" algn="ctr">
              <a:lnSpc>
                <a:spcPct val="115000"/>
              </a:lnSpc>
              <a:spcBef>
                <a:spcPts val="0"/>
              </a:spcBef>
              <a:spcAft>
                <a:spcPts val="0"/>
              </a:spcAft>
              <a:buNone/>
            </a:pPr>
            <a:r>
              <a:rPr lang="en" sz="1900">
                <a:solidFill>
                  <a:srgbClr val="15253B"/>
                </a:solidFill>
              </a:rPr>
              <a:t>motion capture.</a:t>
            </a:r>
            <a:endParaRPr sz="1900">
              <a:solidFill>
                <a:srgbClr val="15253B"/>
              </a:solidFill>
            </a:endParaRPr>
          </a:p>
        </p:txBody>
      </p:sp>
      <p:sp>
        <p:nvSpPr>
          <p:cNvPr id="144" name="Google Shape;144;p19"/>
          <p:cNvSpPr txBox="1"/>
          <p:nvPr/>
        </p:nvSpPr>
        <p:spPr>
          <a:xfrm>
            <a:off x="5943600" y="2489200"/>
            <a:ext cx="2768700" cy="5334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15253B"/>
                </a:solidFill>
              </a:rPr>
              <a:t>Adapt it to the robot.</a:t>
            </a:r>
            <a:endParaRPr sz="1900">
              <a:solidFill>
                <a:srgbClr val="15253B"/>
              </a:solidFill>
            </a:endParaRPr>
          </a:p>
        </p:txBody>
      </p:sp>
      <p:sp>
        <p:nvSpPr>
          <p:cNvPr id="145" name="Google Shape;145;p19"/>
          <p:cNvSpPr txBox="1"/>
          <p:nvPr/>
        </p:nvSpPr>
        <p:spPr>
          <a:xfrm>
            <a:off x="5943600" y="3314700"/>
            <a:ext cx="2768700" cy="5334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900">
                <a:solidFill>
                  <a:srgbClr val="15253B"/>
                </a:solidFill>
              </a:rPr>
              <a:t>Learn control with RL.</a:t>
            </a:r>
            <a:endParaRPr sz="1900">
              <a:solidFill>
                <a:srgbClr val="15253B"/>
              </a:solidFill>
            </a:endParaRPr>
          </a:p>
        </p:txBody>
      </p:sp>
      <p:sp>
        <p:nvSpPr>
          <p:cNvPr id="146" name="Google Shape;146;p19"/>
          <p:cNvSpPr txBox="1"/>
          <p:nvPr/>
        </p:nvSpPr>
        <p:spPr>
          <a:xfrm>
            <a:off x="381000" y="4229100"/>
            <a:ext cx="8382000" cy="3429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700">
                <a:solidFill>
                  <a:srgbClr val="245CA7"/>
                </a:solidFill>
              </a:rPr>
              <a:t>Human data shows how to move. RL learns how to stay in control.</a:t>
            </a:r>
            <a:endParaRPr b="1" sz="1700">
              <a:solidFill>
                <a:srgbClr val="245CA7"/>
              </a:solidFill>
            </a:endParaRPr>
          </a:p>
        </p:txBody>
      </p:sp>
      <p:sp>
        <p:nvSpPr>
          <p:cNvPr id="147" name="Google Shape;147;p19"/>
          <p:cNvSpPr txBox="1"/>
          <p:nvPr/>
        </p:nvSpPr>
        <p:spPr>
          <a:xfrm>
            <a:off x="381000" y="4584700"/>
            <a:ext cx="8382000" cy="20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100">
                <a:solidFill>
                  <a:srgbClr val="5C5C5C"/>
                </a:solidFill>
              </a:rPr>
              <a:t>Motion tracking: a reference motion guides a feedback controller.</a:t>
            </a:r>
            <a:endParaRPr sz="1100">
              <a:solidFill>
                <a:srgbClr val="5C5C5C"/>
              </a:solidFill>
            </a:endParaRPr>
          </a:p>
        </p:txBody>
      </p:sp>
      <p:pic>
        <p:nvPicPr>
          <p:cNvPr id="148" name="Google Shape;148;p19"/>
          <p:cNvPicPr preferRelativeResize="0"/>
          <p:nvPr/>
        </p:nvPicPr>
        <p:blipFill>
          <a:blip r:embed="rId3">
            <a:alphaModFix/>
          </a:blip>
          <a:stretch>
            <a:fillRect/>
          </a:stretch>
        </p:blipFill>
        <p:spPr>
          <a:xfrm>
            <a:off x="381000" y="1219200"/>
            <a:ext cx="5333999" cy="3000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152" name="Shape 152"/>
        <p:cNvGrpSpPr/>
        <p:nvPr/>
      </p:nvGrpSpPr>
      <p:grpSpPr>
        <a:xfrm>
          <a:off x="0" y="0"/>
          <a:ext cx="0" cy="0"/>
          <a:chOff x="0" y="0"/>
          <a:chExt cx="0" cy="0"/>
        </a:xfrm>
      </p:grpSpPr>
      <p:sp>
        <p:nvSpPr>
          <p:cNvPr id="153" name="Google Shape;153;p20"/>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20"/>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Animation: poses versus actions</a:t>
            </a:r>
            <a:endParaRPr b="1">
              <a:solidFill>
                <a:srgbClr val="15253B"/>
              </a:solidFill>
            </a:endParaRPr>
          </a:p>
        </p:txBody>
      </p:sp>
      <p:sp>
        <p:nvSpPr>
          <p:cNvPr id="156" name="Google Shape;156;p20"/>
          <p:cNvSpPr txBox="1"/>
          <p:nvPr/>
        </p:nvSpPr>
        <p:spPr>
          <a:xfrm>
            <a:off x="381000" y="1181100"/>
            <a:ext cx="27687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4285F4"/>
                </a:solidFill>
              </a:rPr>
              <a:t>Controlled motion</a:t>
            </a:r>
            <a:endParaRPr b="1" sz="2100">
              <a:solidFill>
                <a:srgbClr val="4285F4"/>
              </a:solidFill>
            </a:endParaRPr>
          </a:p>
        </p:txBody>
      </p:sp>
      <p:sp>
        <p:nvSpPr>
          <p:cNvPr id="157" name="Google Shape;157;p20"/>
          <p:cNvSpPr txBox="1"/>
          <p:nvPr/>
        </p:nvSpPr>
        <p:spPr>
          <a:xfrm>
            <a:off x="3175000" y="1181100"/>
            <a:ext cx="28701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407A30"/>
                </a:solidFill>
              </a:rPr>
              <a:t>Kinematic motion</a:t>
            </a:r>
            <a:endParaRPr b="1" sz="2100">
              <a:solidFill>
                <a:srgbClr val="407A30"/>
              </a:solidFill>
            </a:endParaRPr>
          </a:p>
        </p:txBody>
      </p:sp>
      <p:pic>
        <p:nvPicPr>
          <p:cNvPr id="158" name="Google Shape;158;p20"/>
          <p:cNvPicPr preferRelativeResize="0"/>
          <p:nvPr/>
        </p:nvPicPr>
        <p:blipFill>
          <a:blip r:embed="rId3">
            <a:alphaModFix/>
          </a:blip>
          <a:stretch>
            <a:fillRect/>
          </a:stretch>
        </p:blipFill>
        <p:spPr>
          <a:xfrm>
            <a:off x="381000" y="1663700"/>
            <a:ext cx="5588000" cy="2500630"/>
          </a:xfrm>
          <a:prstGeom prst="rect">
            <a:avLst/>
          </a:prstGeom>
          <a:noFill/>
          <a:ln>
            <a:noFill/>
          </a:ln>
        </p:spPr>
      </p:pic>
      <p:sp>
        <p:nvSpPr>
          <p:cNvPr id="159" name="Google Shape;159;p20"/>
          <p:cNvSpPr txBox="1"/>
          <p:nvPr/>
        </p:nvSpPr>
        <p:spPr>
          <a:xfrm>
            <a:off x="6235700" y="1422400"/>
            <a:ext cx="25527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900">
                <a:solidFill>
                  <a:srgbClr val="407A30"/>
                </a:solidFill>
              </a:rPr>
              <a:t>A proposed motion</a:t>
            </a:r>
            <a:endParaRPr b="1" sz="1900">
              <a:solidFill>
                <a:srgbClr val="407A30"/>
              </a:solidFill>
            </a:endParaRPr>
          </a:p>
        </p:txBody>
      </p:sp>
      <p:sp>
        <p:nvSpPr>
          <p:cNvPr id="160" name="Google Shape;160;p20"/>
          <p:cNvSpPr txBox="1"/>
          <p:nvPr/>
        </p:nvSpPr>
        <p:spPr>
          <a:xfrm>
            <a:off x="6235700" y="1841500"/>
            <a:ext cx="2552700" cy="6732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900">
                <a:solidFill>
                  <a:srgbClr val="212121"/>
                </a:solidFill>
              </a:rPr>
              <a:t>Describes how the</a:t>
            </a:r>
            <a:endParaRPr sz="1900">
              <a:solidFill>
                <a:srgbClr val="212121"/>
              </a:solidFill>
            </a:endParaRPr>
          </a:p>
          <a:p>
            <a:pPr indent="0" lvl="0" marL="0" marR="0" rtl="0" algn="l">
              <a:lnSpc>
                <a:spcPct val="110000"/>
              </a:lnSpc>
              <a:spcBef>
                <a:spcPts val="0"/>
              </a:spcBef>
              <a:spcAft>
                <a:spcPts val="0"/>
              </a:spcAft>
              <a:buNone/>
            </a:pPr>
            <a:r>
              <a:rPr lang="en" sz="1900">
                <a:solidFill>
                  <a:srgbClr val="212121"/>
                </a:solidFill>
              </a:rPr>
              <a:t>body could move.</a:t>
            </a:r>
            <a:endParaRPr sz="1900">
              <a:solidFill>
                <a:srgbClr val="212121"/>
              </a:solidFill>
            </a:endParaRPr>
          </a:p>
        </p:txBody>
      </p:sp>
      <p:sp>
        <p:nvSpPr>
          <p:cNvPr id="161" name="Google Shape;161;p20"/>
          <p:cNvSpPr txBox="1"/>
          <p:nvPr/>
        </p:nvSpPr>
        <p:spPr>
          <a:xfrm>
            <a:off x="6235700" y="2832100"/>
            <a:ext cx="25527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900">
                <a:solidFill>
                  <a:srgbClr val="4285F4"/>
                </a:solidFill>
              </a:rPr>
              <a:t>A feedback policy</a:t>
            </a:r>
            <a:endParaRPr b="1" sz="1900">
              <a:solidFill>
                <a:srgbClr val="4285F4"/>
              </a:solidFill>
            </a:endParaRPr>
          </a:p>
        </p:txBody>
      </p:sp>
      <p:sp>
        <p:nvSpPr>
          <p:cNvPr id="162" name="Google Shape;162;p20"/>
          <p:cNvSpPr txBox="1"/>
          <p:nvPr/>
        </p:nvSpPr>
        <p:spPr>
          <a:xfrm>
            <a:off x="6235700" y="3213100"/>
            <a:ext cx="2552700" cy="978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800">
                <a:solidFill>
                  <a:srgbClr val="212121"/>
                </a:solidFill>
              </a:rPr>
              <a:t>State → actions</a:t>
            </a:r>
            <a:endParaRPr sz="1800">
              <a:solidFill>
                <a:srgbClr val="212121"/>
              </a:solidFill>
            </a:endParaRPr>
          </a:p>
          <a:p>
            <a:pPr indent="0" lvl="0" marL="0" marR="0" rtl="0" algn="l">
              <a:lnSpc>
                <a:spcPct val="110000"/>
              </a:lnSpc>
              <a:spcBef>
                <a:spcPts val="0"/>
              </a:spcBef>
              <a:spcAft>
                <a:spcPts val="0"/>
              </a:spcAft>
              <a:buNone/>
            </a:pPr>
            <a:r>
              <a:rPr lang="en" sz="1800">
                <a:solidFill>
                  <a:srgbClr val="212121"/>
                </a:solidFill>
              </a:rPr>
              <a:t>Physics determines</a:t>
            </a:r>
            <a:endParaRPr sz="1800">
              <a:solidFill>
                <a:srgbClr val="212121"/>
              </a:solidFill>
            </a:endParaRPr>
          </a:p>
          <a:p>
            <a:pPr indent="0" lvl="0" marL="0" marR="0" rtl="0" algn="l">
              <a:lnSpc>
                <a:spcPct val="110000"/>
              </a:lnSpc>
              <a:spcBef>
                <a:spcPts val="0"/>
              </a:spcBef>
              <a:spcAft>
                <a:spcPts val="0"/>
              </a:spcAft>
              <a:buNone/>
            </a:pPr>
            <a:r>
              <a:rPr lang="en" sz="1800">
                <a:solidFill>
                  <a:srgbClr val="212121"/>
                </a:solidFill>
              </a:rPr>
              <a:t>the resulting motion.</a:t>
            </a:r>
            <a:endParaRPr sz="1800">
              <a:solidFill>
                <a:srgbClr val="212121"/>
              </a:solidFill>
            </a:endParaRPr>
          </a:p>
        </p:txBody>
      </p:sp>
      <p:sp>
        <p:nvSpPr>
          <p:cNvPr id="163" name="Google Shape;163;p20"/>
          <p:cNvSpPr txBox="1"/>
          <p:nvPr/>
        </p:nvSpPr>
        <p:spPr>
          <a:xfrm>
            <a:off x="381000" y="4165600"/>
            <a:ext cx="5588100" cy="2286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100" u="sng">
                <a:solidFill>
                  <a:schemeClr val="hlink"/>
                </a:solidFill>
                <a:hlinkClick r:id="rId4"/>
              </a:rPr>
              <a:t>DeepMimic · Peng et al., SIGGRAPH 2018</a:t>
            </a:r>
            <a:endParaRPr sz="1100">
              <a:solidFill>
                <a:srgbClr val="5C5C5C"/>
              </a:solidFill>
            </a:endParaRPr>
          </a:p>
        </p:txBody>
      </p:sp>
      <p:sp>
        <p:nvSpPr>
          <p:cNvPr id="164" name="Google Shape;164;p20"/>
          <p:cNvSpPr txBox="1"/>
          <p:nvPr/>
        </p:nvSpPr>
        <p:spPr>
          <a:xfrm>
            <a:off x="381000" y="4889500"/>
            <a:ext cx="8382000" cy="1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596C82"/>
                </a:solidFill>
              </a:rPr>
              <a:t>FROM ANIMATION TO ROBOTICS   /   8 OF 51</a:t>
            </a:r>
            <a:endParaRPr sz="900">
              <a:solidFill>
                <a:srgbClr val="596C8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168" name="Shape 168"/>
        <p:cNvGrpSpPr/>
        <p:nvPr/>
      </p:nvGrpSpPr>
      <p:grpSpPr>
        <a:xfrm>
          <a:off x="0" y="0"/>
          <a:ext cx="0" cy="0"/>
          <a:chOff x="0" y="0"/>
          <a:chExt cx="0" cy="0"/>
        </a:xfrm>
      </p:grpSpPr>
      <p:sp>
        <p:nvSpPr>
          <p:cNvPr id="169" name="Google Shape;169;p21"/>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1"/>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Simulation is a means to an end</a:t>
            </a:r>
            <a:endParaRPr b="1">
              <a:solidFill>
                <a:srgbClr val="15253B"/>
              </a:solidFill>
            </a:endParaRPr>
          </a:p>
        </p:txBody>
      </p:sp>
      <p:sp>
        <p:nvSpPr>
          <p:cNvPr id="172" name="Google Shape;172;p21"/>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FROM ANIMATION TO ROBOTICS   /   9 OF 51</a:t>
            </a:r>
            <a:endParaRPr sz="900">
              <a:solidFill>
                <a:srgbClr val="596C82"/>
              </a:solidFill>
            </a:endParaRPr>
          </a:p>
        </p:txBody>
      </p:sp>
      <p:sp>
        <p:nvSpPr>
          <p:cNvPr id="173" name="Google Shape;173;p21"/>
          <p:cNvSpPr txBox="1"/>
          <p:nvPr/>
        </p:nvSpPr>
        <p:spPr>
          <a:xfrm>
            <a:off x="381000" y="3581400"/>
            <a:ext cx="26415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 sz="1900">
                <a:solidFill>
                  <a:srgbClr val="212121"/>
                </a:solidFill>
              </a:rPr>
              <a:t>IsaacLab</a:t>
            </a:r>
            <a:endParaRPr b="1" sz="1900">
              <a:solidFill>
                <a:srgbClr val="212121"/>
              </a:solidFill>
            </a:endParaRPr>
          </a:p>
        </p:txBody>
      </p:sp>
      <p:sp>
        <p:nvSpPr>
          <p:cNvPr id="174" name="Google Shape;174;p21"/>
          <p:cNvSpPr txBox="1"/>
          <p:nvPr/>
        </p:nvSpPr>
        <p:spPr>
          <a:xfrm>
            <a:off x="3251200" y="3581400"/>
            <a:ext cx="26415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 sz="1900">
                <a:solidFill>
                  <a:srgbClr val="212121"/>
                </a:solidFill>
              </a:rPr>
              <a:t>MuJoCo</a:t>
            </a:r>
            <a:endParaRPr b="1" sz="1900">
              <a:solidFill>
                <a:srgbClr val="212121"/>
              </a:solidFill>
            </a:endParaRPr>
          </a:p>
        </p:txBody>
      </p:sp>
      <p:sp>
        <p:nvSpPr>
          <p:cNvPr id="175" name="Google Shape;175;p21"/>
          <p:cNvSpPr txBox="1"/>
          <p:nvPr/>
        </p:nvSpPr>
        <p:spPr>
          <a:xfrm>
            <a:off x="6121400" y="3581400"/>
            <a:ext cx="26415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 sz="1900">
                <a:solidFill>
                  <a:srgbClr val="212121"/>
                </a:solidFill>
              </a:rPr>
              <a:t>Real robot</a:t>
            </a:r>
            <a:endParaRPr b="1" sz="1900">
              <a:solidFill>
                <a:srgbClr val="212121"/>
              </a:solidFill>
            </a:endParaRPr>
          </a:p>
        </p:txBody>
      </p:sp>
      <p:pic>
        <p:nvPicPr>
          <p:cNvPr id="176" name="Google Shape;176;p21"/>
          <p:cNvPicPr preferRelativeResize="0"/>
          <p:nvPr/>
        </p:nvPicPr>
        <p:blipFill>
          <a:blip r:embed="rId3">
            <a:alphaModFix/>
          </a:blip>
          <a:stretch>
            <a:fillRect/>
          </a:stretch>
        </p:blipFill>
        <p:spPr>
          <a:xfrm>
            <a:off x="381000" y="1358688"/>
            <a:ext cx="2641600" cy="2184823"/>
          </a:xfrm>
          <a:prstGeom prst="rect">
            <a:avLst/>
          </a:prstGeom>
          <a:noFill/>
          <a:ln>
            <a:noFill/>
          </a:ln>
        </p:spPr>
      </p:pic>
      <p:pic>
        <p:nvPicPr>
          <p:cNvPr id="177" name="Google Shape;177;p21"/>
          <p:cNvPicPr preferRelativeResize="0"/>
          <p:nvPr/>
        </p:nvPicPr>
        <p:blipFill>
          <a:blip r:embed="rId4">
            <a:alphaModFix/>
          </a:blip>
          <a:stretch>
            <a:fillRect/>
          </a:stretch>
        </p:blipFill>
        <p:spPr>
          <a:xfrm>
            <a:off x="3251200" y="1358688"/>
            <a:ext cx="2641600" cy="2184823"/>
          </a:xfrm>
          <a:prstGeom prst="rect">
            <a:avLst/>
          </a:prstGeom>
          <a:noFill/>
          <a:ln>
            <a:noFill/>
          </a:ln>
        </p:spPr>
      </p:pic>
      <p:pic>
        <p:nvPicPr>
          <p:cNvPr id="178" name="Google Shape;178;p21"/>
          <p:cNvPicPr preferRelativeResize="0"/>
          <p:nvPr/>
        </p:nvPicPr>
        <p:blipFill>
          <a:blip r:embed="rId5">
            <a:alphaModFix/>
          </a:blip>
          <a:stretch>
            <a:fillRect/>
          </a:stretch>
        </p:blipFill>
        <p:spPr>
          <a:xfrm>
            <a:off x="6121400" y="1708150"/>
            <a:ext cx="2641600" cy="1485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182" name="Shape 182"/>
        <p:cNvGrpSpPr/>
        <p:nvPr/>
      </p:nvGrpSpPr>
      <p:grpSpPr>
        <a:xfrm>
          <a:off x="0" y="0"/>
          <a:ext cx="0" cy="0"/>
          <a:chOff x="0" y="0"/>
          <a:chExt cx="0" cy="0"/>
        </a:xfrm>
      </p:grpSpPr>
      <p:sp>
        <p:nvSpPr>
          <p:cNvPr id="183" name="Google Shape;183;p22"/>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22"/>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Three questions</a:t>
            </a:r>
            <a:endParaRPr b="1">
              <a:solidFill>
                <a:srgbClr val="15253B"/>
              </a:solidFill>
            </a:endParaRPr>
          </a:p>
        </p:txBody>
      </p:sp>
      <p:sp>
        <p:nvSpPr>
          <p:cNvPr id="186" name="Google Shape;186;p22"/>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INTRODUCTION   /   10 OF 51</a:t>
            </a:r>
            <a:endParaRPr sz="900">
              <a:solidFill>
                <a:srgbClr val="596C82"/>
              </a:solidFill>
            </a:endParaRPr>
          </a:p>
        </p:txBody>
      </p:sp>
      <p:sp>
        <p:nvSpPr>
          <p:cNvPr id="187" name="Google Shape;187;p22"/>
          <p:cNvSpPr txBox="1"/>
          <p:nvPr/>
        </p:nvSpPr>
        <p:spPr>
          <a:xfrm>
            <a:off x="381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01</a:t>
            </a:r>
            <a:endParaRPr b="1" sz="1500">
              <a:solidFill>
                <a:srgbClr val="4285F4"/>
              </a:solidFill>
            </a:endParaRPr>
          </a:p>
        </p:txBody>
      </p:sp>
      <p:sp>
        <p:nvSpPr>
          <p:cNvPr id="188" name="Google Shape;188;p22"/>
          <p:cNvSpPr txBox="1"/>
          <p:nvPr/>
        </p:nvSpPr>
        <p:spPr>
          <a:xfrm>
            <a:off x="381000" y="2171700"/>
            <a:ext cx="2565300" cy="139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212121"/>
                </a:solidFill>
              </a:rPr>
              <a:t>What does the policy</a:t>
            </a:r>
            <a:endParaRPr sz="2100">
              <a:solidFill>
                <a:srgbClr val="212121"/>
              </a:solidFill>
            </a:endParaRPr>
          </a:p>
          <a:p>
            <a:pPr indent="0" lvl="0" marL="0" marR="0" rtl="0" algn="l">
              <a:lnSpc>
                <a:spcPct val="115000"/>
              </a:lnSpc>
              <a:spcBef>
                <a:spcPts val="0"/>
              </a:spcBef>
              <a:spcAft>
                <a:spcPts val="0"/>
              </a:spcAft>
              <a:buNone/>
            </a:pPr>
            <a:r>
              <a:rPr lang="en" sz="2100">
                <a:solidFill>
                  <a:srgbClr val="212121"/>
                </a:solidFill>
              </a:rPr>
              <a:t>actually control?</a:t>
            </a:r>
            <a:endParaRPr sz="2100">
              <a:solidFill>
                <a:srgbClr val="212121"/>
              </a:solidFill>
            </a:endParaRPr>
          </a:p>
        </p:txBody>
      </p:sp>
      <p:sp>
        <p:nvSpPr>
          <p:cNvPr id="189" name="Google Shape;189;p22"/>
          <p:cNvSpPr txBox="1"/>
          <p:nvPr/>
        </p:nvSpPr>
        <p:spPr>
          <a:xfrm>
            <a:off x="3302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02</a:t>
            </a:r>
            <a:endParaRPr b="1" sz="1500">
              <a:solidFill>
                <a:srgbClr val="4285F4"/>
              </a:solidFill>
            </a:endParaRPr>
          </a:p>
        </p:txBody>
      </p:sp>
      <p:sp>
        <p:nvSpPr>
          <p:cNvPr id="190" name="Google Shape;190;p22"/>
          <p:cNvSpPr txBox="1"/>
          <p:nvPr/>
        </p:nvSpPr>
        <p:spPr>
          <a:xfrm>
            <a:off x="3302000" y="2171700"/>
            <a:ext cx="2565300" cy="139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212121"/>
                </a:solidFill>
              </a:rPr>
              <a:t>How do we teach it</a:t>
            </a:r>
            <a:endParaRPr sz="2100">
              <a:solidFill>
                <a:srgbClr val="212121"/>
              </a:solidFill>
            </a:endParaRPr>
          </a:p>
          <a:p>
            <a:pPr indent="0" lvl="0" marL="0" marR="0" rtl="0" algn="l">
              <a:lnSpc>
                <a:spcPct val="115000"/>
              </a:lnSpc>
              <a:spcBef>
                <a:spcPts val="0"/>
              </a:spcBef>
              <a:spcAft>
                <a:spcPts val="0"/>
              </a:spcAft>
              <a:buNone/>
            </a:pPr>
            <a:r>
              <a:rPr lang="en" sz="2100">
                <a:solidFill>
                  <a:srgbClr val="212121"/>
                </a:solidFill>
              </a:rPr>
              <a:t>to move?</a:t>
            </a:r>
            <a:endParaRPr sz="2100">
              <a:solidFill>
                <a:srgbClr val="212121"/>
              </a:solidFill>
            </a:endParaRPr>
          </a:p>
        </p:txBody>
      </p:sp>
      <p:sp>
        <p:nvSpPr>
          <p:cNvPr id="191" name="Google Shape;191;p22"/>
          <p:cNvSpPr txBox="1"/>
          <p:nvPr/>
        </p:nvSpPr>
        <p:spPr>
          <a:xfrm>
            <a:off x="6223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03</a:t>
            </a:r>
            <a:endParaRPr b="1" sz="1500">
              <a:solidFill>
                <a:srgbClr val="4285F4"/>
              </a:solidFill>
            </a:endParaRPr>
          </a:p>
        </p:txBody>
      </p:sp>
      <p:sp>
        <p:nvSpPr>
          <p:cNvPr id="192" name="Google Shape;192;p22"/>
          <p:cNvSpPr txBox="1"/>
          <p:nvPr/>
        </p:nvSpPr>
        <p:spPr>
          <a:xfrm>
            <a:off x="6223000" y="2171700"/>
            <a:ext cx="2565300" cy="139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212121"/>
                </a:solidFill>
              </a:rPr>
              <a:t>Why does it fail</a:t>
            </a:r>
            <a:endParaRPr sz="2100">
              <a:solidFill>
                <a:srgbClr val="212121"/>
              </a:solidFill>
            </a:endParaRPr>
          </a:p>
          <a:p>
            <a:pPr indent="0" lvl="0" marL="0" marR="0" rtl="0" algn="l">
              <a:lnSpc>
                <a:spcPct val="115000"/>
              </a:lnSpc>
              <a:spcBef>
                <a:spcPts val="0"/>
              </a:spcBef>
              <a:spcAft>
                <a:spcPts val="0"/>
              </a:spcAft>
              <a:buNone/>
            </a:pPr>
            <a:r>
              <a:rPr lang="en" sz="2100">
                <a:solidFill>
                  <a:srgbClr val="212121"/>
                </a:solidFill>
              </a:rPr>
              <a:t>outside training?</a:t>
            </a:r>
            <a:endParaRPr sz="2100">
              <a:solidFill>
                <a:srgbClr val="21212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196" name="Shape 196"/>
        <p:cNvGrpSpPr/>
        <p:nvPr/>
      </p:nvGrpSpPr>
      <p:grpSpPr>
        <a:xfrm>
          <a:off x="0" y="0"/>
          <a:ext cx="0" cy="0"/>
          <a:chOff x="0" y="0"/>
          <a:chExt cx="0" cy="0"/>
        </a:xfrm>
      </p:grpSpPr>
      <p:sp>
        <p:nvSpPr>
          <p:cNvPr id="197" name="Google Shape;197;p23"/>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3"/>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A policy is one part of the control loop</a:t>
            </a:r>
            <a:endParaRPr b="1">
              <a:solidFill>
                <a:srgbClr val="15253B"/>
              </a:solidFill>
            </a:endParaRPr>
          </a:p>
        </p:txBody>
      </p:sp>
      <p:sp>
        <p:nvSpPr>
          <p:cNvPr id="200" name="Google Shape;200;p23"/>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THE PHYSICAL INTERFACE   /   11 OF 51</a:t>
            </a:r>
            <a:endParaRPr sz="900">
              <a:solidFill>
                <a:srgbClr val="596C82"/>
              </a:solidFill>
            </a:endParaRPr>
          </a:p>
        </p:txBody>
      </p:sp>
      <p:sp>
        <p:nvSpPr>
          <p:cNvPr id="201" name="Google Shape;201;p23"/>
          <p:cNvSpPr txBox="1"/>
          <p:nvPr/>
        </p:nvSpPr>
        <p:spPr>
          <a:xfrm>
            <a:off x="355600" y="19558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Observation</a:t>
            </a:r>
            <a:endParaRPr sz="1900">
              <a:solidFill>
                <a:srgbClr val="212121"/>
              </a:solidFill>
            </a:endParaRPr>
          </a:p>
        </p:txBody>
      </p:sp>
      <p:cxnSp>
        <p:nvCxnSpPr>
          <p:cNvPr id="202" name="Google Shape;202;p23"/>
          <p:cNvCxnSpPr/>
          <p:nvPr/>
        </p:nvCxnSpPr>
        <p:spPr>
          <a:xfrm>
            <a:off x="2235200" y="2400300"/>
            <a:ext cx="266700" cy="0"/>
          </a:xfrm>
          <a:prstGeom prst="straightConnector1">
            <a:avLst/>
          </a:prstGeom>
          <a:noFill/>
          <a:ln cap="flat" cmpd="sng" w="25400">
            <a:solidFill>
              <a:srgbClr val="4285F4"/>
            </a:solidFill>
            <a:prstDash val="solid"/>
            <a:round/>
            <a:headEnd len="med" w="med" type="none"/>
            <a:tailEnd len="med" w="med" type="triangle"/>
          </a:ln>
        </p:spPr>
      </p:cxnSp>
      <p:sp>
        <p:nvSpPr>
          <p:cNvPr id="203" name="Google Shape;203;p23"/>
          <p:cNvSpPr txBox="1"/>
          <p:nvPr/>
        </p:nvSpPr>
        <p:spPr>
          <a:xfrm>
            <a:off x="2552700" y="19558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Policy</a:t>
            </a:r>
            <a:endParaRPr sz="1900">
              <a:solidFill>
                <a:srgbClr val="212121"/>
              </a:solidFill>
            </a:endParaRPr>
          </a:p>
        </p:txBody>
      </p:sp>
      <p:cxnSp>
        <p:nvCxnSpPr>
          <p:cNvPr id="204" name="Google Shape;204;p23"/>
          <p:cNvCxnSpPr/>
          <p:nvPr/>
        </p:nvCxnSpPr>
        <p:spPr>
          <a:xfrm>
            <a:off x="4432300" y="2400300"/>
            <a:ext cx="266700" cy="0"/>
          </a:xfrm>
          <a:prstGeom prst="straightConnector1">
            <a:avLst/>
          </a:prstGeom>
          <a:noFill/>
          <a:ln cap="flat" cmpd="sng" w="25400">
            <a:solidFill>
              <a:srgbClr val="4285F4"/>
            </a:solidFill>
            <a:prstDash val="solid"/>
            <a:round/>
            <a:headEnd len="med" w="med" type="none"/>
            <a:tailEnd len="med" w="med" type="triangle"/>
          </a:ln>
        </p:spPr>
      </p:cxnSp>
      <p:sp>
        <p:nvSpPr>
          <p:cNvPr id="205" name="Google Shape;205;p23"/>
          <p:cNvSpPr txBox="1"/>
          <p:nvPr/>
        </p:nvSpPr>
        <p:spPr>
          <a:xfrm>
            <a:off x="4749800" y="19558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Actions</a:t>
            </a:r>
            <a:endParaRPr sz="1900">
              <a:solidFill>
                <a:srgbClr val="212121"/>
              </a:solidFill>
            </a:endParaRPr>
          </a:p>
        </p:txBody>
      </p:sp>
      <p:cxnSp>
        <p:nvCxnSpPr>
          <p:cNvPr id="206" name="Google Shape;206;p23"/>
          <p:cNvCxnSpPr/>
          <p:nvPr/>
        </p:nvCxnSpPr>
        <p:spPr>
          <a:xfrm>
            <a:off x="6629400" y="2400300"/>
            <a:ext cx="266700" cy="0"/>
          </a:xfrm>
          <a:prstGeom prst="straightConnector1">
            <a:avLst/>
          </a:prstGeom>
          <a:noFill/>
          <a:ln cap="flat" cmpd="sng" w="25400">
            <a:solidFill>
              <a:srgbClr val="4285F4"/>
            </a:solidFill>
            <a:prstDash val="solid"/>
            <a:round/>
            <a:headEnd len="med" w="med" type="none"/>
            <a:tailEnd len="med" w="med" type="triangle"/>
          </a:ln>
        </p:spPr>
      </p:cxnSp>
      <p:sp>
        <p:nvSpPr>
          <p:cNvPr id="207" name="Google Shape;207;p23"/>
          <p:cNvSpPr txBox="1"/>
          <p:nvPr/>
        </p:nvSpPr>
        <p:spPr>
          <a:xfrm>
            <a:off x="6946900" y="19558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Robot</a:t>
            </a:r>
            <a:endParaRPr sz="1900">
              <a:solidFill>
                <a:srgbClr val="212121"/>
              </a:solidFill>
            </a:endParaRPr>
          </a:p>
          <a:p>
            <a:pPr indent="0" lvl="0" marL="0" marR="0" rtl="0" algn="ctr">
              <a:lnSpc>
                <a:spcPct val="115000"/>
              </a:lnSpc>
              <a:spcBef>
                <a:spcPts val="0"/>
              </a:spcBef>
              <a:spcAft>
                <a:spcPts val="0"/>
              </a:spcAft>
              <a:buNone/>
            </a:pPr>
            <a:r>
              <a:rPr lang="en" sz="1900">
                <a:solidFill>
                  <a:srgbClr val="212121"/>
                </a:solidFill>
              </a:rPr>
              <a:t>“Simulator”</a:t>
            </a:r>
            <a:endParaRPr sz="1900">
              <a:solidFill>
                <a:srgbClr val="212121"/>
              </a:solidFill>
            </a:endParaRPr>
          </a:p>
        </p:txBody>
      </p:sp>
      <p:cxnSp>
        <p:nvCxnSpPr>
          <p:cNvPr id="208" name="Google Shape;208;p23"/>
          <p:cNvCxnSpPr/>
          <p:nvPr/>
        </p:nvCxnSpPr>
        <p:spPr>
          <a:xfrm>
            <a:off x="8140700" y="2933700"/>
            <a:ext cx="0" cy="774600"/>
          </a:xfrm>
          <a:prstGeom prst="straightConnector1">
            <a:avLst/>
          </a:prstGeom>
          <a:noFill/>
          <a:ln cap="flat" cmpd="sng" w="25400">
            <a:solidFill>
              <a:srgbClr val="4285F4"/>
            </a:solidFill>
            <a:prstDash val="solid"/>
            <a:round/>
            <a:headEnd len="med" w="med" type="none"/>
            <a:tailEnd len="med" w="med" type="none"/>
          </a:ln>
        </p:spPr>
      </p:cxnSp>
      <p:cxnSp>
        <p:nvCxnSpPr>
          <p:cNvPr id="209" name="Google Shape;209;p23"/>
          <p:cNvCxnSpPr/>
          <p:nvPr/>
        </p:nvCxnSpPr>
        <p:spPr>
          <a:xfrm rot="10800000">
            <a:off x="1282700" y="3708400"/>
            <a:ext cx="6858000" cy="0"/>
          </a:xfrm>
          <a:prstGeom prst="straightConnector1">
            <a:avLst/>
          </a:prstGeom>
          <a:noFill/>
          <a:ln cap="flat" cmpd="sng" w="25400">
            <a:solidFill>
              <a:srgbClr val="4285F4"/>
            </a:solidFill>
            <a:prstDash val="solid"/>
            <a:round/>
            <a:headEnd len="med" w="med" type="none"/>
            <a:tailEnd len="med" w="med" type="none"/>
          </a:ln>
        </p:spPr>
      </p:cxnSp>
      <p:cxnSp>
        <p:nvCxnSpPr>
          <p:cNvPr id="210" name="Google Shape;210;p23"/>
          <p:cNvCxnSpPr/>
          <p:nvPr/>
        </p:nvCxnSpPr>
        <p:spPr>
          <a:xfrm rot="10800000">
            <a:off x="1282700" y="2908300"/>
            <a:ext cx="0" cy="800100"/>
          </a:xfrm>
          <a:prstGeom prst="straightConnector1">
            <a:avLst/>
          </a:prstGeom>
          <a:noFill/>
          <a:ln cap="flat" cmpd="sng" w="25400">
            <a:solidFill>
              <a:srgbClr val="4285F4"/>
            </a:solidFill>
            <a:prstDash val="solid"/>
            <a:round/>
            <a:headEnd len="med" w="med" type="none"/>
            <a:tailEnd len="med" w="med" type="triangle"/>
          </a:ln>
        </p:spPr>
      </p:cxnSp>
      <p:sp>
        <p:nvSpPr>
          <p:cNvPr id="211" name="Google Shape;211;p23"/>
          <p:cNvSpPr txBox="1"/>
          <p:nvPr/>
        </p:nvSpPr>
        <p:spPr>
          <a:xfrm>
            <a:off x="2895600" y="3403600"/>
            <a:ext cx="3302100" cy="3048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600">
                <a:solidFill>
                  <a:srgbClr val="5C5C5C"/>
                </a:solidFill>
              </a:rPr>
              <a:t>Sensor feedback</a:t>
            </a:r>
            <a:endParaRPr sz="1600">
              <a:solidFill>
                <a:srgbClr val="5C5C5C"/>
              </a:solidFill>
            </a:endParaRPr>
          </a:p>
        </p:txBody>
      </p:sp>
      <p:sp>
        <p:nvSpPr>
          <p:cNvPr id="212" name="Google Shape;212;p23"/>
          <p:cNvSpPr txBox="1"/>
          <p:nvPr/>
        </p:nvSpPr>
        <p:spPr>
          <a:xfrm>
            <a:off x="2540000" y="1219200"/>
            <a:ext cx="1981200" cy="4317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 sz="1600">
                <a:solidFill>
                  <a:srgbClr val="4285F4"/>
                </a:solidFill>
              </a:rPr>
              <a:t>Goal / reference</a:t>
            </a:r>
            <a:endParaRPr b="1" sz="1600">
              <a:solidFill>
                <a:srgbClr val="4285F4"/>
              </a:solidFill>
            </a:endParaRPr>
          </a:p>
        </p:txBody>
      </p:sp>
      <p:cxnSp>
        <p:nvCxnSpPr>
          <p:cNvPr id="213" name="Google Shape;213;p23"/>
          <p:cNvCxnSpPr/>
          <p:nvPr/>
        </p:nvCxnSpPr>
        <p:spPr>
          <a:xfrm>
            <a:off x="3467100" y="1663700"/>
            <a:ext cx="0" cy="228600"/>
          </a:xfrm>
          <a:prstGeom prst="straightConnector1">
            <a:avLst/>
          </a:prstGeom>
          <a:noFill/>
          <a:ln cap="flat" cmpd="sng" w="25400">
            <a:solidFill>
              <a:srgbClr val="4285F4"/>
            </a:solidFill>
            <a:prstDash val="solid"/>
            <a:round/>
            <a:headEnd len="med" w="med" type="none"/>
            <a:tailEnd len="med" w="med" type="triangle"/>
          </a:ln>
        </p:spPr>
      </p:cxnSp>
      <p:sp>
        <p:nvSpPr>
          <p:cNvPr id="214" name="Google Shape;214;p23"/>
          <p:cNvSpPr txBox="1"/>
          <p:nvPr/>
        </p:nvSpPr>
        <p:spPr>
          <a:xfrm>
            <a:off x="381000" y="4102100"/>
            <a:ext cx="8382000" cy="5079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800">
                <a:solidFill>
                  <a:srgbClr val="245CA7"/>
                </a:solidFill>
              </a:rPr>
              <a:t>Our target “simulator” is the real world.</a:t>
            </a:r>
            <a:endParaRPr b="1" sz="1800">
              <a:solidFill>
                <a:srgbClr val="245CA7"/>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218" name="Shape 218"/>
        <p:cNvGrpSpPr/>
        <p:nvPr/>
      </p:nvGrpSpPr>
      <p:grpSpPr>
        <a:xfrm>
          <a:off x="0" y="0"/>
          <a:ext cx="0" cy="0"/>
          <a:chOff x="0" y="0"/>
          <a:chExt cx="0" cy="0"/>
        </a:xfrm>
      </p:grpSpPr>
      <p:sp>
        <p:nvSpPr>
          <p:cNvPr id="219" name="Google Shape;219;p24"/>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 name="Google Shape;220;p24"/>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Fixed base vs. floating base</a:t>
            </a:r>
            <a:endParaRPr b="1">
              <a:solidFill>
                <a:srgbClr val="15253B"/>
              </a:solidFill>
            </a:endParaRPr>
          </a:p>
        </p:txBody>
      </p:sp>
      <p:sp>
        <p:nvSpPr>
          <p:cNvPr id="222" name="Google Shape;222;p24"/>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THE PHYSICAL INTERFACE   /   12 OF 51</a:t>
            </a:r>
            <a:endParaRPr sz="900">
              <a:solidFill>
                <a:srgbClr val="596C82"/>
              </a:solidFill>
            </a:endParaRPr>
          </a:p>
        </p:txBody>
      </p:sp>
      <p:sp>
        <p:nvSpPr>
          <p:cNvPr id="223" name="Google Shape;223;p24"/>
          <p:cNvSpPr txBox="1"/>
          <p:nvPr/>
        </p:nvSpPr>
        <p:spPr>
          <a:xfrm>
            <a:off x="381000" y="3835400"/>
            <a:ext cx="4064100" cy="5334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500">
                <a:solidFill>
                  <a:srgbClr val="212121"/>
                </a:solidFill>
              </a:rPr>
              <a:t>Joint motors move the arm.</a:t>
            </a:r>
            <a:endParaRPr sz="1500">
              <a:solidFill>
                <a:srgbClr val="212121"/>
              </a:solidFill>
            </a:endParaRPr>
          </a:p>
          <a:p>
            <a:pPr indent="0" lvl="0" marL="0" marR="0" rtl="0" algn="l">
              <a:lnSpc>
                <a:spcPct val="115000"/>
              </a:lnSpc>
              <a:spcBef>
                <a:spcPts val="0"/>
              </a:spcBef>
              <a:spcAft>
                <a:spcPts val="0"/>
              </a:spcAft>
              <a:buNone/>
            </a:pPr>
            <a:r>
              <a:rPr lang="en" sz="1500">
                <a:solidFill>
                  <a:srgbClr val="212121"/>
                </a:solidFill>
              </a:rPr>
              <a:t>The mount holds the base fixed.</a:t>
            </a:r>
            <a:endParaRPr sz="1500">
              <a:solidFill>
                <a:srgbClr val="212121"/>
              </a:solidFill>
            </a:endParaRPr>
          </a:p>
        </p:txBody>
      </p:sp>
      <p:sp>
        <p:nvSpPr>
          <p:cNvPr id="224" name="Google Shape;224;p24"/>
          <p:cNvSpPr txBox="1"/>
          <p:nvPr/>
        </p:nvSpPr>
        <p:spPr>
          <a:xfrm>
            <a:off x="4762500" y="3835400"/>
            <a:ext cx="4064100" cy="5334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500">
                <a:solidFill>
                  <a:srgbClr val="212121"/>
                </a:solidFill>
              </a:rPr>
              <a:t>Joint motors move the limbs.</a:t>
            </a:r>
            <a:endParaRPr sz="1500">
              <a:solidFill>
                <a:srgbClr val="212121"/>
              </a:solidFill>
            </a:endParaRPr>
          </a:p>
          <a:p>
            <a:pPr indent="0" lvl="0" marL="0" marR="0" rtl="0" algn="l">
              <a:lnSpc>
                <a:spcPct val="115000"/>
              </a:lnSpc>
              <a:spcBef>
                <a:spcPts val="0"/>
              </a:spcBef>
              <a:spcAft>
                <a:spcPts val="0"/>
              </a:spcAft>
              <a:buNone/>
            </a:pPr>
            <a:r>
              <a:rPr lang="en" sz="1500">
                <a:solidFill>
                  <a:srgbClr val="212121"/>
                </a:solidFill>
              </a:rPr>
              <a:t>Contacts help move and balance the body.</a:t>
            </a:r>
            <a:endParaRPr sz="1500">
              <a:solidFill>
                <a:srgbClr val="212121"/>
              </a:solidFill>
            </a:endParaRPr>
          </a:p>
        </p:txBody>
      </p:sp>
      <p:sp>
        <p:nvSpPr>
          <p:cNvPr id="225" name="Google Shape;225;p24"/>
          <p:cNvSpPr txBox="1"/>
          <p:nvPr/>
        </p:nvSpPr>
        <p:spPr>
          <a:xfrm>
            <a:off x="381000" y="4419600"/>
            <a:ext cx="8382000" cy="3555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600">
                <a:solidFill>
                  <a:srgbClr val="245CA7"/>
                </a:solidFill>
              </a:rPr>
              <a:t>“Floating” means not fixed to the world, not hovering.</a:t>
            </a:r>
            <a:endParaRPr b="1" sz="1600">
              <a:solidFill>
                <a:srgbClr val="245CA7"/>
              </a:solidFill>
            </a:endParaRPr>
          </a:p>
        </p:txBody>
      </p:sp>
      <p:pic>
        <p:nvPicPr>
          <p:cNvPr id="226" name="Google Shape;226;p24"/>
          <p:cNvPicPr preferRelativeResize="0"/>
          <p:nvPr/>
        </p:nvPicPr>
        <p:blipFill>
          <a:blip r:embed="rId3">
            <a:alphaModFix/>
          </a:blip>
          <a:stretch>
            <a:fillRect/>
          </a:stretch>
        </p:blipFill>
        <p:spPr>
          <a:xfrm>
            <a:off x="4800600" y="1739900"/>
            <a:ext cx="2159000" cy="2159000"/>
          </a:xfrm>
          <a:prstGeom prst="rect">
            <a:avLst/>
          </a:prstGeom>
          <a:noFill/>
          <a:ln>
            <a:noFill/>
          </a:ln>
        </p:spPr>
      </p:pic>
      <p:sp>
        <p:nvSpPr>
          <p:cNvPr id="227" name="Google Shape;227;p24"/>
          <p:cNvSpPr txBox="1"/>
          <p:nvPr/>
        </p:nvSpPr>
        <p:spPr>
          <a:xfrm>
            <a:off x="381000" y="1117600"/>
            <a:ext cx="40005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4285F4"/>
                </a:solidFill>
              </a:rPr>
              <a:t>Fixed-base arm</a:t>
            </a:r>
            <a:endParaRPr b="1" sz="2100">
              <a:solidFill>
                <a:srgbClr val="4285F4"/>
              </a:solidFill>
            </a:endParaRPr>
          </a:p>
        </p:txBody>
      </p:sp>
      <p:sp>
        <p:nvSpPr>
          <p:cNvPr id="228" name="Google Shape;228;p24"/>
          <p:cNvSpPr txBox="1"/>
          <p:nvPr/>
        </p:nvSpPr>
        <p:spPr>
          <a:xfrm>
            <a:off x="4762500" y="1117600"/>
            <a:ext cx="40005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4285F4"/>
                </a:solidFill>
              </a:rPr>
              <a:t>Floating-base robot</a:t>
            </a:r>
            <a:endParaRPr b="1" sz="2100">
              <a:solidFill>
                <a:srgbClr val="4285F4"/>
              </a:solidFill>
            </a:endParaRPr>
          </a:p>
        </p:txBody>
      </p:sp>
      <p:sp>
        <p:nvSpPr>
          <p:cNvPr id="229" name="Google Shape;229;p24"/>
          <p:cNvSpPr txBox="1"/>
          <p:nvPr/>
        </p:nvSpPr>
        <p:spPr>
          <a:xfrm>
            <a:off x="381000" y="1485900"/>
            <a:ext cx="40641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00">
                <a:solidFill>
                  <a:srgbClr val="15253B"/>
                </a:solidFill>
              </a:rPr>
              <a:t>Base position and orientation are fixed.</a:t>
            </a:r>
            <a:endParaRPr sz="1500">
              <a:solidFill>
                <a:srgbClr val="15253B"/>
              </a:solidFill>
            </a:endParaRPr>
          </a:p>
        </p:txBody>
      </p:sp>
      <p:sp>
        <p:nvSpPr>
          <p:cNvPr id="230" name="Google Shape;230;p24"/>
          <p:cNvSpPr txBox="1"/>
          <p:nvPr/>
        </p:nvSpPr>
        <p:spPr>
          <a:xfrm>
            <a:off x="4762500" y="1485900"/>
            <a:ext cx="40641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00">
                <a:solidFill>
                  <a:srgbClr val="15253B"/>
                </a:solidFill>
              </a:rPr>
              <a:t>Base can move and rotate in the world.</a:t>
            </a:r>
            <a:endParaRPr sz="1500">
              <a:solidFill>
                <a:srgbClr val="15253B"/>
              </a:solidFill>
            </a:endParaRPr>
          </a:p>
        </p:txBody>
      </p:sp>
      <p:cxnSp>
        <p:nvCxnSpPr>
          <p:cNvPr id="231" name="Google Shape;231;p24"/>
          <p:cNvCxnSpPr/>
          <p:nvPr/>
        </p:nvCxnSpPr>
        <p:spPr>
          <a:xfrm>
            <a:off x="4559300" y="1193800"/>
            <a:ext cx="0" cy="3086100"/>
          </a:xfrm>
          <a:prstGeom prst="straightConnector1">
            <a:avLst/>
          </a:prstGeom>
          <a:noFill/>
          <a:ln cap="flat" cmpd="sng" w="12700">
            <a:solidFill>
              <a:srgbClr val="B8C4D4"/>
            </a:solidFill>
            <a:prstDash val="solid"/>
            <a:round/>
            <a:headEnd len="med" w="med" type="none"/>
            <a:tailEnd len="med" w="med" type="none"/>
          </a:ln>
        </p:spPr>
      </p:cxnSp>
      <p:cxnSp>
        <p:nvCxnSpPr>
          <p:cNvPr id="232" name="Google Shape;232;p24"/>
          <p:cNvCxnSpPr/>
          <p:nvPr/>
        </p:nvCxnSpPr>
        <p:spPr>
          <a:xfrm>
            <a:off x="838200" y="3657600"/>
            <a:ext cx="3149700" cy="0"/>
          </a:xfrm>
          <a:prstGeom prst="straightConnector1">
            <a:avLst/>
          </a:prstGeom>
          <a:noFill/>
          <a:ln cap="flat" cmpd="sng" w="25400">
            <a:solidFill>
              <a:srgbClr val="B8C4D4"/>
            </a:solidFill>
            <a:prstDash val="solid"/>
            <a:round/>
            <a:headEnd len="med" w="med" type="none"/>
            <a:tailEnd len="med" w="med" type="none"/>
          </a:ln>
        </p:spPr>
      </p:cxnSp>
      <p:sp>
        <p:nvSpPr>
          <p:cNvPr id="233" name="Google Shape;233;p24"/>
          <p:cNvSpPr/>
          <p:nvPr/>
        </p:nvSpPr>
        <p:spPr>
          <a:xfrm>
            <a:off x="1384300" y="3467100"/>
            <a:ext cx="850800" cy="190500"/>
          </a:xfrm>
          <a:prstGeom prst="rect">
            <a:avLst/>
          </a:prstGeom>
          <a:solidFill>
            <a:srgbClr val="61738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24"/>
          <p:cNvSpPr/>
          <p:nvPr/>
        </p:nvSpPr>
        <p:spPr>
          <a:xfrm>
            <a:off x="1612900" y="3225800"/>
            <a:ext cx="393600" cy="241200"/>
          </a:xfrm>
          <a:prstGeom prst="rect">
            <a:avLst/>
          </a:prstGeom>
          <a:solidFill>
            <a:srgbClr val="61738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24"/>
          <p:cNvSpPr/>
          <p:nvPr/>
        </p:nvSpPr>
        <p:spPr>
          <a:xfrm>
            <a:off x="1498600" y="3530600"/>
            <a:ext cx="38100" cy="216000"/>
          </a:xfrm>
          <a:prstGeom prst="rect">
            <a:avLst/>
          </a:prstGeom>
          <a:solidFill>
            <a:srgbClr val="1525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36" name="Google Shape;236;p24"/>
          <p:cNvCxnSpPr/>
          <p:nvPr/>
        </p:nvCxnSpPr>
        <p:spPr>
          <a:xfrm>
            <a:off x="1447800" y="3543300"/>
            <a:ext cx="139800" cy="0"/>
          </a:xfrm>
          <a:prstGeom prst="straightConnector1">
            <a:avLst/>
          </a:prstGeom>
          <a:noFill/>
          <a:ln cap="flat" cmpd="sng" w="25400">
            <a:solidFill>
              <a:srgbClr val="15253B"/>
            </a:solidFill>
            <a:prstDash val="solid"/>
            <a:round/>
            <a:headEnd len="med" w="med" type="none"/>
            <a:tailEnd len="med" w="med" type="none"/>
          </a:ln>
        </p:spPr>
      </p:cxnSp>
      <p:sp>
        <p:nvSpPr>
          <p:cNvPr id="237" name="Google Shape;237;p24"/>
          <p:cNvSpPr/>
          <p:nvPr/>
        </p:nvSpPr>
        <p:spPr>
          <a:xfrm>
            <a:off x="2095500" y="3530600"/>
            <a:ext cx="38100" cy="216000"/>
          </a:xfrm>
          <a:prstGeom prst="rect">
            <a:avLst/>
          </a:prstGeom>
          <a:solidFill>
            <a:srgbClr val="1525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38" name="Google Shape;238;p24"/>
          <p:cNvCxnSpPr/>
          <p:nvPr/>
        </p:nvCxnSpPr>
        <p:spPr>
          <a:xfrm>
            <a:off x="2044700" y="3543300"/>
            <a:ext cx="139800" cy="0"/>
          </a:xfrm>
          <a:prstGeom prst="straightConnector1">
            <a:avLst/>
          </a:prstGeom>
          <a:noFill/>
          <a:ln cap="flat" cmpd="sng" w="25400">
            <a:solidFill>
              <a:srgbClr val="15253B"/>
            </a:solidFill>
            <a:prstDash val="solid"/>
            <a:round/>
            <a:headEnd len="med" w="med" type="none"/>
            <a:tailEnd len="med" w="med" type="none"/>
          </a:ln>
        </p:spPr>
      </p:cxnSp>
      <p:cxnSp>
        <p:nvCxnSpPr>
          <p:cNvPr id="239" name="Google Shape;239;p24"/>
          <p:cNvCxnSpPr/>
          <p:nvPr/>
        </p:nvCxnSpPr>
        <p:spPr>
          <a:xfrm rot="10800000">
            <a:off x="1333400" y="2603500"/>
            <a:ext cx="482700" cy="647700"/>
          </a:xfrm>
          <a:prstGeom prst="straightConnector1">
            <a:avLst/>
          </a:prstGeom>
          <a:noFill/>
          <a:ln cap="flat" cmpd="sng" w="190500">
            <a:solidFill>
              <a:srgbClr val="61738A"/>
            </a:solidFill>
            <a:prstDash val="solid"/>
            <a:round/>
            <a:headEnd len="med" w="med" type="none"/>
            <a:tailEnd len="med" w="med" type="none"/>
          </a:ln>
        </p:spPr>
      </p:cxnSp>
      <p:cxnSp>
        <p:nvCxnSpPr>
          <p:cNvPr id="240" name="Google Shape;240;p24"/>
          <p:cNvCxnSpPr/>
          <p:nvPr/>
        </p:nvCxnSpPr>
        <p:spPr>
          <a:xfrm flipH="1" rot="10800000">
            <a:off x="1333500" y="2184400"/>
            <a:ext cx="1066800" cy="419100"/>
          </a:xfrm>
          <a:prstGeom prst="straightConnector1">
            <a:avLst/>
          </a:prstGeom>
          <a:noFill/>
          <a:ln cap="flat" cmpd="sng" w="165100">
            <a:solidFill>
              <a:srgbClr val="61738A"/>
            </a:solidFill>
            <a:prstDash val="solid"/>
            <a:round/>
            <a:headEnd len="med" w="med" type="none"/>
            <a:tailEnd len="med" w="med" type="none"/>
          </a:ln>
        </p:spPr>
      </p:cxnSp>
      <p:cxnSp>
        <p:nvCxnSpPr>
          <p:cNvPr id="241" name="Google Shape;241;p24"/>
          <p:cNvCxnSpPr/>
          <p:nvPr/>
        </p:nvCxnSpPr>
        <p:spPr>
          <a:xfrm>
            <a:off x="2400300" y="2184400"/>
            <a:ext cx="431700" cy="292200"/>
          </a:xfrm>
          <a:prstGeom prst="straightConnector1">
            <a:avLst/>
          </a:prstGeom>
          <a:noFill/>
          <a:ln cap="flat" cmpd="sng" w="114300">
            <a:solidFill>
              <a:srgbClr val="61738A"/>
            </a:solidFill>
            <a:prstDash val="solid"/>
            <a:round/>
            <a:headEnd len="med" w="med" type="none"/>
            <a:tailEnd len="med" w="med" type="none"/>
          </a:ln>
        </p:spPr>
      </p:cxnSp>
      <p:sp>
        <p:nvSpPr>
          <p:cNvPr id="242" name="Google Shape;242;p24"/>
          <p:cNvSpPr/>
          <p:nvPr/>
        </p:nvSpPr>
        <p:spPr>
          <a:xfrm>
            <a:off x="1714500" y="3149600"/>
            <a:ext cx="203100" cy="203100"/>
          </a:xfrm>
          <a:prstGeom prst="ellipse">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24"/>
          <p:cNvSpPr/>
          <p:nvPr/>
        </p:nvSpPr>
        <p:spPr>
          <a:xfrm>
            <a:off x="1231900" y="2501900"/>
            <a:ext cx="203100" cy="203100"/>
          </a:xfrm>
          <a:prstGeom prst="ellipse">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24"/>
          <p:cNvSpPr/>
          <p:nvPr/>
        </p:nvSpPr>
        <p:spPr>
          <a:xfrm>
            <a:off x="2311400" y="2095500"/>
            <a:ext cx="177900" cy="177900"/>
          </a:xfrm>
          <a:prstGeom prst="ellipse">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45" name="Google Shape;245;p24"/>
          <p:cNvCxnSpPr/>
          <p:nvPr/>
        </p:nvCxnSpPr>
        <p:spPr>
          <a:xfrm>
            <a:off x="2832100" y="2476500"/>
            <a:ext cx="152400" cy="114300"/>
          </a:xfrm>
          <a:prstGeom prst="straightConnector1">
            <a:avLst/>
          </a:prstGeom>
          <a:noFill/>
          <a:ln cap="flat" cmpd="sng" w="63500">
            <a:solidFill>
              <a:srgbClr val="15253B"/>
            </a:solidFill>
            <a:prstDash val="solid"/>
            <a:round/>
            <a:headEnd len="med" w="med" type="none"/>
            <a:tailEnd len="med" w="med" type="none"/>
          </a:ln>
        </p:spPr>
      </p:cxnSp>
      <p:cxnSp>
        <p:nvCxnSpPr>
          <p:cNvPr id="246" name="Google Shape;246;p24"/>
          <p:cNvCxnSpPr/>
          <p:nvPr/>
        </p:nvCxnSpPr>
        <p:spPr>
          <a:xfrm flipH="1" rot="10800000">
            <a:off x="2933700" y="2336700"/>
            <a:ext cx="165000" cy="177900"/>
          </a:xfrm>
          <a:prstGeom prst="straightConnector1">
            <a:avLst/>
          </a:prstGeom>
          <a:noFill/>
          <a:ln cap="flat" cmpd="sng" w="38100">
            <a:solidFill>
              <a:srgbClr val="15253B"/>
            </a:solidFill>
            <a:prstDash val="solid"/>
            <a:round/>
            <a:headEnd len="med" w="med" type="none"/>
            <a:tailEnd len="med" w="med" type="none"/>
          </a:ln>
        </p:spPr>
      </p:cxnSp>
      <p:cxnSp>
        <p:nvCxnSpPr>
          <p:cNvPr id="247" name="Google Shape;247;p24"/>
          <p:cNvCxnSpPr/>
          <p:nvPr/>
        </p:nvCxnSpPr>
        <p:spPr>
          <a:xfrm>
            <a:off x="3098800" y="2336800"/>
            <a:ext cx="88800" cy="76200"/>
          </a:xfrm>
          <a:prstGeom prst="straightConnector1">
            <a:avLst/>
          </a:prstGeom>
          <a:noFill/>
          <a:ln cap="flat" cmpd="sng" w="38100">
            <a:solidFill>
              <a:srgbClr val="15253B"/>
            </a:solidFill>
            <a:prstDash val="solid"/>
            <a:round/>
            <a:headEnd len="med" w="med" type="none"/>
            <a:tailEnd len="med" w="med" type="none"/>
          </a:ln>
        </p:spPr>
      </p:cxnSp>
      <p:cxnSp>
        <p:nvCxnSpPr>
          <p:cNvPr id="248" name="Google Shape;248;p24"/>
          <p:cNvCxnSpPr/>
          <p:nvPr/>
        </p:nvCxnSpPr>
        <p:spPr>
          <a:xfrm>
            <a:off x="2832100" y="2628900"/>
            <a:ext cx="165000" cy="139800"/>
          </a:xfrm>
          <a:prstGeom prst="straightConnector1">
            <a:avLst/>
          </a:prstGeom>
          <a:noFill/>
          <a:ln cap="flat" cmpd="sng" w="38100">
            <a:solidFill>
              <a:srgbClr val="15253B"/>
            </a:solidFill>
            <a:prstDash val="solid"/>
            <a:round/>
            <a:headEnd len="med" w="med" type="none"/>
            <a:tailEnd len="med" w="med" type="none"/>
          </a:ln>
        </p:spPr>
      </p:cxnSp>
      <p:cxnSp>
        <p:nvCxnSpPr>
          <p:cNvPr id="249" name="Google Shape;249;p24"/>
          <p:cNvCxnSpPr/>
          <p:nvPr/>
        </p:nvCxnSpPr>
        <p:spPr>
          <a:xfrm flipH="1" rot="10800000">
            <a:off x="2997200" y="2666900"/>
            <a:ext cx="101700" cy="101700"/>
          </a:xfrm>
          <a:prstGeom prst="straightConnector1">
            <a:avLst/>
          </a:prstGeom>
          <a:noFill/>
          <a:ln cap="flat" cmpd="sng" w="38100">
            <a:solidFill>
              <a:srgbClr val="15253B"/>
            </a:solidFill>
            <a:prstDash val="solid"/>
            <a:round/>
            <a:headEnd len="med" w="med" type="none"/>
            <a:tailEnd len="med" w="med" type="none"/>
          </a:ln>
        </p:spPr>
      </p:cxnSp>
      <p:sp>
        <p:nvSpPr>
          <p:cNvPr id="250" name="Google Shape;250;p24"/>
          <p:cNvSpPr txBox="1"/>
          <p:nvPr/>
        </p:nvSpPr>
        <p:spPr>
          <a:xfrm>
            <a:off x="2400300" y="3263900"/>
            <a:ext cx="1968600" cy="381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300">
                <a:solidFill>
                  <a:srgbClr val="596C82"/>
                </a:solidFill>
              </a:rPr>
              <a:t>Bolted to the ground</a:t>
            </a:r>
            <a:endParaRPr sz="1300">
              <a:solidFill>
                <a:srgbClr val="596C82"/>
              </a:solidFill>
            </a:endParaRPr>
          </a:p>
        </p:txBody>
      </p:sp>
      <p:cxnSp>
        <p:nvCxnSpPr>
          <p:cNvPr id="251" name="Google Shape;251;p24"/>
          <p:cNvCxnSpPr/>
          <p:nvPr/>
        </p:nvCxnSpPr>
        <p:spPr>
          <a:xfrm flipH="1">
            <a:off x="2184400" y="3454400"/>
            <a:ext cx="152400" cy="76200"/>
          </a:xfrm>
          <a:prstGeom prst="straightConnector1">
            <a:avLst/>
          </a:prstGeom>
          <a:noFill/>
          <a:ln cap="flat" cmpd="sng" w="12700">
            <a:solidFill>
              <a:srgbClr val="596C82"/>
            </a:solidFill>
            <a:prstDash val="solid"/>
            <a:round/>
            <a:headEnd len="med" w="med" type="none"/>
            <a:tailEnd len="med" w="med" type="none"/>
          </a:ln>
        </p:spPr>
      </p:cxnSp>
      <p:sp>
        <p:nvSpPr>
          <p:cNvPr id="252" name="Google Shape;252;p24"/>
          <p:cNvSpPr/>
          <p:nvPr/>
        </p:nvSpPr>
        <p:spPr>
          <a:xfrm>
            <a:off x="5715000" y="2755900"/>
            <a:ext cx="419100" cy="330300"/>
          </a:xfrm>
          <a:prstGeom prst="ellipse">
            <a:avLst/>
          </a:prstGeom>
          <a:noFill/>
          <a:ln cap="flat" cmpd="sng" w="25400">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3" name="Google Shape;253;p24"/>
          <p:cNvCxnSpPr/>
          <p:nvPr/>
        </p:nvCxnSpPr>
        <p:spPr>
          <a:xfrm>
            <a:off x="6146800" y="2921000"/>
            <a:ext cx="660300" cy="0"/>
          </a:xfrm>
          <a:prstGeom prst="straightConnector1">
            <a:avLst/>
          </a:prstGeom>
          <a:noFill/>
          <a:ln cap="flat" cmpd="sng" w="19050">
            <a:solidFill>
              <a:srgbClr val="4285F4"/>
            </a:solidFill>
            <a:prstDash val="solid"/>
            <a:round/>
            <a:headEnd len="med" w="med" type="none"/>
            <a:tailEnd len="med" w="med" type="none"/>
          </a:ln>
        </p:spPr>
      </p:cxnSp>
      <p:sp>
        <p:nvSpPr>
          <p:cNvPr id="254" name="Google Shape;254;p24"/>
          <p:cNvSpPr txBox="1"/>
          <p:nvPr/>
        </p:nvSpPr>
        <p:spPr>
          <a:xfrm>
            <a:off x="6832600" y="2692400"/>
            <a:ext cx="19050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500">
                <a:solidFill>
                  <a:srgbClr val="4285F4"/>
                </a:solidFill>
              </a:rPr>
              <a:t>Base (pelvis)</a:t>
            </a:r>
            <a:endParaRPr b="1" sz="1500">
              <a:solidFill>
                <a:srgbClr val="4285F4"/>
              </a:solidFill>
            </a:endParaRPr>
          </a:p>
        </p:txBody>
      </p:sp>
      <p:sp>
        <p:nvSpPr>
          <p:cNvPr id="255" name="Google Shape;255;p24"/>
          <p:cNvSpPr txBox="1"/>
          <p:nvPr/>
        </p:nvSpPr>
        <p:spPr>
          <a:xfrm>
            <a:off x="6832600" y="3009900"/>
            <a:ext cx="1905000" cy="571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a:solidFill>
                  <a:srgbClr val="596C82"/>
                </a:solidFill>
              </a:rPr>
              <a:t>3 position +</a:t>
            </a:r>
            <a:endParaRPr>
              <a:solidFill>
                <a:srgbClr val="596C82"/>
              </a:solidFill>
            </a:endParaRPr>
          </a:p>
          <a:p>
            <a:pPr indent="0" lvl="0" marL="0" rtl="0" algn="l">
              <a:lnSpc>
                <a:spcPct val="110000"/>
              </a:lnSpc>
              <a:spcBef>
                <a:spcPts val="0"/>
              </a:spcBef>
              <a:spcAft>
                <a:spcPts val="0"/>
              </a:spcAft>
              <a:buNone/>
            </a:pPr>
            <a:r>
              <a:rPr lang="en">
                <a:solidFill>
                  <a:srgbClr val="596C82"/>
                </a:solidFill>
              </a:rPr>
              <a:t>3 orientation DOFs</a:t>
            </a:r>
            <a:endParaRPr>
              <a:solidFill>
                <a:srgbClr val="596C82"/>
              </a:solidFill>
            </a:endParaRPr>
          </a:p>
        </p:txBody>
      </p:sp>
      <p:cxnSp>
        <p:nvCxnSpPr>
          <p:cNvPr id="256" name="Google Shape;256;p24"/>
          <p:cNvCxnSpPr/>
          <p:nvPr/>
        </p:nvCxnSpPr>
        <p:spPr>
          <a:xfrm>
            <a:off x="5575300" y="2667000"/>
            <a:ext cx="698400" cy="0"/>
          </a:xfrm>
          <a:prstGeom prst="straightConnector1">
            <a:avLst/>
          </a:prstGeom>
          <a:noFill/>
          <a:ln cap="flat" cmpd="sng" w="19050">
            <a:solidFill>
              <a:srgbClr val="4285F4"/>
            </a:solidFill>
            <a:prstDash val="solid"/>
            <a:round/>
            <a:headEnd len="med" w="med" type="triangle"/>
            <a:tailEnd len="med" w="med" type="triangle"/>
          </a:ln>
        </p:spPr>
      </p:cxnSp>
      <p:cxnSp>
        <p:nvCxnSpPr>
          <p:cNvPr id="257" name="Google Shape;257;p24"/>
          <p:cNvCxnSpPr/>
          <p:nvPr/>
        </p:nvCxnSpPr>
        <p:spPr>
          <a:xfrm>
            <a:off x="5575300" y="3746500"/>
            <a:ext cx="635100" cy="0"/>
          </a:xfrm>
          <a:prstGeom prst="straightConnector1">
            <a:avLst/>
          </a:prstGeom>
          <a:noFill/>
          <a:ln cap="flat" cmpd="sng" w="25400">
            <a:solidFill>
              <a:srgbClr val="B8C4D4"/>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261" name="Shape 261"/>
        <p:cNvGrpSpPr/>
        <p:nvPr/>
      </p:nvGrpSpPr>
      <p:grpSpPr>
        <a:xfrm>
          <a:off x="0" y="0"/>
          <a:ext cx="0" cy="0"/>
          <a:chOff x="0" y="0"/>
          <a:chExt cx="0" cy="0"/>
        </a:xfrm>
      </p:grpSpPr>
      <p:sp>
        <p:nvSpPr>
          <p:cNvPr id="262" name="Google Shape;262;p25"/>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25"/>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Contact changes what motion is possible</a:t>
            </a:r>
            <a:endParaRPr b="1">
              <a:solidFill>
                <a:srgbClr val="15253B"/>
              </a:solidFill>
            </a:endParaRPr>
          </a:p>
        </p:txBody>
      </p:sp>
      <p:sp>
        <p:nvSpPr>
          <p:cNvPr id="265" name="Google Shape;265;p25"/>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THE PHYSICAL INTERFACE   /   13 OF 51</a:t>
            </a:r>
            <a:endParaRPr sz="900">
              <a:solidFill>
                <a:srgbClr val="596C82"/>
              </a:solidFill>
            </a:endParaRPr>
          </a:p>
        </p:txBody>
      </p:sp>
      <p:sp>
        <p:nvSpPr>
          <p:cNvPr id="266" name="Google Shape;266;p25"/>
          <p:cNvSpPr txBox="1"/>
          <p:nvPr/>
        </p:nvSpPr>
        <p:spPr>
          <a:xfrm>
            <a:off x="406400" y="1676400"/>
            <a:ext cx="2565300" cy="8763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800">
                <a:solidFill>
                  <a:srgbClr val="5C5C5C"/>
                </a:solidFill>
              </a:rPr>
              <a:t>WITHOUT CONTACT</a:t>
            </a:r>
            <a:endParaRPr sz="1800">
              <a:solidFill>
                <a:srgbClr val="5C5C5C"/>
              </a:solidFill>
            </a:endParaRPr>
          </a:p>
          <a:p>
            <a:pPr indent="0" lvl="0" marL="0" marR="0" rtl="0" algn="l">
              <a:lnSpc>
                <a:spcPct val="115000"/>
              </a:lnSpc>
              <a:spcBef>
                <a:spcPts val="0"/>
              </a:spcBef>
              <a:spcAft>
                <a:spcPts val="0"/>
              </a:spcAft>
              <a:buNone/>
            </a:pPr>
            <a:r>
              <a:rPr lang="en" sz="1800">
                <a:solidFill>
                  <a:srgbClr val="5C5C5C"/>
                </a:solidFill>
              </a:rPr>
              <a:t>No ground force</a:t>
            </a:r>
            <a:endParaRPr sz="1800">
              <a:solidFill>
                <a:srgbClr val="5C5C5C"/>
              </a:solidFill>
            </a:endParaRPr>
          </a:p>
        </p:txBody>
      </p:sp>
      <p:sp>
        <p:nvSpPr>
          <p:cNvPr id="267" name="Google Shape;267;p25"/>
          <p:cNvSpPr txBox="1"/>
          <p:nvPr/>
        </p:nvSpPr>
        <p:spPr>
          <a:xfrm>
            <a:off x="6299200" y="2768600"/>
            <a:ext cx="2565300" cy="8763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800">
                <a:solidFill>
                  <a:srgbClr val="4285F4"/>
                </a:solidFill>
              </a:rPr>
              <a:t>WITH CONTACT</a:t>
            </a:r>
            <a:endParaRPr sz="1800">
              <a:solidFill>
                <a:srgbClr val="4285F4"/>
              </a:solidFill>
            </a:endParaRPr>
          </a:p>
          <a:p>
            <a:pPr indent="0" lvl="0" marL="0" marR="0" rtl="0" algn="l">
              <a:lnSpc>
                <a:spcPct val="115000"/>
              </a:lnSpc>
              <a:spcBef>
                <a:spcPts val="0"/>
              </a:spcBef>
              <a:spcAft>
                <a:spcPts val="0"/>
              </a:spcAft>
              <a:buNone/>
            </a:pPr>
            <a:r>
              <a:rPr lang="en" sz="1800">
                <a:solidFill>
                  <a:srgbClr val="4285F4"/>
                </a:solidFill>
              </a:rPr>
              <a:t>Ground exerts force</a:t>
            </a:r>
            <a:endParaRPr sz="1800">
              <a:solidFill>
                <a:srgbClr val="4285F4"/>
              </a:solidFill>
            </a:endParaRPr>
          </a:p>
        </p:txBody>
      </p:sp>
      <p:cxnSp>
        <p:nvCxnSpPr>
          <p:cNvPr id="268" name="Google Shape;268;p25"/>
          <p:cNvCxnSpPr/>
          <p:nvPr/>
        </p:nvCxnSpPr>
        <p:spPr>
          <a:xfrm rot="10800000">
            <a:off x="4140200" y="3418900"/>
            <a:ext cx="0" cy="480000"/>
          </a:xfrm>
          <a:prstGeom prst="straightConnector1">
            <a:avLst/>
          </a:prstGeom>
          <a:noFill/>
          <a:ln cap="flat" cmpd="sng" w="38100">
            <a:solidFill>
              <a:srgbClr val="00808C"/>
            </a:solidFill>
            <a:prstDash val="solid"/>
            <a:round/>
            <a:headEnd len="med" w="med" type="none"/>
            <a:tailEnd len="med" w="med" type="triangle"/>
          </a:ln>
        </p:spPr>
      </p:cxnSp>
      <p:cxnSp>
        <p:nvCxnSpPr>
          <p:cNvPr id="269" name="Google Shape;269;p25"/>
          <p:cNvCxnSpPr/>
          <p:nvPr/>
        </p:nvCxnSpPr>
        <p:spPr>
          <a:xfrm>
            <a:off x="3492500" y="3924300"/>
            <a:ext cx="2340000" cy="0"/>
          </a:xfrm>
          <a:prstGeom prst="straightConnector1">
            <a:avLst/>
          </a:prstGeom>
          <a:noFill/>
          <a:ln cap="flat" cmpd="sng" w="25400">
            <a:solidFill>
              <a:srgbClr val="5C5C5C"/>
            </a:solidFill>
            <a:prstDash val="solid"/>
            <a:round/>
            <a:headEnd len="med" w="med" type="none"/>
            <a:tailEnd len="med" w="med" type="none"/>
          </a:ln>
        </p:spPr>
      </p:cxnSp>
      <p:pic>
        <p:nvPicPr>
          <p:cNvPr id="270" name="Google Shape;270;p25"/>
          <p:cNvPicPr preferRelativeResize="0"/>
          <p:nvPr/>
        </p:nvPicPr>
        <p:blipFill>
          <a:blip r:embed="rId3">
            <a:alphaModFix/>
          </a:blip>
          <a:stretch>
            <a:fillRect/>
          </a:stretch>
        </p:blipFill>
        <p:spPr>
          <a:xfrm>
            <a:off x="3111500" y="1079500"/>
            <a:ext cx="2959100" cy="2959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274" name="Shape 274"/>
        <p:cNvGrpSpPr/>
        <p:nvPr/>
      </p:nvGrpSpPr>
      <p:grpSpPr>
        <a:xfrm>
          <a:off x="0" y="0"/>
          <a:ext cx="0" cy="0"/>
          <a:chOff x="0" y="0"/>
          <a:chExt cx="0" cy="0"/>
        </a:xfrm>
      </p:grpSpPr>
      <p:sp>
        <p:nvSpPr>
          <p:cNvPr id="275" name="Google Shape;275;p26"/>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26"/>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rgbClr val="15253B"/>
                </a:solidFill>
              </a:rPr>
              <a:t>What the robot senses vs. what simulation knows</a:t>
            </a:r>
            <a:endParaRPr b="1" sz="2500">
              <a:solidFill>
                <a:srgbClr val="15253B"/>
              </a:solidFill>
            </a:endParaRPr>
          </a:p>
        </p:txBody>
      </p:sp>
      <p:sp>
        <p:nvSpPr>
          <p:cNvPr id="278" name="Google Shape;278;p26"/>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THE PHYSICAL INTERFACE   /   14 OF 51</a:t>
            </a:r>
            <a:endParaRPr sz="900">
              <a:solidFill>
                <a:srgbClr val="596C82"/>
              </a:solidFill>
            </a:endParaRPr>
          </a:p>
        </p:txBody>
      </p:sp>
      <p:sp>
        <p:nvSpPr>
          <p:cNvPr id="279" name="Google Shape;279;p26"/>
          <p:cNvSpPr txBox="1"/>
          <p:nvPr/>
        </p:nvSpPr>
        <p:spPr>
          <a:xfrm>
            <a:off x="508000" y="1320800"/>
            <a:ext cx="37464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700">
                <a:solidFill>
                  <a:srgbClr val="4285F4"/>
                </a:solidFill>
              </a:rPr>
              <a:t>PROPRIOCEPTION</a:t>
            </a:r>
            <a:endParaRPr b="1" sz="1700">
              <a:solidFill>
                <a:srgbClr val="4285F4"/>
              </a:solidFill>
            </a:endParaRPr>
          </a:p>
        </p:txBody>
      </p:sp>
      <p:sp>
        <p:nvSpPr>
          <p:cNvPr id="280" name="Google Shape;280;p26"/>
          <p:cNvSpPr txBox="1"/>
          <p:nvPr/>
        </p:nvSpPr>
        <p:spPr>
          <a:xfrm>
            <a:off x="508000" y="1739900"/>
            <a:ext cx="3835500" cy="1943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600">
                <a:solidFill>
                  <a:srgbClr val="212121"/>
                </a:solidFill>
              </a:rPr>
              <a:t>Sensing the robot’s own body</a:t>
            </a:r>
            <a:endParaRPr sz="1600">
              <a:solidFill>
                <a:srgbClr val="212121"/>
              </a:solidFill>
            </a:endParaRPr>
          </a:p>
          <a:p>
            <a:pPr indent="0" lvl="0" marL="0" marR="0" rtl="0" algn="l">
              <a:lnSpc>
                <a:spcPct val="115000"/>
              </a:lnSpc>
              <a:spcBef>
                <a:spcPts val="0"/>
              </a:spcBef>
              <a:spcAft>
                <a:spcPts val="0"/>
              </a:spcAft>
              <a:buNone/>
            </a:pPr>
            <a:r>
              <a:t/>
            </a:r>
            <a:endParaRPr sz="1600">
              <a:solidFill>
                <a:srgbClr val="212121"/>
              </a:solidFill>
            </a:endParaRPr>
          </a:p>
          <a:p>
            <a:pPr indent="0" lvl="0" marL="0" marR="0" rtl="0" algn="l">
              <a:lnSpc>
                <a:spcPct val="115000"/>
              </a:lnSpc>
              <a:spcBef>
                <a:spcPts val="0"/>
              </a:spcBef>
              <a:spcAft>
                <a:spcPts val="0"/>
              </a:spcAft>
              <a:buNone/>
            </a:pPr>
            <a:r>
              <a:rPr lang="en" sz="1600">
                <a:solidFill>
                  <a:srgbClr val="212121"/>
                </a:solidFill>
              </a:rPr>
              <a:t>Encoders: joint angles</a:t>
            </a:r>
            <a:endParaRPr sz="1600">
              <a:solidFill>
                <a:srgbClr val="212121"/>
              </a:solidFill>
            </a:endParaRPr>
          </a:p>
          <a:p>
            <a:pPr indent="0" lvl="0" marL="0" marR="0" rtl="0" algn="l">
              <a:lnSpc>
                <a:spcPct val="115000"/>
              </a:lnSpc>
              <a:spcBef>
                <a:spcPts val="0"/>
              </a:spcBef>
              <a:spcAft>
                <a:spcPts val="0"/>
              </a:spcAft>
              <a:buNone/>
            </a:pPr>
            <a:r>
              <a:rPr lang="en" sz="1600">
                <a:solidFill>
                  <a:srgbClr val="212121"/>
                </a:solidFill>
              </a:rPr>
              <a:t>IMU: rotation rate and acceleration</a:t>
            </a:r>
            <a:endParaRPr sz="1600">
              <a:solidFill>
                <a:srgbClr val="212121"/>
              </a:solidFill>
            </a:endParaRPr>
          </a:p>
          <a:p>
            <a:pPr indent="0" lvl="0" marL="0" marR="0" rtl="0" algn="l">
              <a:lnSpc>
                <a:spcPct val="115000"/>
              </a:lnSpc>
              <a:spcBef>
                <a:spcPts val="0"/>
              </a:spcBef>
              <a:spcAft>
                <a:spcPts val="0"/>
              </a:spcAft>
              <a:buNone/>
            </a:pPr>
            <a:r>
              <a:rPr lang="en" sz="1600">
                <a:solidFill>
                  <a:srgbClr val="212121"/>
                </a:solidFill>
              </a:rPr>
              <a:t>Tilt and joint speeds are estimated</a:t>
            </a:r>
            <a:endParaRPr sz="1600">
              <a:solidFill>
                <a:srgbClr val="212121"/>
              </a:solidFill>
            </a:endParaRPr>
          </a:p>
        </p:txBody>
      </p:sp>
      <p:sp>
        <p:nvSpPr>
          <p:cNvPr id="281" name="Google Shape;281;p26"/>
          <p:cNvSpPr txBox="1"/>
          <p:nvPr/>
        </p:nvSpPr>
        <p:spPr>
          <a:xfrm>
            <a:off x="4914900" y="1320800"/>
            <a:ext cx="38100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700">
                <a:solidFill>
                  <a:srgbClr val="4285F4"/>
                </a:solidFill>
              </a:rPr>
              <a:t>PRIVILEGED INFORMATION</a:t>
            </a:r>
            <a:endParaRPr b="1" sz="1700">
              <a:solidFill>
                <a:srgbClr val="4285F4"/>
              </a:solidFill>
            </a:endParaRPr>
          </a:p>
        </p:txBody>
      </p:sp>
      <p:sp>
        <p:nvSpPr>
          <p:cNvPr id="282" name="Google Shape;282;p26"/>
          <p:cNvSpPr txBox="1"/>
          <p:nvPr/>
        </p:nvSpPr>
        <p:spPr>
          <a:xfrm>
            <a:off x="4914900" y="1739900"/>
            <a:ext cx="3848100" cy="1943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600">
                <a:solidFill>
                  <a:srgbClr val="212121"/>
                </a:solidFill>
              </a:rPr>
              <a:t>Training-only information that is</a:t>
            </a:r>
            <a:endParaRPr sz="1600">
              <a:solidFill>
                <a:srgbClr val="212121"/>
              </a:solidFill>
            </a:endParaRPr>
          </a:p>
          <a:p>
            <a:pPr indent="0" lvl="0" marL="0" marR="0" rtl="0" algn="l">
              <a:lnSpc>
                <a:spcPct val="115000"/>
              </a:lnSpc>
              <a:spcBef>
                <a:spcPts val="0"/>
              </a:spcBef>
              <a:spcAft>
                <a:spcPts val="0"/>
              </a:spcAft>
              <a:buNone/>
            </a:pPr>
            <a:r>
              <a:rPr lang="en" sz="1600">
                <a:solidFill>
                  <a:srgbClr val="212121"/>
                </a:solidFill>
              </a:rPr>
              <a:t>unavailable to the deployed policy</a:t>
            </a:r>
            <a:endParaRPr sz="1600">
              <a:solidFill>
                <a:srgbClr val="212121"/>
              </a:solidFill>
            </a:endParaRPr>
          </a:p>
          <a:p>
            <a:pPr indent="0" lvl="0" marL="0" marR="0" rtl="0" algn="l">
              <a:lnSpc>
                <a:spcPct val="115000"/>
              </a:lnSpc>
              <a:spcBef>
                <a:spcPts val="0"/>
              </a:spcBef>
              <a:spcAft>
                <a:spcPts val="0"/>
              </a:spcAft>
              <a:buNone/>
            </a:pPr>
            <a:r>
              <a:t/>
            </a:r>
            <a:endParaRPr sz="1600">
              <a:solidFill>
                <a:srgbClr val="212121"/>
              </a:solidFill>
            </a:endParaRPr>
          </a:p>
          <a:p>
            <a:pPr indent="0" lvl="0" marL="0" marR="0" rtl="0" algn="l">
              <a:lnSpc>
                <a:spcPct val="115000"/>
              </a:lnSpc>
              <a:spcBef>
                <a:spcPts val="0"/>
              </a:spcBef>
              <a:spcAft>
                <a:spcPts val="0"/>
              </a:spcAft>
              <a:buNone/>
            </a:pPr>
            <a:r>
              <a:rPr lang="en" sz="1600">
                <a:solidFill>
                  <a:srgbClr val="212121"/>
                </a:solidFill>
              </a:rPr>
              <a:t>Examples: exact body velocity,</a:t>
            </a:r>
            <a:endParaRPr sz="1600">
              <a:solidFill>
                <a:srgbClr val="212121"/>
              </a:solidFill>
            </a:endParaRPr>
          </a:p>
          <a:p>
            <a:pPr indent="0" lvl="0" marL="0" marR="0" rtl="0" algn="l">
              <a:lnSpc>
                <a:spcPct val="115000"/>
              </a:lnSpc>
              <a:spcBef>
                <a:spcPts val="0"/>
              </a:spcBef>
              <a:spcAft>
                <a:spcPts val="0"/>
              </a:spcAft>
              <a:buNone/>
            </a:pPr>
            <a:r>
              <a:rPr lang="en" sz="1600">
                <a:solidFill>
                  <a:srgbClr val="212121"/>
                </a:solidFill>
              </a:rPr>
              <a:t>contact forces, ground friction</a:t>
            </a:r>
            <a:endParaRPr sz="1600">
              <a:solidFill>
                <a:srgbClr val="212121"/>
              </a:solidFill>
            </a:endParaRPr>
          </a:p>
        </p:txBody>
      </p:sp>
      <p:cxnSp>
        <p:nvCxnSpPr>
          <p:cNvPr id="283" name="Google Shape;283;p26"/>
          <p:cNvCxnSpPr/>
          <p:nvPr/>
        </p:nvCxnSpPr>
        <p:spPr>
          <a:xfrm>
            <a:off x="4546600" y="1651000"/>
            <a:ext cx="0" cy="1905000"/>
          </a:xfrm>
          <a:prstGeom prst="straightConnector1">
            <a:avLst/>
          </a:prstGeom>
          <a:noFill/>
          <a:ln cap="flat" cmpd="sng" w="12700">
            <a:solidFill>
              <a:srgbClr val="5C5C5C"/>
            </a:solidFill>
            <a:prstDash val="solid"/>
            <a:round/>
            <a:headEnd len="med" w="med" type="none"/>
            <a:tailEnd len="med" w="med" type="none"/>
          </a:ln>
        </p:spPr>
      </p:cxnSp>
      <p:sp>
        <p:nvSpPr>
          <p:cNvPr id="284" name="Google Shape;284;p26"/>
          <p:cNvSpPr txBox="1"/>
          <p:nvPr/>
        </p:nvSpPr>
        <p:spPr>
          <a:xfrm>
            <a:off x="381000" y="4140200"/>
            <a:ext cx="8382000" cy="4827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600">
                <a:solidFill>
                  <a:srgbClr val="245CA7"/>
                </a:solidFill>
              </a:rPr>
              <a:t>We typically train with </a:t>
            </a:r>
            <a:r>
              <a:rPr b="1" lang="en" sz="1600">
                <a:solidFill>
                  <a:srgbClr val="245CA7"/>
                </a:solidFill>
              </a:rPr>
              <a:t>asymmetric actor-critic</a:t>
            </a:r>
            <a:r>
              <a:rPr b="1" lang="en" sz="1600">
                <a:solidFill>
                  <a:srgbClr val="245CA7"/>
                </a:solidFill>
              </a:rPr>
              <a:t> observations</a:t>
            </a:r>
            <a:endParaRPr b="1" sz="1600">
              <a:solidFill>
                <a:srgbClr val="245CA7"/>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288" name="Shape 288"/>
        <p:cNvGrpSpPr/>
        <p:nvPr/>
      </p:nvGrpSpPr>
      <p:grpSpPr>
        <a:xfrm>
          <a:off x="0" y="0"/>
          <a:ext cx="0" cy="0"/>
          <a:chOff x="0" y="0"/>
          <a:chExt cx="0" cy="0"/>
        </a:xfrm>
      </p:grpSpPr>
      <p:sp>
        <p:nvSpPr>
          <p:cNvPr id="289" name="Google Shape;289;p27"/>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27"/>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 name="Google Shape;291;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What can a policy action map to?</a:t>
            </a:r>
            <a:endParaRPr b="1">
              <a:solidFill>
                <a:srgbClr val="15253B"/>
              </a:solidFill>
            </a:endParaRPr>
          </a:p>
        </p:txBody>
      </p:sp>
      <p:sp>
        <p:nvSpPr>
          <p:cNvPr id="292" name="Google Shape;292;p27"/>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THE PHYSICAL INTERFACE   /   15 OF 51</a:t>
            </a:r>
            <a:endParaRPr sz="900">
              <a:solidFill>
                <a:srgbClr val="596C82"/>
              </a:solidFill>
            </a:endParaRPr>
          </a:p>
        </p:txBody>
      </p:sp>
      <p:sp>
        <p:nvSpPr>
          <p:cNvPr id="293" name="Google Shape;293;p27"/>
          <p:cNvSpPr txBox="1"/>
          <p:nvPr/>
        </p:nvSpPr>
        <p:spPr>
          <a:xfrm>
            <a:off x="381000" y="1879600"/>
            <a:ext cx="2540100" cy="6984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08000"/>
              </a:lnSpc>
              <a:spcBef>
                <a:spcPts val="0"/>
              </a:spcBef>
              <a:spcAft>
                <a:spcPts val="0"/>
              </a:spcAft>
              <a:buNone/>
            </a:pPr>
            <a:r>
              <a:rPr b="1" lang="en" sz="2000">
                <a:solidFill>
                  <a:srgbClr val="4285F4"/>
                </a:solidFill>
              </a:rPr>
              <a:t>Position target</a:t>
            </a:r>
            <a:endParaRPr b="1" sz="2000">
              <a:solidFill>
                <a:srgbClr val="4285F4"/>
              </a:solidFill>
            </a:endParaRPr>
          </a:p>
        </p:txBody>
      </p:sp>
      <p:cxnSp>
        <p:nvCxnSpPr>
          <p:cNvPr id="294" name="Google Shape;294;p27"/>
          <p:cNvCxnSpPr/>
          <p:nvPr/>
        </p:nvCxnSpPr>
        <p:spPr>
          <a:xfrm>
            <a:off x="1651000" y="2667000"/>
            <a:ext cx="0" cy="355500"/>
          </a:xfrm>
          <a:prstGeom prst="straightConnector1">
            <a:avLst/>
          </a:prstGeom>
          <a:noFill/>
          <a:ln cap="flat" cmpd="sng" w="25400">
            <a:solidFill>
              <a:srgbClr val="4285F4"/>
            </a:solidFill>
            <a:prstDash val="solid"/>
            <a:round/>
            <a:headEnd len="med" w="med" type="none"/>
            <a:tailEnd len="med" w="med" type="triangle"/>
          </a:ln>
        </p:spPr>
      </p:cxnSp>
      <p:sp>
        <p:nvSpPr>
          <p:cNvPr id="295" name="Google Shape;295;p27"/>
          <p:cNvSpPr txBox="1"/>
          <p:nvPr/>
        </p:nvSpPr>
        <p:spPr>
          <a:xfrm>
            <a:off x="3302000" y="1879600"/>
            <a:ext cx="2540100" cy="6984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08000"/>
              </a:lnSpc>
              <a:spcBef>
                <a:spcPts val="0"/>
              </a:spcBef>
              <a:spcAft>
                <a:spcPts val="0"/>
              </a:spcAft>
              <a:buNone/>
            </a:pPr>
            <a:r>
              <a:rPr b="1" lang="en" sz="2000">
                <a:solidFill>
                  <a:srgbClr val="4285F4"/>
                </a:solidFill>
              </a:rPr>
              <a:t>Velocity target</a:t>
            </a:r>
            <a:endParaRPr b="1" sz="2000">
              <a:solidFill>
                <a:srgbClr val="4285F4"/>
              </a:solidFill>
            </a:endParaRPr>
          </a:p>
        </p:txBody>
      </p:sp>
      <p:cxnSp>
        <p:nvCxnSpPr>
          <p:cNvPr id="296" name="Google Shape;296;p27"/>
          <p:cNvCxnSpPr/>
          <p:nvPr/>
        </p:nvCxnSpPr>
        <p:spPr>
          <a:xfrm>
            <a:off x="4572000" y="2667000"/>
            <a:ext cx="0" cy="355500"/>
          </a:xfrm>
          <a:prstGeom prst="straightConnector1">
            <a:avLst/>
          </a:prstGeom>
          <a:noFill/>
          <a:ln cap="flat" cmpd="sng" w="25400">
            <a:solidFill>
              <a:srgbClr val="4285F4"/>
            </a:solidFill>
            <a:prstDash val="solid"/>
            <a:round/>
            <a:headEnd len="med" w="med" type="none"/>
            <a:tailEnd len="med" w="med" type="triangle"/>
          </a:ln>
        </p:spPr>
      </p:cxnSp>
      <p:sp>
        <p:nvSpPr>
          <p:cNvPr id="297" name="Google Shape;297;p27"/>
          <p:cNvSpPr txBox="1"/>
          <p:nvPr/>
        </p:nvSpPr>
        <p:spPr>
          <a:xfrm>
            <a:off x="6223000" y="1879600"/>
            <a:ext cx="2540100" cy="6984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08000"/>
              </a:lnSpc>
              <a:spcBef>
                <a:spcPts val="0"/>
              </a:spcBef>
              <a:spcAft>
                <a:spcPts val="0"/>
              </a:spcAft>
              <a:buNone/>
            </a:pPr>
            <a:r>
              <a:rPr b="1" lang="en" sz="2000">
                <a:solidFill>
                  <a:srgbClr val="4285F4"/>
                </a:solidFill>
              </a:rPr>
              <a:t>Torque command</a:t>
            </a:r>
            <a:endParaRPr b="1" sz="2000">
              <a:solidFill>
                <a:srgbClr val="4285F4"/>
              </a:solidFill>
            </a:endParaRPr>
          </a:p>
        </p:txBody>
      </p:sp>
      <p:cxnSp>
        <p:nvCxnSpPr>
          <p:cNvPr id="298" name="Google Shape;298;p27"/>
          <p:cNvCxnSpPr/>
          <p:nvPr/>
        </p:nvCxnSpPr>
        <p:spPr>
          <a:xfrm>
            <a:off x="7493000" y="2667000"/>
            <a:ext cx="0" cy="355500"/>
          </a:xfrm>
          <a:prstGeom prst="straightConnector1">
            <a:avLst/>
          </a:prstGeom>
          <a:noFill/>
          <a:ln cap="flat" cmpd="sng" w="25400">
            <a:solidFill>
              <a:srgbClr val="4285F4"/>
            </a:solidFill>
            <a:prstDash val="solid"/>
            <a:round/>
            <a:headEnd len="med" w="med" type="none"/>
            <a:tailEnd len="med" w="med" type="triangle"/>
          </a:ln>
        </p:spPr>
      </p:cxnSp>
      <p:sp>
        <p:nvSpPr>
          <p:cNvPr id="299" name="Google Shape;299;p27"/>
          <p:cNvSpPr txBox="1"/>
          <p:nvPr/>
        </p:nvSpPr>
        <p:spPr>
          <a:xfrm>
            <a:off x="6223000" y="3111500"/>
            <a:ext cx="2540100" cy="698400"/>
          </a:xfrm>
          <a:prstGeom prst="rect">
            <a:avLst/>
          </a:prstGeom>
          <a:noFill/>
          <a:ln>
            <a:noFill/>
          </a:ln>
        </p:spPr>
        <p:txBody>
          <a:bodyPr anchorCtr="0" anchor="ctr" bIns="91425" lIns="91425" spcFirstLastPara="1" rIns="91425" wrap="square" tIns="91425">
            <a:noAutofit/>
          </a:bodyPr>
          <a:lstStyle/>
          <a:p>
            <a:pPr indent="0" lvl="0" marL="0" marR="0" rtl="0" algn="ctr">
              <a:lnSpc>
                <a:spcPct val="108000"/>
              </a:lnSpc>
              <a:spcBef>
                <a:spcPts val="0"/>
              </a:spcBef>
              <a:spcAft>
                <a:spcPts val="0"/>
              </a:spcAft>
              <a:buNone/>
            </a:pPr>
            <a:r>
              <a:rPr lang="en" sz="1900">
                <a:solidFill>
                  <a:srgbClr val="222222"/>
                </a:solidFill>
              </a:rPr>
              <a:t>Torque / current loop</a:t>
            </a:r>
            <a:endParaRPr sz="1900">
              <a:solidFill>
                <a:srgbClr val="222222"/>
              </a:solidFill>
            </a:endParaRPr>
          </a:p>
        </p:txBody>
      </p:sp>
      <p:sp>
        <p:nvSpPr>
          <p:cNvPr id="300" name="Google Shape;300;p27"/>
          <p:cNvSpPr txBox="1"/>
          <p:nvPr/>
        </p:nvSpPr>
        <p:spPr>
          <a:xfrm>
            <a:off x="381000" y="1155700"/>
            <a:ext cx="8382000" cy="4191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sz="2000">
                <a:solidFill>
                  <a:srgbClr val="5C5C5C"/>
                </a:solidFill>
              </a:rPr>
              <a:t>Three common interfaces to the same physical robot</a:t>
            </a:r>
            <a:endParaRPr sz="2000">
              <a:solidFill>
                <a:srgbClr val="5C5C5C"/>
              </a:solidFill>
            </a:endParaRPr>
          </a:p>
        </p:txBody>
      </p:sp>
      <p:sp>
        <p:nvSpPr>
          <p:cNvPr id="301" name="Google Shape;301;p27"/>
          <p:cNvSpPr txBox="1"/>
          <p:nvPr/>
        </p:nvSpPr>
        <p:spPr>
          <a:xfrm>
            <a:off x="381000" y="3111500"/>
            <a:ext cx="2540100" cy="698400"/>
          </a:xfrm>
          <a:prstGeom prst="rect">
            <a:avLst/>
          </a:prstGeom>
          <a:noFill/>
          <a:ln>
            <a:noFill/>
          </a:ln>
        </p:spPr>
        <p:txBody>
          <a:bodyPr anchorCtr="0" anchor="ctr" bIns="91425" lIns="91425" spcFirstLastPara="1" rIns="91425" wrap="square" tIns="91425">
            <a:noAutofit/>
          </a:bodyPr>
          <a:lstStyle/>
          <a:p>
            <a:pPr indent="0" lvl="0" marL="0" marR="0" rtl="0" algn="ctr">
              <a:lnSpc>
                <a:spcPct val="108000"/>
              </a:lnSpc>
              <a:spcBef>
                <a:spcPts val="0"/>
              </a:spcBef>
              <a:spcAft>
                <a:spcPts val="0"/>
              </a:spcAft>
              <a:buNone/>
            </a:pPr>
            <a:r>
              <a:rPr lang="en" sz="1900">
                <a:solidFill>
                  <a:srgbClr val="222222"/>
                </a:solidFill>
              </a:rPr>
              <a:t>PD controller</a:t>
            </a:r>
            <a:endParaRPr sz="1900">
              <a:solidFill>
                <a:srgbClr val="222222"/>
              </a:solidFill>
            </a:endParaRPr>
          </a:p>
        </p:txBody>
      </p:sp>
      <p:sp>
        <p:nvSpPr>
          <p:cNvPr id="302" name="Google Shape;302;p27"/>
          <p:cNvSpPr txBox="1"/>
          <p:nvPr/>
        </p:nvSpPr>
        <p:spPr>
          <a:xfrm>
            <a:off x="3302000" y="3111500"/>
            <a:ext cx="2540100" cy="698400"/>
          </a:xfrm>
          <a:prstGeom prst="rect">
            <a:avLst/>
          </a:prstGeom>
          <a:noFill/>
          <a:ln>
            <a:noFill/>
          </a:ln>
        </p:spPr>
        <p:txBody>
          <a:bodyPr anchorCtr="0" anchor="ctr" bIns="91425" lIns="91425" spcFirstLastPara="1" rIns="91425" wrap="square" tIns="91425">
            <a:noAutofit/>
          </a:bodyPr>
          <a:lstStyle/>
          <a:p>
            <a:pPr indent="0" lvl="0" marL="0" marR="0" rtl="0" algn="ctr">
              <a:lnSpc>
                <a:spcPct val="108000"/>
              </a:lnSpc>
              <a:spcBef>
                <a:spcPts val="0"/>
              </a:spcBef>
              <a:spcAft>
                <a:spcPts val="0"/>
              </a:spcAft>
              <a:buNone/>
            </a:pPr>
            <a:r>
              <a:rPr lang="en" sz="1900">
                <a:solidFill>
                  <a:srgbClr val="222222"/>
                </a:solidFill>
              </a:rPr>
              <a:t>Velocity controller</a:t>
            </a:r>
            <a:endParaRPr sz="1900">
              <a:solidFill>
                <a:srgbClr val="222222"/>
              </a:solidFill>
            </a:endParaRPr>
          </a:p>
        </p:txBody>
      </p:sp>
      <p:sp>
        <p:nvSpPr>
          <p:cNvPr id="303" name="Google Shape;303;p27"/>
          <p:cNvSpPr txBox="1"/>
          <p:nvPr/>
        </p:nvSpPr>
        <p:spPr>
          <a:xfrm>
            <a:off x="381000" y="4152900"/>
            <a:ext cx="8382000" cy="5460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b="1" lang="en" sz="1800">
                <a:solidFill>
                  <a:srgbClr val="245CA7"/>
                </a:solidFill>
              </a:rPr>
              <a:t>All produce motor torque. The interface changes what RL must learn.</a:t>
            </a:r>
            <a:endParaRPr b="1" sz="1800">
              <a:solidFill>
                <a:srgbClr val="245CA7"/>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307" name="Shape 307"/>
        <p:cNvGrpSpPr/>
        <p:nvPr/>
      </p:nvGrpSpPr>
      <p:grpSpPr>
        <a:xfrm>
          <a:off x="0" y="0"/>
          <a:ext cx="0" cy="0"/>
          <a:chOff x="0" y="0"/>
          <a:chExt cx="0" cy="0"/>
        </a:xfrm>
      </p:grpSpPr>
      <p:sp>
        <p:nvSpPr>
          <p:cNvPr id="308" name="Google Shape;308;p28"/>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28"/>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0" name="Google Shape;310;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PD control: a virtual spring and damper</a:t>
            </a:r>
            <a:endParaRPr b="1">
              <a:solidFill>
                <a:srgbClr val="15253B"/>
              </a:solidFill>
            </a:endParaRPr>
          </a:p>
        </p:txBody>
      </p:sp>
      <p:sp>
        <p:nvSpPr>
          <p:cNvPr id="311" name="Google Shape;311;p28"/>
          <p:cNvSpPr txBox="1"/>
          <p:nvPr/>
        </p:nvSpPr>
        <p:spPr>
          <a:xfrm>
            <a:off x="381000" y="1104900"/>
            <a:ext cx="41148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8000"/>
              </a:lnSpc>
              <a:spcBef>
                <a:spcPts val="0"/>
              </a:spcBef>
              <a:spcAft>
                <a:spcPts val="0"/>
              </a:spcAft>
              <a:buNone/>
            </a:pPr>
            <a:r>
              <a:rPr b="1" lang="en" sz="2000">
                <a:solidFill>
                  <a:srgbClr val="D66D19"/>
                </a:solidFill>
              </a:rPr>
              <a:t>P only: a virtual spring</a:t>
            </a:r>
            <a:endParaRPr b="1" sz="2000">
              <a:solidFill>
                <a:srgbClr val="D66D19"/>
              </a:solidFill>
            </a:endParaRPr>
          </a:p>
        </p:txBody>
      </p:sp>
      <p:sp>
        <p:nvSpPr>
          <p:cNvPr id="312" name="Google Shape;312;p28"/>
          <p:cNvSpPr txBox="1"/>
          <p:nvPr/>
        </p:nvSpPr>
        <p:spPr>
          <a:xfrm>
            <a:off x="4648200" y="1104900"/>
            <a:ext cx="41148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8000"/>
              </a:lnSpc>
              <a:spcBef>
                <a:spcPts val="0"/>
              </a:spcBef>
              <a:spcAft>
                <a:spcPts val="0"/>
              </a:spcAft>
              <a:buNone/>
            </a:pPr>
            <a:r>
              <a:rPr b="1" lang="en" sz="2000">
                <a:solidFill>
                  <a:srgbClr val="4285F4"/>
                </a:solidFill>
              </a:rPr>
              <a:t>P + D: spring and damper</a:t>
            </a:r>
            <a:endParaRPr b="1" sz="2000">
              <a:solidFill>
                <a:srgbClr val="4285F4"/>
              </a:solidFill>
            </a:endParaRPr>
          </a:p>
        </p:txBody>
      </p:sp>
      <p:pic>
        <p:nvPicPr>
          <p:cNvPr id="313" name="Google Shape;313;p28">
            <a:hlinkClick r:id="rId3"/>
          </p:cNvPr>
          <p:cNvPicPr preferRelativeResize="0"/>
          <p:nvPr/>
        </p:nvPicPr>
        <p:blipFill>
          <a:blip r:embed="rId4">
            <a:alphaModFix/>
          </a:blip>
          <a:stretch>
            <a:fillRect/>
          </a:stretch>
        </p:blipFill>
        <p:spPr>
          <a:xfrm>
            <a:off x="571500" y="1511300"/>
            <a:ext cx="8001000" cy="2389188"/>
          </a:xfrm>
          <a:prstGeom prst="rect">
            <a:avLst/>
          </a:prstGeom>
          <a:noFill/>
          <a:ln>
            <a:noFill/>
          </a:ln>
        </p:spPr>
      </p:pic>
      <p:sp>
        <p:nvSpPr>
          <p:cNvPr id="314" name="Google Shape;314;p28"/>
          <p:cNvSpPr txBox="1"/>
          <p:nvPr/>
        </p:nvSpPr>
        <p:spPr>
          <a:xfrm>
            <a:off x="1016000" y="3987800"/>
            <a:ext cx="7112100" cy="419100"/>
          </a:xfrm>
          <a:prstGeom prst="rect">
            <a:avLst/>
          </a:prstGeom>
          <a:noFill/>
          <a:ln>
            <a:noFill/>
          </a:ln>
        </p:spPr>
        <p:txBody>
          <a:bodyPr anchorCtr="0" anchor="ctr" bIns="91425" lIns="91425" spcFirstLastPara="1" rIns="91425" wrap="square" tIns="91425">
            <a:noAutofit/>
          </a:bodyPr>
          <a:lstStyle/>
          <a:p>
            <a:pPr indent="0" lvl="0" marL="0" marR="0" rtl="0" algn="ctr">
              <a:lnSpc>
                <a:spcPct val="108000"/>
              </a:lnSpc>
              <a:spcBef>
                <a:spcPts val="0"/>
              </a:spcBef>
              <a:spcAft>
                <a:spcPts val="0"/>
              </a:spcAft>
              <a:buNone/>
            </a:pPr>
            <a:r>
              <a:rPr lang="en" sz="2700">
                <a:solidFill>
                  <a:srgbClr val="222222"/>
                </a:solidFill>
              </a:rPr>
              <a:t>τ = Kp (q_target − q) − Kd q̇</a:t>
            </a:r>
            <a:endParaRPr sz="2700">
              <a:solidFill>
                <a:srgbClr val="222222"/>
              </a:solidFill>
            </a:endParaRPr>
          </a:p>
        </p:txBody>
      </p:sp>
      <p:sp>
        <p:nvSpPr>
          <p:cNvPr id="315" name="Google Shape;315;p28"/>
          <p:cNvSpPr txBox="1"/>
          <p:nvPr/>
        </p:nvSpPr>
        <p:spPr>
          <a:xfrm>
            <a:off x="508000" y="4419600"/>
            <a:ext cx="8127900" cy="342900"/>
          </a:xfrm>
          <a:prstGeom prst="rect">
            <a:avLst/>
          </a:prstGeom>
          <a:noFill/>
          <a:ln>
            <a:noFill/>
          </a:ln>
        </p:spPr>
        <p:txBody>
          <a:bodyPr anchorCtr="0" anchor="ctr" bIns="91425" lIns="91425" spcFirstLastPara="1" rIns="91425" wrap="square" tIns="91425">
            <a:noAutofit/>
          </a:bodyPr>
          <a:lstStyle/>
          <a:p>
            <a:pPr indent="0" lvl="0" marL="0" marR="0" rtl="0" algn="ctr">
              <a:lnSpc>
                <a:spcPct val="108000"/>
              </a:lnSpc>
              <a:spcBef>
                <a:spcPts val="0"/>
              </a:spcBef>
              <a:spcAft>
                <a:spcPts val="0"/>
              </a:spcAft>
              <a:buNone/>
            </a:pPr>
            <a:r>
              <a:rPr lang="en" sz="1800">
                <a:solidFill>
                  <a:srgbClr val="5C5C5C"/>
                </a:solidFill>
              </a:rPr>
              <a:t>D opposes velocity, like friction. Both terms act together.</a:t>
            </a:r>
            <a:endParaRPr sz="1800">
              <a:solidFill>
                <a:srgbClr val="5C5C5C"/>
              </a:solidFill>
            </a:endParaRPr>
          </a:p>
        </p:txBody>
      </p:sp>
      <p:sp>
        <p:nvSpPr>
          <p:cNvPr id="316" name="Google Shape;316;p28"/>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sz="900">
                <a:solidFill>
                  <a:srgbClr val="596C82"/>
                </a:solidFill>
              </a:rPr>
              <a:t>PD CONTROL · ILLUSTRATIVE JOINT   /   16 OF 51</a:t>
            </a:r>
            <a:endParaRPr sz="900">
              <a:solidFill>
                <a:srgbClr val="596C8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1000"/>
                                        <p:tgtEl>
                                          <p:spTgt spid="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320" name="Shape 320"/>
        <p:cNvGrpSpPr/>
        <p:nvPr/>
      </p:nvGrpSpPr>
      <p:grpSpPr>
        <a:xfrm>
          <a:off x="0" y="0"/>
          <a:ext cx="0" cy="0"/>
          <a:chOff x="0" y="0"/>
          <a:chExt cx="0" cy="0"/>
        </a:xfrm>
      </p:grpSpPr>
      <p:sp>
        <p:nvSpPr>
          <p:cNvPr id="321" name="Google Shape;321;p29"/>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29"/>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3" name="Google Shape;323;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PD targets can make learning easier</a:t>
            </a:r>
            <a:endParaRPr b="1">
              <a:solidFill>
                <a:srgbClr val="15253B"/>
              </a:solidFill>
            </a:endParaRPr>
          </a:p>
        </p:txBody>
      </p:sp>
      <p:sp>
        <p:nvSpPr>
          <p:cNvPr id="324" name="Google Shape;324;p29"/>
          <p:cNvSpPr txBox="1"/>
          <p:nvPr/>
        </p:nvSpPr>
        <p:spPr>
          <a:xfrm>
            <a:off x="381000" y="1143000"/>
            <a:ext cx="8382000" cy="4191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sz="2000">
                <a:solidFill>
                  <a:srgbClr val="5C5C5C"/>
                </a:solidFill>
              </a:rPr>
              <a:t>Example: a simulated planar raptor learns to run</a:t>
            </a:r>
            <a:endParaRPr sz="2000">
              <a:solidFill>
                <a:srgbClr val="5C5C5C"/>
              </a:solidFill>
            </a:endParaRPr>
          </a:p>
        </p:txBody>
      </p:sp>
      <p:sp>
        <p:nvSpPr>
          <p:cNvPr id="325" name="Google Shape;325;p29"/>
          <p:cNvSpPr txBox="1"/>
          <p:nvPr/>
        </p:nvSpPr>
        <p:spPr>
          <a:xfrm>
            <a:off x="381000" y="1587500"/>
            <a:ext cx="83820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sz="1700">
                <a:solidFill>
                  <a:srgbClr val="5C5C5C"/>
                </a:solidFill>
              </a:rPr>
              <a:t>Normalized area under the learning curve (higher is better)</a:t>
            </a:r>
            <a:endParaRPr sz="1700">
              <a:solidFill>
                <a:srgbClr val="5C5C5C"/>
              </a:solidFill>
            </a:endParaRPr>
          </a:p>
        </p:txBody>
      </p:sp>
      <p:sp>
        <p:nvSpPr>
          <p:cNvPr id="326" name="Google Shape;326;p29"/>
          <p:cNvSpPr txBox="1"/>
          <p:nvPr/>
        </p:nvSpPr>
        <p:spPr>
          <a:xfrm>
            <a:off x="381000" y="2095500"/>
            <a:ext cx="23622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sz="1800">
                <a:solidFill>
                  <a:srgbClr val="222222"/>
                </a:solidFill>
              </a:rPr>
              <a:t>Torque</a:t>
            </a:r>
            <a:endParaRPr sz="1800">
              <a:solidFill>
                <a:srgbClr val="222222"/>
              </a:solidFill>
            </a:endParaRPr>
          </a:p>
        </p:txBody>
      </p:sp>
      <p:sp>
        <p:nvSpPr>
          <p:cNvPr id="327" name="Google Shape;327;p29"/>
          <p:cNvSpPr txBox="1"/>
          <p:nvPr/>
        </p:nvSpPr>
        <p:spPr>
          <a:xfrm>
            <a:off x="2857500" y="2146300"/>
            <a:ext cx="1889100" cy="279300"/>
          </a:xfrm>
          <a:prstGeom prst="rect">
            <a:avLst/>
          </a:prstGeom>
          <a:solidFill>
            <a:srgbClr val="AAB7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28" name="Google Shape;328;p29"/>
          <p:cNvSpPr txBox="1"/>
          <p:nvPr/>
        </p:nvSpPr>
        <p:spPr>
          <a:xfrm>
            <a:off x="4835474" y="2095500"/>
            <a:ext cx="800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sz="1800">
                <a:solidFill>
                  <a:srgbClr val="5C5C5C"/>
                </a:solidFill>
              </a:rPr>
              <a:t>0.38</a:t>
            </a:r>
            <a:endParaRPr sz="1800">
              <a:solidFill>
                <a:srgbClr val="5C5C5C"/>
              </a:solidFill>
            </a:endParaRPr>
          </a:p>
        </p:txBody>
      </p:sp>
      <p:sp>
        <p:nvSpPr>
          <p:cNvPr id="329" name="Google Shape;329;p29"/>
          <p:cNvSpPr txBox="1"/>
          <p:nvPr/>
        </p:nvSpPr>
        <p:spPr>
          <a:xfrm>
            <a:off x="381000" y="2540000"/>
            <a:ext cx="23622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sz="1800">
                <a:solidFill>
                  <a:srgbClr val="222222"/>
                </a:solidFill>
              </a:rPr>
              <a:t>Velocity target</a:t>
            </a:r>
            <a:endParaRPr sz="1800">
              <a:solidFill>
                <a:srgbClr val="222222"/>
              </a:solidFill>
            </a:endParaRPr>
          </a:p>
        </p:txBody>
      </p:sp>
      <p:sp>
        <p:nvSpPr>
          <p:cNvPr id="330" name="Google Shape;330;p29"/>
          <p:cNvSpPr txBox="1"/>
          <p:nvPr/>
        </p:nvSpPr>
        <p:spPr>
          <a:xfrm>
            <a:off x="2857500" y="2590800"/>
            <a:ext cx="3471000" cy="279300"/>
          </a:xfrm>
          <a:prstGeom prst="rect">
            <a:avLst/>
          </a:prstGeom>
          <a:solidFill>
            <a:srgbClr val="AAB7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31" name="Google Shape;331;p29"/>
          <p:cNvSpPr txBox="1"/>
          <p:nvPr/>
        </p:nvSpPr>
        <p:spPr>
          <a:xfrm>
            <a:off x="6417462" y="2540000"/>
            <a:ext cx="800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sz="1800">
                <a:solidFill>
                  <a:srgbClr val="5C5C5C"/>
                </a:solidFill>
              </a:rPr>
              <a:t>0.70</a:t>
            </a:r>
            <a:endParaRPr sz="1800">
              <a:solidFill>
                <a:srgbClr val="5C5C5C"/>
              </a:solidFill>
            </a:endParaRPr>
          </a:p>
        </p:txBody>
      </p:sp>
      <p:sp>
        <p:nvSpPr>
          <p:cNvPr id="332" name="Google Shape;332;p29"/>
          <p:cNvSpPr txBox="1"/>
          <p:nvPr/>
        </p:nvSpPr>
        <p:spPr>
          <a:xfrm>
            <a:off x="381000" y="2984500"/>
            <a:ext cx="23622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b="1" lang="en" sz="1800">
                <a:solidFill>
                  <a:srgbClr val="4285F4"/>
                </a:solidFill>
              </a:rPr>
              <a:t>PD position target</a:t>
            </a:r>
            <a:endParaRPr b="1" sz="1800">
              <a:solidFill>
                <a:srgbClr val="4285F4"/>
              </a:solidFill>
            </a:endParaRPr>
          </a:p>
        </p:txBody>
      </p:sp>
      <p:sp>
        <p:nvSpPr>
          <p:cNvPr id="333" name="Google Shape;333;p29"/>
          <p:cNvSpPr txBox="1"/>
          <p:nvPr/>
        </p:nvSpPr>
        <p:spPr>
          <a:xfrm>
            <a:off x="2857500" y="3035300"/>
            <a:ext cx="4146600" cy="279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34" name="Google Shape;334;p29"/>
          <p:cNvSpPr txBox="1"/>
          <p:nvPr/>
        </p:nvSpPr>
        <p:spPr>
          <a:xfrm>
            <a:off x="7093052" y="2984500"/>
            <a:ext cx="800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b="1" lang="en" sz="1800">
                <a:solidFill>
                  <a:srgbClr val="4285F4"/>
                </a:solidFill>
              </a:rPr>
              <a:t>0.84</a:t>
            </a:r>
            <a:endParaRPr b="1" sz="1800">
              <a:solidFill>
                <a:srgbClr val="4285F4"/>
              </a:solidFill>
            </a:endParaRPr>
          </a:p>
        </p:txBody>
      </p:sp>
      <p:sp>
        <p:nvSpPr>
          <p:cNvPr id="335" name="Google Shape;335;p29"/>
          <p:cNvSpPr txBox="1"/>
          <p:nvPr/>
        </p:nvSpPr>
        <p:spPr>
          <a:xfrm>
            <a:off x="381000" y="3429000"/>
            <a:ext cx="23622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sz="1800">
                <a:solidFill>
                  <a:srgbClr val="222222"/>
                </a:solidFill>
              </a:rPr>
              <a:t>Muscle activation</a:t>
            </a:r>
            <a:endParaRPr sz="1800">
              <a:solidFill>
                <a:srgbClr val="222222"/>
              </a:solidFill>
            </a:endParaRPr>
          </a:p>
        </p:txBody>
      </p:sp>
      <p:sp>
        <p:nvSpPr>
          <p:cNvPr id="336" name="Google Shape;336;p29"/>
          <p:cNvSpPr txBox="1"/>
          <p:nvPr/>
        </p:nvSpPr>
        <p:spPr>
          <a:xfrm>
            <a:off x="2857500" y="3479800"/>
            <a:ext cx="3594900" cy="279300"/>
          </a:xfrm>
          <a:prstGeom prst="rect">
            <a:avLst/>
          </a:prstGeom>
          <a:solidFill>
            <a:srgbClr val="E0E4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37" name="Google Shape;337;p29"/>
          <p:cNvSpPr txBox="1"/>
          <p:nvPr/>
        </p:nvSpPr>
        <p:spPr>
          <a:xfrm>
            <a:off x="6541287" y="3429000"/>
            <a:ext cx="800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sz="1800">
                <a:solidFill>
                  <a:srgbClr val="5C5C5C"/>
                </a:solidFill>
              </a:rPr>
              <a:t>0.73</a:t>
            </a:r>
            <a:endParaRPr sz="1800">
              <a:solidFill>
                <a:srgbClr val="5C5C5C"/>
              </a:solidFill>
            </a:endParaRPr>
          </a:p>
        </p:txBody>
      </p:sp>
      <p:cxnSp>
        <p:nvCxnSpPr>
          <p:cNvPr id="338" name="Google Shape;338;p29"/>
          <p:cNvCxnSpPr/>
          <p:nvPr/>
        </p:nvCxnSpPr>
        <p:spPr>
          <a:xfrm>
            <a:off x="2857500" y="3937000"/>
            <a:ext cx="4953000" cy="0"/>
          </a:xfrm>
          <a:prstGeom prst="straightConnector1">
            <a:avLst/>
          </a:prstGeom>
          <a:noFill/>
          <a:ln cap="flat" cmpd="sng" w="12700">
            <a:solidFill>
              <a:srgbClr val="E0E4E9"/>
            </a:solidFill>
            <a:prstDash val="solid"/>
            <a:round/>
            <a:headEnd len="med" w="med" type="none"/>
            <a:tailEnd len="med" w="med" type="none"/>
          </a:ln>
        </p:spPr>
      </p:cxnSp>
      <p:sp>
        <p:nvSpPr>
          <p:cNvPr id="339" name="Google Shape;339;p29"/>
          <p:cNvSpPr txBox="1"/>
          <p:nvPr/>
        </p:nvSpPr>
        <p:spPr>
          <a:xfrm>
            <a:off x="2755900" y="3949700"/>
            <a:ext cx="317400" cy="2541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sz="1100">
                <a:solidFill>
                  <a:srgbClr val="5C5C5C"/>
                </a:solidFill>
              </a:rPr>
              <a:t>0</a:t>
            </a:r>
            <a:endParaRPr sz="1100">
              <a:solidFill>
                <a:srgbClr val="5C5C5C"/>
              </a:solidFill>
            </a:endParaRPr>
          </a:p>
        </p:txBody>
      </p:sp>
      <p:sp>
        <p:nvSpPr>
          <p:cNvPr id="340" name="Google Shape;340;p29"/>
          <p:cNvSpPr txBox="1"/>
          <p:nvPr/>
        </p:nvSpPr>
        <p:spPr>
          <a:xfrm>
            <a:off x="7708900" y="3949700"/>
            <a:ext cx="317400" cy="2541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sz="1100">
                <a:solidFill>
                  <a:srgbClr val="5C5C5C"/>
                </a:solidFill>
              </a:rPr>
              <a:t>1</a:t>
            </a:r>
            <a:endParaRPr sz="1100">
              <a:solidFill>
                <a:srgbClr val="5C5C5C"/>
              </a:solidFill>
            </a:endParaRPr>
          </a:p>
        </p:txBody>
      </p:sp>
      <p:sp>
        <p:nvSpPr>
          <p:cNvPr id="341" name="Google Shape;341;p29"/>
          <p:cNvSpPr txBox="1"/>
          <p:nvPr/>
        </p:nvSpPr>
        <p:spPr>
          <a:xfrm>
            <a:off x="381000" y="4178300"/>
            <a:ext cx="8382000" cy="3684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b="1" lang="en" sz="1800">
                <a:solidFill>
                  <a:srgbClr val="245CA7"/>
                </a:solidFill>
              </a:rPr>
              <a:t>PD had the highest learning AUC on 5 of the 7 tested motions.</a:t>
            </a:r>
            <a:endParaRPr b="1" sz="1800">
              <a:solidFill>
                <a:srgbClr val="245CA7"/>
              </a:solidFill>
            </a:endParaRPr>
          </a:p>
        </p:txBody>
      </p:sp>
      <p:sp>
        <p:nvSpPr>
          <p:cNvPr id="342" name="Google Shape;342;p29"/>
          <p:cNvSpPr txBox="1"/>
          <p:nvPr/>
        </p:nvSpPr>
        <p:spPr>
          <a:xfrm>
            <a:off x="381000" y="4584700"/>
            <a:ext cx="8382000" cy="2031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sz="1100" u="sng">
                <a:solidFill>
                  <a:schemeClr val="hlink"/>
                </a:solidFill>
                <a:hlinkClick r:id="rId3"/>
              </a:rPr>
              <a:t>Peng &amp; van de Panne, SCA 2017 · Table 4 · planar imitation tasks, not G1 results</a:t>
            </a:r>
            <a:endParaRPr sz="1100">
              <a:solidFill>
                <a:srgbClr val="5C5C5C"/>
              </a:solidFill>
            </a:endParaRPr>
          </a:p>
        </p:txBody>
      </p:sp>
      <p:sp>
        <p:nvSpPr>
          <p:cNvPr id="343" name="Google Shape;343;p29"/>
          <p:cNvSpPr txBox="1"/>
          <p:nvPr/>
        </p:nvSpPr>
        <p:spPr>
          <a:xfrm>
            <a:off x="381000" y="4889500"/>
            <a:ext cx="8382000" cy="1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596C82"/>
                </a:solidFill>
              </a:rPr>
              <a:t>THE PHYSICAL INTERFACE   /   17 OF 51</a:t>
            </a:r>
            <a:endParaRPr sz="900">
              <a:solidFill>
                <a:srgbClr val="596C8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347" name="Shape 347"/>
        <p:cNvGrpSpPr/>
        <p:nvPr/>
      </p:nvGrpSpPr>
      <p:grpSpPr>
        <a:xfrm>
          <a:off x="0" y="0"/>
          <a:ext cx="0" cy="0"/>
          <a:chOff x="0" y="0"/>
          <a:chExt cx="0" cy="0"/>
        </a:xfrm>
      </p:grpSpPr>
      <p:sp>
        <p:nvSpPr>
          <p:cNvPr id="348" name="Google Shape;348;p30"/>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30"/>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700">
                <a:solidFill>
                  <a:srgbClr val="15253B"/>
                </a:solidFill>
              </a:rPr>
              <a:t>Physics and PD run faster than the policy</a:t>
            </a:r>
            <a:endParaRPr b="1" sz="2700">
              <a:solidFill>
                <a:srgbClr val="15253B"/>
              </a:solidFill>
            </a:endParaRPr>
          </a:p>
        </p:txBody>
      </p:sp>
      <p:sp>
        <p:nvSpPr>
          <p:cNvPr id="351" name="Google Shape;351;p30"/>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THE PHYSICAL INTERFACE   /   18 OF 51</a:t>
            </a:r>
            <a:endParaRPr sz="900">
              <a:solidFill>
                <a:srgbClr val="596C82"/>
              </a:solidFill>
            </a:endParaRPr>
          </a:p>
        </p:txBody>
      </p:sp>
      <p:sp>
        <p:nvSpPr>
          <p:cNvPr id="352" name="Google Shape;352;p30"/>
          <p:cNvSpPr txBox="1"/>
          <p:nvPr/>
        </p:nvSpPr>
        <p:spPr>
          <a:xfrm>
            <a:off x="381000" y="1778000"/>
            <a:ext cx="22860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a:solidFill>
                  <a:srgbClr val="222222"/>
                </a:solidFill>
              </a:rPr>
              <a:t>RL policy</a:t>
            </a:r>
            <a:endParaRPr>
              <a:solidFill>
                <a:srgbClr val="222222"/>
              </a:solidFill>
            </a:endParaRPr>
          </a:p>
          <a:p>
            <a:pPr indent="0" lvl="0" marL="0" marR="0" rtl="0" algn="l">
              <a:lnSpc>
                <a:spcPct val="108000"/>
              </a:lnSpc>
              <a:spcBef>
                <a:spcPts val="0"/>
              </a:spcBef>
              <a:spcAft>
                <a:spcPts val="0"/>
              </a:spcAft>
              <a:buNone/>
            </a:pPr>
            <a:r>
              <a:rPr lang="en">
                <a:solidFill>
                  <a:srgbClr val="222222"/>
                </a:solidFill>
              </a:rPr>
              <a:t>50 Hz · every 20 ms</a:t>
            </a:r>
            <a:endParaRPr>
              <a:solidFill>
                <a:srgbClr val="222222"/>
              </a:solidFill>
            </a:endParaRPr>
          </a:p>
        </p:txBody>
      </p:sp>
      <p:sp>
        <p:nvSpPr>
          <p:cNvPr id="353" name="Google Shape;353;p30"/>
          <p:cNvSpPr txBox="1"/>
          <p:nvPr/>
        </p:nvSpPr>
        <p:spPr>
          <a:xfrm>
            <a:off x="381000" y="3314700"/>
            <a:ext cx="22860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a:solidFill>
                  <a:srgbClr val="222222"/>
                </a:solidFill>
              </a:rPr>
              <a:t>Physics steps</a:t>
            </a:r>
            <a:endParaRPr>
              <a:solidFill>
                <a:srgbClr val="222222"/>
              </a:solidFill>
            </a:endParaRPr>
          </a:p>
          <a:p>
            <a:pPr indent="0" lvl="0" marL="0" marR="0" rtl="0" algn="l">
              <a:lnSpc>
                <a:spcPct val="108000"/>
              </a:lnSpc>
              <a:spcBef>
                <a:spcPts val="0"/>
              </a:spcBef>
              <a:spcAft>
                <a:spcPts val="0"/>
              </a:spcAft>
              <a:buNone/>
            </a:pPr>
            <a:r>
              <a:rPr lang="en">
                <a:solidFill>
                  <a:srgbClr val="222222"/>
                </a:solidFill>
              </a:rPr>
              <a:t>500 Hz · every 2 ms</a:t>
            </a:r>
            <a:endParaRPr>
              <a:solidFill>
                <a:srgbClr val="222222"/>
              </a:solidFill>
            </a:endParaRPr>
          </a:p>
        </p:txBody>
      </p:sp>
      <p:cxnSp>
        <p:nvCxnSpPr>
          <p:cNvPr id="354" name="Google Shape;354;p30"/>
          <p:cNvCxnSpPr/>
          <p:nvPr/>
        </p:nvCxnSpPr>
        <p:spPr>
          <a:xfrm>
            <a:off x="2895600" y="2070100"/>
            <a:ext cx="5715000" cy="0"/>
          </a:xfrm>
          <a:prstGeom prst="straightConnector1">
            <a:avLst/>
          </a:prstGeom>
          <a:noFill/>
          <a:ln cap="flat" cmpd="sng" w="25400">
            <a:solidFill>
              <a:srgbClr val="4285F4"/>
            </a:solidFill>
            <a:prstDash val="solid"/>
            <a:round/>
            <a:headEnd len="med" w="med" type="none"/>
            <a:tailEnd len="med" w="med" type="none"/>
          </a:ln>
        </p:spPr>
      </p:cxnSp>
      <p:cxnSp>
        <p:nvCxnSpPr>
          <p:cNvPr id="355" name="Google Shape;355;p30"/>
          <p:cNvCxnSpPr/>
          <p:nvPr/>
        </p:nvCxnSpPr>
        <p:spPr>
          <a:xfrm>
            <a:off x="2895600" y="3619500"/>
            <a:ext cx="5715000" cy="0"/>
          </a:xfrm>
          <a:prstGeom prst="straightConnector1">
            <a:avLst/>
          </a:prstGeom>
          <a:noFill/>
          <a:ln cap="flat" cmpd="sng" w="25400">
            <a:solidFill>
              <a:srgbClr val="4285F4"/>
            </a:solidFill>
            <a:prstDash val="solid"/>
            <a:round/>
            <a:headEnd len="med" w="med" type="none"/>
            <a:tailEnd len="med" w="med" type="none"/>
          </a:ln>
        </p:spPr>
      </p:cxnSp>
      <p:sp>
        <p:nvSpPr>
          <p:cNvPr id="356" name="Google Shape;356;p30"/>
          <p:cNvSpPr txBox="1"/>
          <p:nvPr/>
        </p:nvSpPr>
        <p:spPr>
          <a:xfrm>
            <a:off x="2946400" y="1511300"/>
            <a:ext cx="2717700" cy="3555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08000"/>
              </a:lnSpc>
              <a:spcBef>
                <a:spcPts val="0"/>
              </a:spcBef>
              <a:spcAft>
                <a:spcPts val="0"/>
              </a:spcAft>
              <a:buNone/>
            </a:pPr>
            <a:r>
              <a:rPr lang="en">
                <a:solidFill>
                  <a:srgbClr val="222222"/>
                </a:solidFill>
              </a:rPr>
              <a:t>Hold target A</a:t>
            </a:r>
            <a:endParaRPr>
              <a:solidFill>
                <a:srgbClr val="222222"/>
              </a:solidFill>
            </a:endParaRPr>
          </a:p>
        </p:txBody>
      </p:sp>
      <p:sp>
        <p:nvSpPr>
          <p:cNvPr id="357" name="Google Shape;357;p30"/>
          <p:cNvSpPr txBox="1"/>
          <p:nvPr/>
        </p:nvSpPr>
        <p:spPr>
          <a:xfrm>
            <a:off x="5803900" y="1511300"/>
            <a:ext cx="2717700" cy="3555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08000"/>
              </a:lnSpc>
              <a:spcBef>
                <a:spcPts val="0"/>
              </a:spcBef>
              <a:spcAft>
                <a:spcPts val="0"/>
              </a:spcAft>
              <a:buNone/>
            </a:pPr>
            <a:r>
              <a:rPr lang="en">
                <a:solidFill>
                  <a:srgbClr val="222222"/>
                </a:solidFill>
              </a:rPr>
              <a:t>Hold target B</a:t>
            </a:r>
            <a:endParaRPr>
              <a:solidFill>
                <a:srgbClr val="222222"/>
              </a:solidFill>
            </a:endParaRPr>
          </a:p>
        </p:txBody>
      </p:sp>
      <p:sp>
        <p:nvSpPr>
          <p:cNvPr id="358" name="Google Shape;358;p30"/>
          <p:cNvSpPr txBox="1"/>
          <p:nvPr/>
        </p:nvSpPr>
        <p:spPr>
          <a:xfrm>
            <a:off x="381000" y="3898900"/>
            <a:ext cx="83820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a:solidFill>
                  <a:srgbClr val="5C5C5C"/>
                </a:solidFill>
              </a:rPr>
              <a:t>The target is held. PD keeps updating torque from fresh joint feedback.</a:t>
            </a:r>
            <a:endParaRPr>
              <a:solidFill>
                <a:srgbClr val="5C5C5C"/>
              </a:solidFill>
            </a:endParaRPr>
          </a:p>
        </p:txBody>
      </p:sp>
      <p:sp>
        <p:nvSpPr>
          <p:cNvPr id="359" name="Google Shape;359;p30"/>
          <p:cNvSpPr txBox="1"/>
          <p:nvPr/>
        </p:nvSpPr>
        <p:spPr>
          <a:xfrm>
            <a:off x="381000" y="2679700"/>
            <a:ext cx="22860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8000"/>
              </a:lnSpc>
              <a:spcBef>
                <a:spcPts val="0"/>
              </a:spcBef>
              <a:spcAft>
                <a:spcPts val="0"/>
              </a:spcAft>
              <a:buNone/>
            </a:pPr>
            <a:r>
              <a:rPr lang="en">
                <a:solidFill>
                  <a:srgbClr val="222222"/>
                </a:solidFill>
              </a:rPr>
              <a:t>PD feedback</a:t>
            </a:r>
            <a:endParaRPr>
              <a:solidFill>
                <a:srgbClr val="222222"/>
              </a:solidFill>
            </a:endParaRPr>
          </a:p>
          <a:p>
            <a:pPr indent="0" lvl="0" marL="0" marR="0" rtl="0" algn="l">
              <a:lnSpc>
                <a:spcPct val="108000"/>
              </a:lnSpc>
              <a:spcBef>
                <a:spcPts val="0"/>
              </a:spcBef>
              <a:spcAft>
                <a:spcPts val="0"/>
              </a:spcAft>
              <a:buNone/>
            </a:pPr>
            <a:r>
              <a:rPr lang="en">
                <a:solidFill>
                  <a:srgbClr val="222222"/>
                </a:solidFill>
              </a:rPr>
              <a:t>500 Hz · every 2 ms</a:t>
            </a:r>
            <a:endParaRPr>
              <a:solidFill>
                <a:srgbClr val="222222"/>
              </a:solidFill>
            </a:endParaRPr>
          </a:p>
        </p:txBody>
      </p:sp>
      <p:cxnSp>
        <p:nvCxnSpPr>
          <p:cNvPr id="360" name="Google Shape;360;p30"/>
          <p:cNvCxnSpPr/>
          <p:nvPr/>
        </p:nvCxnSpPr>
        <p:spPr>
          <a:xfrm>
            <a:off x="2895600" y="2984500"/>
            <a:ext cx="5715000" cy="0"/>
          </a:xfrm>
          <a:prstGeom prst="straightConnector1">
            <a:avLst/>
          </a:prstGeom>
          <a:noFill/>
          <a:ln cap="flat" cmpd="sng" w="25400">
            <a:solidFill>
              <a:srgbClr val="00808C"/>
            </a:solidFill>
            <a:prstDash val="solid"/>
            <a:round/>
            <a:headEnd len="med" w="med" type="none"/>
            <a:tailEnd len="med" w="med" type="none"/>
          </a:ln>
        </p:spPr>
      </p:cxnSp>
      <p:sp>
        <p:nvSpPr>
          <p:cNvPr id="361" name="Google Shape;361;p30"/>
          <p:cNvSpPr txBox="1"/>
          <p:nvPr/>
        </p:nvSpPr>
        <p:spPr>
          <a:xfrm>
            <a:off x="381000" y="1079500"/>
            <a:ext cx="8382000" cy="27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596C82"/>
                </a:solidFill>
              </a:rPr>
              <a:t>G1 example: Unitree’s MuJoCo deployment. Rates vary by setup.</a:t>
            </a:r>
            <a:endParaRPr>
              <a:solidFill>
                <a:srgbClr val="596C82"/>
              </a:solidFill>
            </a:endParaRPr>
          </a:p>
        </p:txBody>
      </p:sp>
      <p:cxnSp>
        <p:nvCxnSpPr>
          <p:cNvPr id="362" name="Google Shape;362;p30"/>
          <p:cNvCxnSpPr/>
          <p:nvPr/>
        </p:nvCxnSpPr>
        <p:spPr>
          <a:xfrm>
            <a:off x="2895600" y="1968500"/>
            <a:ext cx="0" cy="216000"/>
          </a:xfrm>
          <a:prstGeom prst="straightConnector1">
            <a:avLst/>
          </a:prstGeom>
          <a:noFill/>
          <a:ln cap="flat" cmpd="sng" w="31750">
            <a:solidFill>
              <a:srgbClr val="4285F4"/>
            </a:solidFill>
            <a:prstDash val="solid"/>
            <a:round/>
            <a:headEnd len="med" w="med" type="none"/>
            <a:tailEnd len="med" w="med" type="none"/>
          </a:ln>
        </p:spPr>
      </p:cxnSp>
      <p:sp>
        <p:nvSpPr>
          <p:cNvPr id="363" name="Google Shape;363;p30"/>
          <p:cNvSpPr txBox="1"/>
          <p:nvPr/>
        </p:nvSpPr>
        <p:spPr>
          <a:xfrm>
            <a:off x="2641600" y="2235200"/>
            <a:ext cx="812700" cy="25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596C82"/>
                </a:solidFill>
              </a:rPr>
              <a:t>0 ms</a:t>
            </a:r>
            <a:endParaRPr sz="1200">
              <a:solidFill>
                <a:srgbClr val="596C82"/>
              </a:solidFill>
            </a:endParaRPr>
          </a:p>
        </p:txBody>
      </p:sp>
      <p:cxnSp>
        <p:nvCxnSpPr>
          <p:cNvPr id="364" name="Google Shape;364;p30"/>
          <p:cNvCxnSpPr/>
          <p:nvPr/>
        </p:nvCxnSpPr>
        <p:spPr>
          <a:xfrm>
            <a:off x="5753100" y="1968500"/>
            <a:ext cx="0" cy="216000"/>
          </a:xfrm>
          <a:prstGeom prst="straightConnector1">
            <a:avLst/>
          </a:prstGeom>
          <a:noFill/>
          <a:ln cap="flat" cmpd="sng" w="31750">
            <a:solidFill>
              <a:srgbClr val="4285F4"/>
            </a:solidFill>
            <a:prstDash val="solid"/>
            <a:round/>
            <a:headEnd len="med" w="med" type="none"/>
            <a:tailEnd len="med" w="med" type="none"/>
          </a:ln>
        </p:spPr>
      </p:cxnSp>
      <p:sp>
        <p:nvSpPr>
          <p:cNvPr id="365" name="Google Shape;365;p30"/>
          <p:cNvSpPr txBox="1"/>
          <p:nvPr/>
        </p:nvSpPr>
        <p:spPr>
          <a:xfrm>
            <a:off x="5499100" y="2235200"/>
            <a:ext cx="812700" cy="25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596C82"/>
                </a:solidFill>
              </a:rPr>
              <a:t>20 ms</a:t>
            </a:r>
            <a:endParaRPr sz="1200">
              <a:solidFill>
                <a:srgbClr val="596C82"/>
              </a:solidFill>
            </a:endParaRPr>
          </a:p>
        </p:txBody>
      </p:sp>
      <p:cxnSp>
        <p:nvCxnSpPr>
          <p:cNvPr id="366" name="Google Shape;366;p30"/>
          <p:cNvCxnSpPr/>
          <p:nvPr/>
        </p:nvCxnSpPr>
        <p:spPr>
          <a:xfrm>
            <a:off x="8610600" y="1968500"/>
            <a:ext cx="0" cy="216000"/>
          </a:xfrm>
          <a:prstGeom prst="straightConnector1">
            <a:avLst/>
          </a:prstGeom>
          <a:noFill/>
          <a:ln cap="flat" cmpd="sng" w="31750">
            <a:solidFill>
              <a:srgbClr val="4285F4"/>
            </a:solidFill>
            <a:prstDash val="solid"/>
            <a:round/>
            <a:headEnd len="med" w="med" type="none"/>
            <a:tailEnd len="med" w="med" type="none"/>
          </a:ln>
        </p:spPr>
      </p:cxnSp>
      <p:sp>
        <p:nvSpPr>
          <p:cNvPr id="367" name="Google Shape;367;p30"/>
          <p:cNvSpPr txBox="1"/>
          <p:nvPr/>
        </p:nvSpPr>
        <p:spPr>
          <a:xfrm>
            <a:off x="8356600" y="2235200"/>
            <a:ext cx="812700" cy="25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596C82"/>
                </a:solidFill>
              </a:rPr>
              <a:t>40 ms</a:t>
            </a:r>
            <a:endParaRPr sz="1200">
              <a:solidFill>
                <a:srgbClr val="596C82"/>
              </a:solidFill>
            </a:endParaRPr>
          </a:p>
        </p:txBody>
      </p:sp>
      <p:cxnSp>
        <p:nvCxnSpPr>
          <p:cNvPr id="368" name="Google Shape;368;p30"/>
          <p:cNvCxnSpPr/>
          <p:nvPr/>
        </p:nvCxnSpPr>
        <p:spPr>
          <a:xfrm>
            <a:off x="289560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69" name="Google Shape;369;p30"/>
          <p:cNvCxnSpPr/>
          <p:nvPr/>
        </p:nvCxnSpPr>
        <p:spPr>
          <a:xfrm>
            <a:off x="289560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70" name="Google Shape;370;p30"/>
          <p:cNvCxnSpPr/>
          <p:nvPr/>
        </p:nvCxnSpPr>
        <p:spPr>
          <a:xfrm>
            <a:off x="318135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71" name="Google Shape;371;p30"/>
          <p:cNvCxnSpPr/>
          <p:nvPr/>
        </p:nvCxnSpPr>
        <p:spPr>
          <a:xfrm>
            <a:off x="318135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72" name="Google Shape;372;p30"/>
          <p:cNvCxnSpPr/>
          <p:nvPr/>
        </p:nvCxnSpPr>
        <p:spPr>
          <a:xfrm>
            <a:off x="346710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73" name="Google Shape;373;p30"/>
          <p:cNvCxnSpPr/>
          <p:nvPr/>
        </p:nvCxnSpPr>
        <p:spPr>
          <a:xfrm>
            <a:off x="346710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74" name="Google Shape;374;p30"/>
          <p:cNvCxnSpPr/>
          <p:nvPr/>
        </p:nvCxnSpPr>
        <p:spPr>
          <a:xfrm>
            <a:off x="375285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75" name="Google Shape;375;p30"/>
          <p:cNvCxnSpPr/>
          <p:nvPr/>
        </p:nvCxnSpPr>
        <p:spPr>
          <a:xfrm>
            <a:off x="375285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76" name="Google Shape;376;p30"/>
          <p:cNvCxnSpPr/>
          <p:nvPr/>
        </p:nvCxnSpPr>
        <p:spPr>
          <a:xfrm>
            <a:off x="403860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77" name="Google Shape;377;p30"/>
          <p:cNvCxnSpPr/>
          <p:nvPr/>
        </p:nvCxnSpPr>
        <p:spPr>
          <a:xfrm>
            <a:off x="403860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78" name="Google Shape;378;p30"/>
          <p:cNvCxnSpPr/>
          <p:nvPr/>
        </p:nvCxnSpPr>
        <p:spPr>
          <a:xfrm>
            <a:off x="432435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79" name="Google Shape;379;p30"/>
          <p:cNvCxnSpPr/>
          <p:nvPr/>
        </p:nvCxnSpPr>
        <p:spPr>
          <a:xfrm>
            <a:off x="432435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80" name="Google Shape;380;p30"/>
          <p:cNvCxnSpPr/>
          <p:nvPr/>
        </p:nvCxnSpPr>
        <p:spPr>
          <a:xfrm>
            <a:off x="461010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81" name="Google Shape;381;p30"/>
          <p:cNvCxnSpPr/>
          <p:nvPr/>
        </p:nvCxnSpPr>
        <p:spPr>
          <a:xfrm>
            <a:off x="461010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82" name="Google Shape;382;p30"/>
          <p:cNvCxnSpPr/>
          <p:nvPr/>
        </p:nvCxnSpPr>
        <p:spPr>
          <a:xfrm>
            <a:off x="489585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83" name="Google Shape;383;p30"/>
          <p:cNvCxnSpPr/>
          <p:nvPr/>
        </p:nvCxnSpPr>
        <p:spPr>
          <a:xfrm>
            <a:off x="489585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84" name="Google Shape;384;p30"/>
          <p:cNvCxnSpPr/>
          <p:nvPr/>
        </p:nvCxnSpPr>
        <p:spPr>
          <a:xfrm>
            <a:off x="518160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85" name="Google Shape;385;p30"/>
          <p:cNvCxnSpPr/>
          <p:nvPr/>
        </p:nvCxnSpPr>
        <p:spPr>
          <a:xfrm>
            <a:off x="518160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86" name="Google Shape;386;p30"/>
          <p:cNvCxnSpPr/>
          <p:nvPr/>
        </p:nvCxnSpPr>
        <p:spPr>
          <a:xfrm>
            <a:off x="546735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87" name="Google Shape;387;p30"/>
          <p:cNvCxnSpPr/>
          <p:nvPr/>
        </p:nvCxnSpPr>
        <p:spPr>
          <a:xfrm>
            <a:off x="546735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88" name="Google Shape;388;p30"/>
          <p:cNvCxnSpPr/>
          <p:nvPr/>
        </p:nvCxnSpPr>
        <p:spPr>
          <a:xfrm>
            <a:off x="575310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89" name="Google Shape;389;p30"/>
          <p:cNvCxnSpPr/>
          <p:nvPr/>
        </p:nvCxnSpPr>
        <p:spPr>
          <a:xfrm>
            <a:off x="575310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90" name="Google Shape;390;p30"/>
          <p:cNvCxnSpPr/>
          <p:nvPr/>
        </p:nvCxnSpPr>
        <p:spPr>
          <a:xfrm>
            <a:off x="603885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91" name="Google Shape;391;p30"/>
          <p:cNvCxnSpPr/>
          <p:nvPr/>
        </p:nvCxnSpPr>
        <p:spPr>
          <a:xfrm>
            <a:off x="603885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92" name="Google Shape;392;p30"/>
          <p:cNvCxnSpPr/>
          <p:nvPr/>
        </p:nvCxnSpPr>
        <p:spPr>
          <a:xfrm>
            <a:off x="632460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93" name="Google Shape;393;p30"/>
          <p:cNvCxnSpPr/>
          <p:nvPr/>
        </p:nvCxnSpPr>
        <p:spPr>
          <a:xfrm>
            <a:off x="632460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94" name="Google Shape;394;p30"/>
          <p:cNvCxnSpPr/>
          <p:nvPr/>
        </p:nvCxnSpPr>
        <p:spPr>
          <a:xfrm>
            <a:off x="661035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95" name="Google Shape;395;p30"/>
          <p:cNvCxnSpPr/>
          <p:nvPr/>
        </p:nvCxnSpPr>
        <p:spPr>
          <a:xfrm>
            <a:off x="661035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96" name="Google Shape;396;p30"/>
          <p:cNvCxnSpPr/>
          <p:nvPr/>
        </p:nvCxnSpPr>
        <p:spPr>
          <a:xfrm>
            <a:off x="689610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97" name="Google Shape;397;p30"/>
          <p:cNvCxnSpPr/>
          <p:nvPr/>
        </p:nvCxnSpPr>
        <p:spPr>
          <a:xfrm>
            <a:off x="689610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398" name="Google Shape;398;p30"/>
          <p:cNvCxnSpPr/>
          <p:nvPr/>
        </p:nvCxnSpPr>
        <p:spPr>
          <a:xfrm>
            <a:off x="718185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399" name="Google Shape;399;p30"/>
          <p:cNvCxnSpPr/>
          <p:nvPr/>
        </p:nvCxnSpPr>
        <p:spPr>
          <a:xfrm>
            <a:off x="718185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400" name="Google Shape;400;p30"/>
          <p:cNvCxnSpPr/>
          <p:nvPr/>
        </p:nvCxnSpPr>
        <p:spPr>
          <a:xfrm>
            <a:off x="746760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401" name="Google Shape;401;p30"/>
          <p:cNvCxnSpPr/>
          <p:nvPr/>
        </p:nvCxnSpPr>
        <p:spPr>
          <a:xfrm>
            <a:off x="746760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402" name="Google Shape;402;p30"/>
          <p:cNvCxnSpPr/>
          <p:nvPr/>
        </p:nvCxnSpPr>
        <p:spPr>
          <a:xfrm>
            <a:off x="775335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403" name="Google Shape;403;p30"/>
          <p:cNvCxnSpPr/>
          <p:nvPr/>
        </p:nvCxnSpPr>
        <p:spPr>
          <a:xfrm>
            <a:off x="775335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404" name="Google Shape;404;p30"/>
          <p:cNvCxnSpPr/>
          <p:nvPr/>
        </p:nvCxnSpPr>
        <p:spPr>
          <a:xfrm>
            <a:off x="803910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405" name="Google Shape;405;p30"/>
          <p:cNvCxnSpPr/>
          <p:nvPr/>
        </p:nvCxnSpPr>
        <p:spPr>
          <a:xfrm>
            <a:off x="803910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406" name="Google Shape;406;p30"/>
          <p:cNvCxnSpPr/>
          <p:nvPr/>
        </p:nvCxnSpPr>
        <p:spPr>
          <a:xfrm>
            <a:off x="832485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407" name="Google Shape;407;p30"/>
          <p:cNvCxnSpPr/>
          <p:nvPr/>
        </p:nvCxnSpPr>
        <p:spPr>
          <a:xfrm>
            <a:off x="8324850" y="3556000"/>
            <a:ext cx="0" cy="126900"/>
          </a:xfrm>
          <a:prstGeom prst="straightConnector1">
            <a:avLst/>
          </a:prstGeom>
          <a:noFill/>
          <a:ln cap="flat" cmpd="sng" w="12700">
            <a:solidFill>
              <a:srgbClr val="596C82"/>
            </a:solidFill>
            <a:prstDash val="solid"/>
            <a:round/>
            <a:headEnd len="med" w="med" type="none"/>
            <a:tailEnd len="med" w="med" type="none"/>
          </a:ln>
        </p:spPr>
      </p:cxnSp>
      <p:cxnSp>
        <p:nvCxnSpPr>
          <p:cNvPr id="408" name="Google Shape;408;p30"/>
          <p:cNvCxnSpPr/>
          <p:nvPr/>
        </p:nvCxnSpPr>
        <p:spPr>
          <a:xfrm>
            <a:off x="8610600" y="2908300"/>
            <a:ext cx="0" cy="152400"/>
          </a:xfrm>
          <a:prstGeom prst="straightConnector1">
            <a:avLst/>
          </a:prstGeom>
          <a:noFill/>
          <a:ln cap="flat" cmpd="sng" w="19050">
            <a:solidFill>
              <a:srgbClr val="00808C"/>
            </a:solidFill>
            <a:prstDash val="solid"/>
            <a:round/>
            <a:headEnd len="med" w="med" type="none"/>
            <a:tailEnd len="med" w="med" type="none"/>
          </a:ln>
        </p:spPr>
      </p:cxnSp>
      <p:cxnSp>
        <p:nvCxnSpPr>
          <p:cNvPr id="409" name="Google Shape;409;p30"/>
          <p:cNvCxnSpPr/>
          <p:nvPr/>
        </p:nvCxnSpPr>
        <p:spPr>
          <a:xfrm>
            <a:off x="8610600" y="3556000"/>
            <a:ext cx="0" cy="126900"/>
          </a:xfrm>
          <a:prstGeom prst="straightConnector1">
            <a:avLst/>
          </a:prstGeom>
          <a:noFill/>
          <a:ln cap="flat" cmpd="sng" w="12700">
            <a:solidFill>
              <a:srgbClr val="596C82"/>
            </a:solidFill>
            <a:prstDash val="solid"/>
            <a:round/>
            <a:headEnd len="med" w="med" type="none"/>
            <a:tailEnd len="med" w="med" type="none"/>
          </a:ln>
        </p:spPr>
      </p:cxnSp>
      <p:sp>
        <p:nvSpPr>
          <p:cNvPr id="410" name="Google Shape;410;p30"/>
          <p:cNvSpPr txBox="1"/>
          <p:nvPr/>
        </p:nvSpPr>
        <p:spPr>
          <a:xfrm>
            <a:off x="3073400" y="2565400"/>
            <a:ext cx="5524500" cy="30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00808C"/>
                </a:solidFill>
              </a:rPr>
              <a:t>10 PD + physics steps per policy update</a:t>
            </a:r>
            <a:endParaRPr>
              <a:solidFill>
                <a:srgbClr val="00808C"/>
              </a:solidFill>
            </a:endParaRPr>
          </a:p>
        </p:txBody>
      </p:sp>
      <p:sp>
        <p:nvSpPr>
          <p:cNvPr id="411" name="Google Shape;411;p30"/>
          <p:cNvSpPr txBox="1"/>
          <p:nvPr/>
        </p:nvSpPr>
        <p:spPr>
          <a:xfrm>
            <a:off x="381000" y="4660900"/>
            <a:ext cx="50166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u="sng">
                <a:solidFill>
                  <a:srgbClr val="00808C"/>
                </a:solidFill>
                <a:hlinkClick r:id="rId3">
                  <a:extLst>
                    <a:ext uri="{A12FA001-AC4F-418D-AE19-62706E023703}">
                      <ahyp:hlinkClr val="tx"/>
                    </a:ext>
                  </a:extLst>
                </a:hlinkClick>
              </a:rPr>
              <a:t>Sources: Unitree G1 MuJoCo config + control loop</a:t>
            </a:r>
            <a:endParaRPr sz="800">
              <a:solidFill>
                <a:srgbClr val="00808C"/>
              </a:solidFill>
            </a:endParaRPr>
          </a:p>
        </p:txBody>
      </p:sp>
      <p:sp>
        <p:nvSpPr>
          <p:cNvPr id="412" name="Google Shape;412;p30"/>
          <p:cNvSpPr txBox="1"/>
          <p:nvPr/>
        </p:nvSpPr>
        <p:spPr>
          <a:xfrm>
            <a:off x="5092700" y="4660900"/>
            <a:ext cx="37212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00" u="sng">
                <a:solidFill>
                  <a:srgbClr val="00808C"/>
                </a:solidFill>
                <a:hlinkClick r:id="rId4">
                  <a:extLst>
                    <a:ext uri="{A12FA001-AC4F-418D-AE19-62706E023703}">
                      <ahyp:hlinkClr val="tx"/>
                    </a:ext>
                  </a:extLst>
                </a:hlinkClick>
              </a:rPr>
              <a:t>Hardware example: HUSKY (50 Hz policy / 500 Hz PD)</a:t>
            </a:r>
            <a:endParaRPr sz="800">
              <a:solidFill>
                <a:srgbClr val="00808C"/>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416" name="Shape 416"/>
        <p:cNvGrpSpPr/>
        <p:nvPr/>
      </p:nvGrpSpPr>
      <p:grpSpPr>
        <a:xfrm>
          <a:off x="0" y="0"/>
          <a:ext cx="0" cy="0"/>
          <a:chOff x="0" y="0"/>
          <a:chExt cx="0" cy="0"/>
        </a:xfrm>
      </p:grpSpPr>
      <p:sp>
        <p:nvSpPr>
          <p:cNvPr id="417" name="Google Shape;417;p31"/>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8" name="Google Shape;418;p31"/>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 name="Google Shape;419;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What can we train a robot to do?</a:t>
            </a:r>
            <a:endParaRPr b="1">
              <a:solidFill>
                <a:srgbClr val="15253B"/>
              </a:solidFill>
            </a:endParaRPr>
          </a:p>
        </p:txBody>
      </p:sp>
      <p:sp>
        <p:nvSpPr>
          <p:cNvPr id="420" name="Google Shape;420;p31"/>
          <p:cNvSpPr txBox="1"/>
          <p:nvPr/>
        </p:nvSpPr>
        <p:spPr>
          <a:xfrm>
            <a:off x="381000" y="1308100"/>
            <a:ext cx="4000500" cy="546000"/>
          </a:xfrm>
          <a:prstGeom prst="rect">
            <a:avLst/>
          </a:prstGeom>
          <a:solidFill>
            <a:srgbClr val="F4F4F4"/>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300">
                <a:solidFill>
                  <a:srgbClr val="222222"/>
                </a:solidFill>
              </a:rPr>
              <a:t>Locomotion</a:t>
            </a:r>
            <a:endParaRPr b="1" sz="2300">
              <a:solidFill>
                <a:srgbClr val="222222"/>
              </a:solidFill>
            </a:endParaRPr>
          </a:p>
        </p:txBody>
      </p:sp>
      <p:sp>
        <p:nvSpPr>
          <p:cNvPr id="421" name="Google Shape;421;p31"/>
          <p:cNvSpPr txBox="1"/>
          <p:nvPr/>
        </p:nvSpPr>
        <p:spPr>
          <a:xfrm>
            <a:off x="381000" y="1854200"/>
            <a:ext cx="4000500" cy="647700"/>
          </a:xfrm>
          <a:prstGeom prst="rect">
            <a:avLst/>
          </a:prstGeom>
          <a:solidFill>
            <a:srgbClr val="F4F4F4"/>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900">
                <a:solidFill>
                  <a:srgbClr val="5C5C5C"/>
                </a:solidFill>
              </a:rPr>
              <a:t>Follow speed and heading commands</a:t>
            </a:r>
            <a:endParaRPr sz="1900">
              <a:solidFill>
                <a:srgbClr val="5C5C5C"/>
              </a:solidFill>
            </a:endParaRPr>
          </a:p>
        </p:txBody>
      </p:sp>
      <p:sp>
        <p:nvSpPr>
          <p:cNvPr id="422" name="Google Shape;422;p31"/>
          <p:cNvSpPr txBox="1"/>
          <p:nvPr/>
        </p:nvSpPr>
        <p:spPr>
          <a:xfrm>
            <a:off x="4762500" y="1308100"/>
            <a:ext cx="4000500" cy="546000"/>
          </a:xfrm>
          <a:prstGeom prst="rect">
            <a:avLst/>
          </a:prstGeom>
          <a:solidFill>
            <a:srgbClr val="F4F4F4"/>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300">
                <a:solidFill>
                  <a:srgbClr val="222222"/>
                </a:solidFill>
              </a:rPr>
              <a:t>Manipulation</a:t>
            </a:r>
            <a:endParaRPr b="1" sz="2300">
              <a:solidFill>
                <a:srgbClr val="222222"/>
              </a:solidFill>
            </a:endParaRPr>
          </a:p>
        </p:txBody>
      </p:sp>
      <p:sp>
        <p:nvSpPr>
          <p:cNvPr id="423" name="Google Shape;423;p31"/>
          <p:cNvSpPr txBox="1"/>
          <p:nvPr/>
        </p:nvSpPr>
        <p:spPr>
          <a:xfrm>
            <a:off x="4762500" y="1854200"/>
            <a:ext cx="4000500" cy="647700"/>
          </a:xfrm>
          <a:prstGeom prst="rect">
            <a:avLst/>
          </a:prstGeom>
          <a:solidFill>
            <a:srgbClr val="F4F4F4"/>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900">
                <a:solidFill>
                  <a:srgbClr val="5C5C5C"/>
                </a:solidFill>
              </a:rPr>
              <a:t>Grasp, insert, or place objects</a:t>
            </a:r>
            <a:endParaRPr sz="1900">
              <a:solidFill>
                <a:srgbClr val="5C5C5C"/>
              </a:solidFill>
            </a:endParaRPr>
          </a:p>
        </p:txBody>
      </p:sp>
      <p:sp>
        <p:nvSpPr>
          <p:cNvPr id="424" name="Google Shape;424;p31"/>
          <p:cNvSpPr txBox="1"/>
          <p:nvPr/>
        </p:nvSpPr>
        <p:spPr>
          <a:xfrm>
            <a:off x="381000" y="2730500"/>
            <a:ext cx="4000500" cy="546000"/>
          </a:xfrm>
          <a:prstGeom prst="rect">
            <a:avLst/>
          </a:prstGeom>
          <a:solidFill>
            <a:srgbClr val="F4F4F4"/>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300">
                <a:solidFill>
                  <a:srgbClr val="222222"/>
                </a:solidFill>
              </a:rPr>
              <a:t>Recovery</a:t>
            </a:r>
            <a:endParaRPr b="1" sz="2300">
              <a:solidFill>
                <a:srgbClr val="222222"/>
              </a:solidFill>
            </a:endParaRPr>
          </a:p>
        </p:txBody>
      </p:sp>
      <p:sp>
        <p:nvSpPr>
          <p:cNvPr id="425" name="Google Shape;425;p31"/>
          <p:cNvSpPr txBox="1"/>
          <p:nvPr/>
        </p:nvSpPr>
        <p:spPr>
          <a:xfrm>
            <a:off x="381000" y="3276600"/>
            <a:ext cx="4000500" cy="647700"/>
          </a:xfrm>
          <a:prstGeom prst="rect">
            <a:avLst/>
          </a:prstGeom>
          <a:solidFill>
            <a:srgbClr val="F4F4F4"/>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900">
                <a:solidFill>
                  <a:srgbClr val="5C5C5C"/>
                </a:solidFill>
              </a:rPr>
              <a:t>Return to standing after a fall</a:t>
            </a:r>
            <a:endParaRPr sz="1900">
              <a:solidFill>
                <a:srgbClr val="5C5C5C"/>
              </a:solidFill>
            </a:endParaRPr>
          </a:p>
        </p:txBody>
      </p:sp>
      <p:sp>
        <p:nvSpPr>
          <p:cNvPr id="426" name="Google Shape;426;p31"/>
          <p:cNvSpPr txBox="1"/>
          <p:nvPr/>
        </p:nvSpPr>
        <p:spPr>
          <a:xfrm>
            <a:off x="4762500" y="2730500"/>
            <a:ext cx="4000500" cy="546000"/>
          </a:xfrm>
          <a:prstGeom prst="rect">
            <a:avLst/>
          </a:prstGeom>
          <a:solidFill>
            <a:srgbClr val="EEF3FC"/>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300">
                <a:solidFill>
                  <a:srgbClr val="4285F4"/>
                </a:solidFill>
              </a:rPr>
              <a:t>Motion tracking</a:t>
            </a:r>
            <a:endParaRPr b="1" sz="2300">
              <a:solidFill>
                <a:srgbClr val="4285F4"/>
              </a:solidFill>
            </a:endParaRPr>
          </a:p>
        </p:txBody>
      </p:sp>
      <p:sp>
        <p:nvSpPr>
          <p:cNvPr id="427" name="Google Shape;427;p31"/>
          <p:cNvSpPr txBox="1"/>
          <p:nvPr/>
        </p:nvSpPr>
        <p:spPr>
          <a:xfrm>
            <a:off x="4762500" y="3276600"/>
            <a:ext cx="4000500" cy="647700"/>
          </a:xfrm>
          <a:prstGeom prst="rect">
            <a:avLst/>
          </a:prstGeom>
          <a:solidFill>
            <a:srgbClr val="EEF3FC"/>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900">
                <a:solidFill>
                  <a:srgbClr val="5C5C5C"/>
                </a:solidFill>
              </a:rPr>
              <a:t>Follow a reference body motion</a:t>
            </a:r>
            <a:endParaRPr sz="1900">
              <a:solidFill>
                <a:srgbClr val="5C5C5C"/>
              </a:solidFill>
            </a:endParaRPr>
          </a:p>
        </p:txBody>
      </p:sp>
      <p:sp>
        <p:nvSpPr>
          <p:cNvPr id="428" name="Google Shape;428;p31"/>
          <p:cNvSpPr txBox="1"/>
          <p:nvPr/>
        </p:nvSpPr>
        <p:spPr>
          <a:xfrm>
            <a:off x="381000" y="4305300"/>
            <a:ext cx="8382000" cy="4698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45CA7"/>
                </a:solidFill>
              </a:rPr>
              <a:t>Our entry point: motion tracking.</a:t>
            </a:r>
            <a:endParaRPr b="1" sz="2100">
              <a:solidFill>
                <a:srgbClr val="245CA7"/>
              </a:solidFill>
            </a:endParaRPr>
          </a:p>
        </p:txBody>
      </p:sp>
      <p:sp>
        <p:nvSpPr>
          <p:cNvPr id="429" name="Google Shape;429;p31"/>
          <p:cNvSpPr txBox="1"/>
          <p:nvPr/>
        </p:nvSpPr>
        <p:spPr>
          <a:xfrm>
            <a:off x="381000" y="4889500"/>
            <a:ext cx="8382000" cy="1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596C82"/>
                </a:solidFill>
              </a:rPr>
              <a:t>LEARNING MOTION   /   19 OF 51</a:t>
            </a:r>
            <a:endParaRPr sz="900">
              <a:solidFill>
                <a:srgbClr val="596C8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53B"/>
        </a:solidFill>
      </p:bgPr>
    </p:bg>
    <p:spTree>
      <p:nvGrpSpPr>
        <p:cNvPr id="433" name="Shape 433"/>
        <p:cNvGrpSpPr/>
        <p:nvPr/>
      </p:nvGrpSpPr>
      <p:grpSpPr>
        <a:xfrm>
          <a:off x="0" y="0"/>
          <a:ext cx="0" cy="0"/>
          <a:chOff x="0" y="0"/>
          <a:chExt cx="0" cy="0"/>
        </a:xfrm>
      </p:grpSpPr>
      <p:sp>
        <p:nvSpPr>
          <p:cNvPr id="434" name="Google Shape;434;p32"/>
          <p:cNvSpPr/>
          <p:nvPr/>
        </p:nvSpPr>
        <p:spPr>
          <a:xfrm>
            <a:off x="0" y="4838700"/>
            <a:ext cx="9144000" cy="304800"/>
          </a:xfrm>
          <a:prstGeom prst="rect">
            <a:avLst/>
          </a:prstGeom>
          <a:solidFill>
            <a:srgbClr val="1020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32"/>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6" name="Google Shape;436;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7FAFF"/>
                </a:solidFill>
              </a:rPr>
              <a:t>Motion tracking: a gateway from human data</a:t>
            </a:r>
            <a:endParaRPr b="1">
              <a:solidFill>
                <a:srgbClr val="F7FAFF"/>
              </a:solidFill>
            </a:endParaRPr>
          </a:p>
        </p:txBody>
      </p:sp>
      <p:sp>
        <p:nvSpPr>
          <p:cNvPr id="437" name="Google Shape;437;p32"/>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B6C9DF"/>
                </a:solidFill>
              </a:rPr>
              <a:t>LEARNING MOTION   /   20 OF 51</a:t>
            </a:r>
            <a:endParaRPr sz="900">
              <a:solidFill>
                <a:srgbClr val="B6C9DF"/>
              </a:solidFill>
            </a:endParaRPr>
          </a:p>
        </p:txBody>
      </p:sp>
      <p:sp>
        <p:nvSpPr>
          <p:cNvPr id="438" name="Google Shape;438;p32"/>
          <p:cNvSpPr txBox="1"/>
          <p:nvPr/>
        </p:nvSpPr>
        <p:spPr>
          <a:xfrm>
            <a:off x="381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8BBFFF"/>
                </a:solidFill>
              </a:rPr>
              <a:t>1. HUMAN DATA</a:t>
            </a:r>
            <a:endParaRPr b="1" sz="1500">
              <a:solidFill>
                <a:srgbClr val="8BBFFF"/>
              </a:solidFill>
            </a:endParaRPr>
          </a:p>
        </p:txBody>
      </p:sp>
      <p:sp>
        <p:nvSpPr>
          <p:cNvPr id="439" name="Google Shape;439;p32"/>
          <p:cNvSpPr txBox="1"/>
          <p:nvPr/>
        </p:nvSpPr>
        <p:spPr>
          <a:xfrm>
            <a:off x="381000" y="2159000"/>
            <a:ext cx="2565300" cy="175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E7EEF7"/>
                </a:solidFill>
              </a:rPr>
              <a:t>People provide rich examples of coordinated movement.</a:t>
            </a:r>
            <a:endParaRPr sz="2100">
              <a:solidFill>
                <a:srgbClr val="E7EEF7"/>
              </a:solidFill>
            </a:endParaRPr>
          </a:p>
        </p:txBody>
      </p:sp>
      <p:sp>
        <p:nvSpPr>
          <p:cNvPr id="440" name="Google Shape;440;p32"/>
          <p:cNvSpPr txBox="1"/>
          <p:nvPr/>
        </p:nvSpPr>
        <p:spPr>
          <a:xfrm>
            <a:off x="3302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8BBFFF"/>
                </a:solidFill>
              </a:rPr>
              <a:t>2. MOTION TRACKING</a:t>
            </a:r>
            <a:endParaRPr b="1" sz="1500">
              <a:solidFill>
                <a:srgbClr val="8BBFFF"/>
              </a:solidFill>
            </a:endParaRPr>
          </a:p>
        </p:txBody>
      </p:sp>
      <p:sp>
        <p:nvSpPr>
          <p:cNvPr id="441" name="Google Shape;441;p32"/>
          <p:cNvSpPr txBox="1"/>
          <p:nvPr/>
        </p:nvSpPr>
        <p:spPr>
          <a:xfrm>
            <a:off x="3302000" y="2159000"/>
            <a:ext cx="2565300" cy="175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E7EEF7"/>
                </a:solidFill>
              </a:rPr>
              <a:t>Learn to execute those motions with the robot’s body.</a:t>
            </a:r>
            <a:endParaRPr sz="2100">
              <a:solidFill>
                <a:srgbClr val="E7EEF7"/>
              </a:solidFill>
            </a:endParaRPr>
          </a:p>
        </p:txBody>
      </p:sp>
      <p:sp>
        <p:nvSpPr>
          <p:cNvPr id="442" name="Google Shape;442;p32"/>
          <p:cNvSpPr txBox="1"/>
          <p:nvPr/>
        </p:nvSpPr>
        <p:spPr>
          <a:xfrm>
            <a:off x="6223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8BBFFF"/>
                </a:solidFill>
              </a:rPr>
              <a:t>3. REUSE AND ADAPT</a:t>
            </a:r>
            <a:endParaRPr b="1" sz="1500">
              <a:solidFill>
                <a:srgbClr val="8BBFFF"/>
              </a:solidFill>
            </a:endParaRPr>
          </a:p>
        </p:txBody>
      </p:sp>
      <p:sp>
        <p:nvSpPr>
          <p:cNvPr id="443" name="Google Shape;443;p32"/>
          <p:cNvSpPr txBox="1"/>
          <p:nvPr/>
        </p:nvSpPr>
        <p:spPr>
          <a:xfrm>
            <a:off x="6223000" y="2159000"/>
            <a:ext cx="2565300" cy="175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E7EEF7"/>
                </a:solidFill>
              </a:rPr>
              <a:t>Build a motion prior, then optimize for new tasks in simulation.</a:t>
            </a:r>
            <a:endParaRPr sz="2100">
              <a:solidFill>
                <a:srgbClr val="E7EEF7"/>
              </a:solidFill>
            </a:endParaRPr>
          </a:p>
        </p:txBody>
      </p:sp>
      <p:sp>
        <p:nvSpPr>
          <p:cNvPr id="444" name="Google Shape;444;p32"/>
          <p:cNvSpPr txBox="1"/>
          <p:nvPr/>
        </p:nvSpPr>
        <p:spPr>
          <a:xfrm>
            <a:off x="381000" y="4102100"/>
            <a:ext cx="8382000" cy="507900"/>
          </a:xfrm>
          <a:prstGeom prst="rect">
            <a:avLst/>
          </a:prstGeom>
          <a:solidFill>
            <a:srgbClr val="223D5E"/>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800">
                <a:solidFill>
                  <a:srgbClr val="B7D7FF"/>
                </a:solidFill>
              </a:rPr>
              <a:t>Learn how to move from demonstrations before learning new tasks.</a:t>
            </a:r>
            <a:endParaRPr b="1" sz="1800">
              <a:solidFill>
                <a:srgbClr val="B7D7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448" name="Shape 448"/>
        <p:cNvGrpSpPr/>
        <p:nvPr/>
      </p:nvGrpSpPr>
      <p:grpSpPr>
        <a:xfrm>
          <a:off x="0" y="0"/>
          <a:ext cx="0" cy="0"/>
          <a:chOff x="0" y="0"/>
          <a:chExt cx="0" cy="0"/>
        </a:xfrm>
      </p:grpSpPr>
      <p:sp>
        <p:nvSpPr>
          <p:cNvPr id="449" name="Google Shape;449;p33"/>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p33"/>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1" name="Google Shape;451;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Design the interface before training</a:t>
            </a:r>
            <a:endParaRPr b="1">
              <a:solidFill>
                <a:srgbClr val="15253B"/>
              </a:solidFill>
            </a:endParaRPr>
          </a:p>
        </p:txBody>
      </p:sp>
      <p:sp>
        <p:nvSpPr>
          <p:cNvPr id="452" name="Google Shape;452;p33"/>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LEARNING MOTION   /   21 OF 51</a:t>
            </a:r>
            <a:endParaRPr sz="900">
              <a:solidFill>
                <a:srgbClr val="596C82"/>
              </a:solidFill>
            </a:endParaRPr>
          </a:p>
        </p:txBody>
      </p:sp>
      <p:sp>
        <p:nvSpPr>
          <p:cNvPr id="453" name="Google Shape;453;p33"/>
          <p:cNvSpPr txBox="1"/>
          <p:nvPr/>
        </p:nvSpPr>
        <p:spPr>
          <a:xfrm>
            <a:off x="381000" y="1358900"/>
            <a:ext cx="8255100" cy="990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2700">
                <a:solidFill>
                  <a:srgbClr val="4285F4"/>
                </a:solidFill>
              </a:rPr>
              <a:t>Make the humanoid follow a walking reference.</a:t>
            </a:r>
            <a:endParaRPr b="1" sz="2700">
              <a:solidFill>
                <a:srgbClr val="4285F4"/>
              </a:solidFill>
            </a:endParaRPr>
          </a:p>
        </p:txBody>
      </p:sp>
      <p:sp>
        <p:nvSpPr>
          <p:cNvPr id="454" name="Google Shape;454;p33"/>
          <p:cNvSpPr txBox="1"/>
          <p:nvPr/>
        </p:nvSpPr>
        <p:spPr>
          <a:xfrm>
            <a:off x="508000" y="2451100"/>
            <a:ext cx="81279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12121"/>
                </a:solidFill>
              </a:rPr>
              <a:t>1   What can the actor observe?</a:t>
            </a:r>
            <a:endParaRPr sz="2000">
              <a:solidFill>
                <a:srgbClr val="212121"/>
              </a:solidFill>
            </a:endParaRPr>
          </a:p>
        </p:txBody>
      </p:sp>
      <p:sp>
        <p:nvSpPr>
          <p:cNvPr id="455" name="Google Shape;455;p33"/>
          <p:cNvSpPr txBox="1"/>
          <p:nvPr/>
        </p:nvSpPr>
        <p:spPr>
          <a:xfrm>
            <a:off x="508000" y="2933700"/>
            <a:ext cx="81279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12121"/>
                </a:solidFill>
              </a:rPr>
              <a:t>2   What should one action mean?</a:t>
            </a:r>
            <a:endParaRPr sz="2000">
              <a:solidFill>
                <a:srgbClr val="212121"/>
              </a:solidFill>
            </a:endParaRPr>
          </a:p>
        </p:txBody>
      </p:sp>
      <p:sp>
        <p:nvSpPr>
          <p:cNvPr id="456" name="Google Shape;456;p33"/>
          <p:cNvSpPr txBox="1"/>
          <p:nvPr/>
        </p:nvSpPr>
        <p:spPr>
          <a:xfrm>
            <a:off x="508000" y="3416300"/>
            <a:ext cx="81279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12121"/>
                </a:solidFill>
              </a:rPr>
              <a:t>3   What changes if the sensors arrive late?</a:t>
            </a:r>
            <a:endParaRPr sz="2000">
              <a:solidFill>
                <a:srgbClr val="21212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460" name="Shape 460"/>
        <p:cNvGrpSpPr/>
        <p:nvPr/>
      </p:nvGrpSpPr>
      <p:grpSpPr>
        <a:xfrm>
          <a:off x="0" y="0"/>
          <a:ext cx="0" cy="0"/>
          <a:chOff x="0" y="0"/>
          <a:chExt cx="0" cy="0"/>
        </a:xfrm>
      </p:grpSpPr>
      <p:sp>
        <p:nvSpPr>
          <p:cNvPr id="461" name="Google Shape;461;p34"/>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34"/>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One practical design</a:t>
            </a:r>
            <a:endParaRPr b="1">
              <a:solidFill>
                <a:srgbClr val="15253B"/>
              </a:solidFill>
            </a:endParaRPr>
          </a:p>
        </p:txBody>
      </p:sp>
      <p:sp>
        <p:nvSpPr>
          <p:cNvPr id="464" name="Google Shape;464;p34"/>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LEARNING MOTION   /   22 OF 51</a:t>
            </a:r>
            <a:endParaRPr sz="900">
              <a:solidFill>
                <a:srgbClr val="596C82"/>
              </a:solidFill>
            </a:endParaRPr>
          </a:p>
        </p:txBody>
      </p:sp>
      <p:sp>
        <p:nvSpPr>
          <p:cNvPr id="465" name="Google Shape;465;p34"/>
          <p:cNvSpPr txBox="1"/>
          <p:nvPr/>
        </p:nvSpPr>
        <p:spPr>
          <a:xfrm>
            <a:off x="381000" y="1358900"/>
            <a:ext cx="8255100" cy="990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2700">
                <a:solidFill>
                  <a:srgbClr val="4285F4"/>
                </a:solidFill>
              </a:rPr>
              <a:t>A feedback policy with PD joint targets.</a:t>
            </a:r>
            <a:endParaRPr b="1" sz="2700">
              <a:solidFill>
                <a:srgbClr val="4285F4"/>
              </a:solidFill>
            </a:endParaRPr>
          </a:p>
        </p:txBody>
      </p:sp>
      <p:sp>
        <p:nvSpPr>
          <p:cNvPr id="466" name="Google Shape;466;p34"/>
          <p:cNvSpPr txBox="1"/>
          <p:nvPr/>
        </p:nvSpPr>
        <p:spPr>
          <a:xfrm>
            <a:off x="508000" y="2451100"/>
            <a:ext cx="81279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12121"/>
                </a:solidFill>
              </a:rPr>
              <a:t>1   Joint angles/speeds, IMU, history, reference goals.</a:t>
            </a:r>
            <a:endParaRPr sz="2000">
              <a:solidFill>
                <a:srgbClr val="212121"/>
              </a:solidFill>
            </a:endParaRPr>
          </a:p>
        </p:txBody>
      </p:sp>
      <p:sp>
        <p:nvSpPr>
          <p:cNvPr id="467" name="Google Shape;467;p34"/>
          <p:cNvSpPr txBox="1"/>
          <p:nvPr/>
        </p:nvSpPr>
        <p:spPr>
          <a:xfrm>
            <a:off x="508000" y="2933700"/>
            <a:ext cx="81279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12121"/>
                </a:solidFill>
              </a:rPr>
              <a:t>2   Joint-position targets for a PD controller.</a:t>
            </a:r>
            <a:endParaRPr sz="2000">
              <a:solidFill>
                <a:srgbClr val="212121"/>
              </a:solidFill>
            </a:endParaRPr>
          </a:p>
        </p:txBody>
      </p:sp>
      <p:sp>
        <p:nvSpPr>
          <p:cNvPr id="468" name="Google Shape;468;p34"/>
          <p:cNvSpPr txBox="1"/>
          <p:nvPr/>
        </p:nvSpPr>
        <p:spPr>
          <a:xfrm>
            <a:off x="508000" y="3416300"/>
            <a:ext cx="81279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12121"/>
                </a:solidFill>
              </a:rPr>
              <a:t>3   Use recent history and train with realistic delays.</a:t>
            </a:r>
            <a:endParaRPr sz="2000">
              <a:solidFill>
                <a:srgbClr val="21212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472" name="Shape 472"/>
        <p:cNvGrpSpPr/>
        <p:nvPr/>
      </p:nvGrpSpPr>
      <p:grpSpPr>
        <a:xfrm>
          <a:off x="0" y="0"/>
          <a:ext cx="0" cy="0"/>
          <a:chOff x="0" y="0"/>
          <a:chExt cx="0" cy="0"/>
        </a:xfrm>
      </p:grpSpPr>
      <p:sp>
        <p:nvSpPr>
          <p:cNvPr id="473" name="Google Shape;473;p35"/>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35"/>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A motion clip is a goal, not a controller</a:t>
            </a:r>
            <a:endParaRPr b="1">
              <a:solidFill>
                <a:srgbClr val="15253B"/>
              </a:solidFill>
            </a:endParaRPr>
          </a:p>
        </p:txBody>
      </p:sp>
      <p:sp>
        <p:nvSpPr>
          <p:cNvPr id="476" name="Google Shape;476;p35"/>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LEARNING MOTION   /   23 OF 51</a:t>
            </a:r>
            <a:endParaRPr sz="900">
              <a:solidFill>
                <a:srgbClr val="596C82"/>
              </a:solidFill>
            </a:endParaRPr>
          </a:p>
        </p:txBody>
      </p:sp>
      <p:sp>
        <p:nvSpPr>
          <p:cNvPr id="477" name="Google Shape;477;p35"/>
          <p:cNvSpPr txBox="1"/>
          <p:nvPr/>
        </p:nvSpPr>
        <p:spPr>
          <a:xfrm>
            <a:off x="355600" y="20320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Motion clip</a:t>
            </a:r>
            <a:endParaRPr sz="1900">
              <a:solidFill>
                <a:srgbClr val="212121"/>
              </a:solidFill>
            </a:endParaRPr>
          </a:p>
        </p:txBody>
      </p:sp>
      <p:cxnSp>
        <p:nvCxnSpPr>
          <p:cNvPr id="478" name="Google Shape;478;p35"/>
          <p:cNvCxnSpPr/>
          <p:nvPr/>
        </p:nvCxnSpPr>
        <p:spPr>
          <a:xfrm>
            <a:off x="2235200" y="2476500"/>
            <a:ext cx="266700" cy="0"/>
          </a:xfrm>
          <a:prstGeom prst="straightConnector1">
            <a:avLst/>
          </a:prstGeom>
          <a:noFill/>
          <a:ln cap="flat" cmpd="sng" w="25400">
            <a:solidFill>
              <a:srgbClr val="4285F4"/>
            </a:solidFill>
            <a:prstDash val="solid"/>
            <a:round/>
            <a:headEnd len="med" w="med" type="none"/>
            <a:tailEnd len="med" w="med" type="triangle"/>
          </a:ln>
        </p:spPr>
      </p:cxnSp>
      <p:sp>
        <p:nvSpPr>
          <p:cNvPr id="479" name="Google Shape;479;p35"/>
          <p:cNvSpPr txBox="1"/>
          <p:nvPr/>
        </p:nvSpPr>
        <p:spPr>
          <a:xfrm>
            <a:off x="2552700" y="20320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Retargeting</a:t>
            </a:r>
            <a:endParaRPr sz="1900">
              <a:solidFill>
                <a:srgbClr val="212121"/>
              </a:solidFill>
            </a:endParaRPr>
          </a:p>
        </p:txBody>
      </p:sp>
      <p:cxnSp>
        <p:nvCxnSpPr>
          <p:cNvPr id="480" name="Google Shape;480;p35"/>
          <p:cNvCxnSpPr/>
          <p:nvPr/>
        </p:nvCxnSpPr>
        <p:spPr>
          <a:xfrm>
            <a:off x="4432300" y="2476500"/>
            <a:ext cx="266700" cy="0"/>
          </a:xfrm>
          <a:prstGeom prst="straightConnector1">
            <a:avLst/>
          </a:prstGeom>
          <a:noFill/>
          <a:ln cap="flat" cmpd="sng" w="25400">
            <a:solidFill>
              <a:srgbClr val="4285F4"/>
            </a:solidFill>
            <a:prstDash val="solid"/>
            <a:round/>
            <a:headEnd len="med" w="med" type="none"/>
            <a:tailEnd len="med" w="med" type="triangle"/>
          </a:ln>
        </p:spPr>
      </p:cxnSp>
      <p:sp>
        <p:nvSpPr>
          <p:cNvPr id="481" name="Google Shape;481;p35"/>
          <p:cNvSpPr txBox="1"/>
          <p:nvPr/>
        </p:nvSpPr>
        <p:spPr>
          <a:xfrm>
            <a:off x="4749800" y="20320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Robot reference</a:t>
            </a:r>
            <a:endParaRPr sz="1900">
              <a:solidFill>
                <a:srgbClr val="212121"/>
              </a:solidFill>
            </a:endParaRPr>
          </a:p>
        </p:txBody>
      </p:sp>
      <p:cxnSp>
        <p:nvCxnSpPr>
          <p:cNvPr id="482" name="Google Shape;482;p35"/>
          <p:cNvCxnSpPr/>
          <p:nvPr/>
        </p:nvCxnSpPr>
        <p:spPr>
          <a:xfrm>
            <a:off x="6629400" y="2476500"/>
            <a:ext cx="266700" cy="0"/>
          </a:xfrm>
          <a:prstGeom prst="straightConnector1">
            <a:avLst/>
          </a:prstGeom>
          <a:noFill/>
          <a:ln cap="flat" cmpd="sng" w="25400">
            <a:solidFill>
              <a:srgbClr val="4285F4"/>
            </a:solidFill>
            <a:prstDash val="solid"/>
            <a:round/>
            <a:headEnd len="med" w="med" type="none"/>
            <a:tailEnd len="med" w="med" type="triangle"/>
          </a:ln>
        </p:spPr>
      </p:cxnSp>
      <p:sp>
        <p:nvSpPr>
          <p:cNvPr id="483" name="Google Shape;483;p35"/>
          <p:cNvSpPr txBox="1"/>
          <p:nvPr/>
        </p:nvSpPr>
        <p:spPr>
          <a:xfrm>
            <a:off x="6946900" y="20320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Tracking policy</a:t>
            </a:r>
            <a:endParaRPr sz="1900">
              <a:solidFill>
                <a:srgbClr val="212121"/>
              </a:solidFill>
            </a:endParaRPr>
          </a:p>
        </p:txBody>
      </p:sp>
      <p:sp>
        <p:nvSpPr>
          <p:cNvPr id="484" name="Google Shape;484;p35"/>
          <p:cNvSpPr txBox="1"/>
          <p:nvPr/>
        </p:nvSpPr>
        <p:spPr>
          <a:xfrm>
            <a:off x="825500" y="3187700"/>
            <a:ext cx="3619500" cy="4953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5C5C5C"/>
                </a:solidFill>
              </a:rPr>
              <a:t>Describe the motion</a:t>
            </a:r>
            <a:endParaRPr sz="1900">
              <a:solidFill>
                <a:srgbClr val="5C5C5C"/>
              </a:solidFill>
            </a:endParaRPr>
          </a:p>
        </p:txBody>
      </p:sp>
      <p:sp>
        <p:nvSpPr>
          <p:cNvPr id="485" name="Google Shape;485;p35"/>
          <p:cNvSpPr txBox="1"/>
          <p:nvPr/>
        </p:nvSpPr>
        <p:spPr>
          <a:xfrm>
            <a:off x="4876800" y="3187700"/>
            <a:ext cx="3721200" cy="4953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 sz="1900">
                <a:solidFill>
                  <a:srgbClr val="4285F4"/>
                </a:solidFill>
              </a:rPr>
              <a:t>Find actions that realize it</a:t>
            </a:r>
            <a:endParaRPr b="1" sz="1900">
              <a:solidFill>
                <a:srgbClr val="4285F4"/>
              </a:solidFill>
            </a:endParaRPr>
          </a:p>
        </p:txBody>
      </p:sp>
      <p:sp>
        <p:nvSpPr>
          <p:cNvPr id="486" name="Google Shape;486;p35"/>
          <p:cNvSpPr txBox="1"/>
          <p:nvPr/>
        </p:nvSpPr>
        <p:spPr>
          <a:xfrm>
            <a:off x="381000" y="4102100"/>
            <a:ext cx="8382000" cy="5079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800">
                <a:solidFill>
                  <a:srgbClr val="245CA7"/>
                </a:solidFill>
              </a:rPr>
              <a:t>Kinematic compatibility does not guarantee physical feasibility.</a:t>
            </a:r>
            <a:endParaRPr b="1" sz="1800">
              <a:solidFill>
                <a:srgbClr val="245CA7"/>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490" name="Shape 490"/>
        <p:cNvGrpSpPr/>
        <p:nvPr/>
      </p:nvGrpSpPr>
      <p:grpSpPr>
        <a:xfrm>
          <a:off x="0" y="0"/>
          <a:ext cx="0" cy="0"/>
          <a:chOff x="0" y="0"/>
          <a:chExt cx="0" cy="0"/>
        </a:xfrm>
      </p:grpSpPr>
      <p:sp>
        <p:nvSpPr>
          <p:cNvPr id="491" name="Google Shape;491;p36"/>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2" name="Google Shape;492;p36"/>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3" name="Google Shape;493;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Motion tracking: turn pose error into reward</a:t>
            </a:r>
            <a:endParaRPr b="1">
              <a:solidFill>
                <a:srgbClr val="15253B"/>
              </a:solidFill>
            </a:endParaRPr>
          </a:p>
        </p:txBody>
      </p:sp>
      <p:sp>
        <p:nvSpPr>
          <p:cNvPr id="494" name="Google Shape;494;p36"/>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LEARNING MOTION   /   24 OF 51</a:t>
            </a:r>
            <a:endParaRPr sz="900">
              <a:solidFill>
                <a:srgbClr val="596C82"/>
              </a:solidFill>
            </a:endParaRPr>
          </a:p>
        </p:txBody>
      </p:sp>
      <p:sp>
        <p:nvSpPr>
          <p:cNvPr id="495" name="Google Shape;495;p36"/>
          <p:cNvSpPr txBox="1"/>
          <p:nvPr/>
        </p:nvSpPr>
        <p:spPr>
          <a:xfrm>
            <a:off x="5575300" y="1219200"/>
            <a:ext cx="3276600" cy="7239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 sz="1900">
                <a:solidFill>
                  <a:srgbClr val="4285F4"/>
                </a:solidFill>
              </a:rPr>
              <a:t>An L2-style objective,</a:t>
            </a:r>
            <a:endParaRPr b="1" sz="1900">
              <a:solidFill>
                <a:srgbClr val="4285F4"/>
              </a:solidFill>
            </a:endParaRPr>
          </a:p>
          <a:p>
            <a:pPr indent="0" lvl="0" marL="0" marR="0" rtl="0" algn="ctr">
              <a:lnSpc>
                <a:spcPct val="115000"/>
              </a:lnSpc>
              <a:spcBef>
                <a:spcPts val="0"/>
              </a:spcBef>
              <a:spcAft>
                <a:spcPts val="0"/>
              </a:spcAft>
              <a:buNone/>
            </a:pPr>
            <a:r>
              <a:rPr b="1" lang="en" sz="1900">
                <a:solidFill>
                  <a:srgbClr val="4285F4"/>
                </a:solidFill>
              </a:rPr>
              <a:t>used as an RL reward.</a:t>
            </a:r>
            <a:endParaRPr b="1" sz="1900">
              <a:solidFill>
                <a:srgbClr val="4285F4"/>
              </a:solidFill>
            </a:endParaRPr>
          </a:p>
        </p:txBody>
      </p:sp>
      <p:sp>
        <p:nvSpPr>
          <p:cNvPr id="496" name="Google Shape;496;p36"/>
          <p:cNvSpPr txBox="1"/>
          <p:nvPr/>
        </p:nvSpPr>
        <p:spPr>
          <a:xfrm>
            <a:off x="5575300" y="2082800"/>
            <a:ext cx="32766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2100">
                <a:solidFill>
                  <a:srgbClr val="15253B"/>
                </a:solidFill>
              </a:rPr>
              <a:t>error = ‖p − p*‖²</a:t>
            </a:r>
            <a:endParaRPr sz="2100">
              <a:solidFill>
                <a:srgbClr val="15253B"/>
              </a:solidFill>
            </a:endParaRPr>
          </a:p>
        </p:txBody>
      </p:sp>
      <p:sp>
        <p:nvSpPr>
          <p:cNvPr id="497" name="Google Shape;497;p36"/>
          <p:cNvSpPr txBox="1"/>
          <p:nvPr/>
        </p:nvSpPr>
        <p:spPr>
          <a:xfrm>
            <a:off x="5575300" y="2628900"/>
            <a:ext cx="32766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900">
                <a:solidFill>
                  <a:srgbClr val="15253B"/>
                </a:solidFill>
              </a:rPr>
              <a:t>reward = exp(−k · error)</a:t>
            </a:r>
            <a:endParaRPr sz="1900">
              <a:solidFill>
                <a:srgbClr val="15253B"/>
              </a:solidFill>
            </a:endParaRPr>
          </a:p>
        </p:txBody>
      </p:sp>
      <p:sp>
        <p:nvSpPr>
          <p:cNvPr id="498" name="Google Shape;498;p36"/>
          <p:cNvSpPr txBox="1"/>
          <p:nvPr/>
        </p:nvSpPr>
        <p:spPr>
          <a:xfrm>
            <a:off x="381000" y="4241800"/>
            <a:ext cx="8382000" cy="4572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800">
                <a:solidFill>
                  <a:srgbClr val="2459A3"/>
                </a:solidFill>
              </a:rPr>
              <a:t>RL learns actions that reproduce the motion through physics.</a:t>
            </a:r>
            <a:endParaRPr b="1" sz="1800">
              <a:solidFill>
                <a:srgbClr val="2459A3"/>
              </a:solidFill>
            </a:endParaRPr>
          </a:p>
        </p:txBody>
      </p:sp>
      <p:sp>
        <p:nvSpPr>
          <p:cNvPr id="499" name="Google Shape;499;p36"/>
          <p:cNvSpPr txBox="1"/>
          <p:nvPr/>
        </p:nvSpPr>
        <p:spPr>
          <a:xfrm>
            <a:off x="5575300" y="3263900"/>
            <a:ext cx="3276600" cy="71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300">
                <a:solidFill>
                  <a:srgbClr val="15253B"/>
                </a:solidFill>
              </a:rPr>
              <a:t>p: body positions    p*: reference</a:t>
            </a:r>
            <a:endParaRPr sz="1300">
              <a:solidFill>
                <a:srgbClr val="15253B"/>
              </a:solidFill>
            </a:endParaRPr>
          </a:p>
          <a:p>
            <a:pPr indent="0" lvl="0" marL="0" marR="0" rtl="0" algn="l">
              <a:lnSpc>
                <a:spcPct val="100000"/>
              </a:lnSpc>
              <a:spcBef>
                <a:spcPts val="0"/>
              </a:spcBef>
              <a:spcAft>
                <a:spcPts val="0"/>
              </a:spcAft>
              <a:buNone/>
            </a:pPr>
            <a:r>
              <a:rPr lang="en" sz="1300">
                <a:solidFill>
                  <a:srgbClr val="15253B"/>
                </a:solidFill>
              </a:rPr>
              <a:t>Smaller error → higher reward</a:t>
            </a:r>
            <a:endParaRPr sz="1300">
              <a:solidFill>
                <a:srgbClr val="15253B"/>
              </a:solidFill>
            </a:endParaRPr>
          </a:p>
        </p:txBody>
      </p:sp>
      <p:pic>
        <p:nvPicPr>
          <p:cNvPr id="500" name="Google Shape;500;p36"/>
          <p:cNvPicPr preferRelativeResize="0"/>
          <p:nvPr/>
        </p:nvPicPr>
        <p:blipFill>
          <a:blip r:embed="rId3">
            <a:alphaModFix/>
          </a:blip>
          <a:stretch>
            <a:fillRect/>
          </a:stretch>
        </p:blipFill>
        <p:spPr>
          <a:xfrm>
            <a:off x="381000" y="1308100"/>
            <a:ext cx="4978400" cy="28003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504" name="Shape 504"/>
        <p:cNvGrpSpPr/>
        <p:nvPr/>
      </p:nvGrpSpPr>
      <p:grpSpPr>
        <a:xfrm>
          <a:off x="0" y="0"/>
          <a:ext cx="0" cy="0"/>
          <a:chOff x="0" y="0"/>
          <a:chExt cx="0" cy="0"/>
        </a:xfrm>
      </p:grpSpPr>
      <p:sp>
        <p:nvSpPr>
          <p:cNvPr id="505" name="Google Shape;505;p37"/>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37"/>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Reward the behavior you actually want</a:t>
            </a:r>
            <a:endParaRPr b="1">
              <a:solidFill>
                <a:srgbClr val="15253B"/>
              </a:solidFill>
            </a:endParaRPr>
          </a:p>
        </p:txBody>
      </p:sp>
      <p:sp>
        <p:nvSpPr>
          <p:cNvPr id="508" name="Google Shape;508;p37"/>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LEARNING MOTION   /   25 OF 51</a:t>
            </a:r>
            <a:endParaRPr sz="900">
              <a:solidFill>
                <a:srgbClr val="596C82"/>
              </a:solidFill>
            </a:endParaRPr>
          </a:p>
        </p:txBody>
      </p:sp>
      <p:sp>
        <p:nvSpPr>
          <p:cNvPr id="509" name="Google Shape;509;p37"/>
          <p:cNvSpPr txBox="1"/>
          <p:nvPr/>
        </p:nvSpPr>
        <p:spPr>
          <a:xfrm>
            <a:off x="381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MATCH MOTION</a:t>
            </a:r>
            <a:endParaRPr b="1" sz="1500">
              <a:solidFill>
                <a:srgbClr val="4285F4"/>
              </a:solidFill>
            </a:endParaRPr>
          </a:p>
        </p:txBody>
      </p:sp>
      <p:sp>
        <p:nvSpPr>
          <p:cNvPr id="510" name="Google Shape;510;p37"/>
          <p:cNvSpPr txBox="1"/>
          <p:nvPr/>
        </p:nvSpPr>
        <p:spPr>
          <a:xfrm>
            <a:off x="381000" y="2171700"/>
            <a:ext cx="2565300" cy="139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212121"/>
                </a:solidFill>
              </a:rPr>
              <a:t>Body poses</a:t>
            </a:r>
            <a:endParaRPr sz="2100">
              <a:solidFill>
                <a:srgbClr val="212121"/>
              </a:solidFill>
            </a:endParaRPr>
          </a:p>
          <a:p>
            <a:pPr indent="0" lvl="0" marL="0" marR="0" rtl="0" algn="l">
              <a:lnSpc>
                <a:spcPct val="115000"/>
              </a:lnSpc>
              <a:spcBef>
                <a:spcPts val="0"/>
              </a:spcBef>
              <a:spcAft>
                <a:spcPts val="0"/>
              </a:spcAft>
              <a:buNone/>
            </a:pPr>
            <a:r>
              <a:rPr lang="en" sz="2100">
                <a:solidFill>
                  <a:srgbClr val="212121"/>
                </a:solidFill>
              </a:rPr>
              <a:t>and velocities</a:t>
            </a:r>
            <a:endParaRPr sz="2100">
              <a:solidFill>
                <a:srgbClr val="212121"/>
              </a:solidFill>
            </a:endParaRPr>
          </a:p>
        </p:txBody>
      </p:sp>
      <p:sp>
        <p:nvSpPr>
          <p:cNvPr id="511" name="Google Shape;511;p37"/>
          <p:cNvSpPr txBox="1"/>
          <p:nvPr/>
        </p:nvSpPr>
        <p:spPr>
          <a:xfrm>
            <a:off x="3302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CONTROL QUALITY</a:t>
            </a:r>
            <a:endParaRPr b="1" sz="1500">
              <a:solidFill>
                <a:srgbClr val="4285F4"/>
              </a:solidFill>
            </a:endParaRPr>
          </a:p>
        </p:txBody>
      </p:sp>
      <p:sp>
        <p:nvSpPr>
          <p:cNvPr id="512" name="Google Shape;512;p37"/>
          <p:cNvSpPr txBox="1"/>
          <p:nvPr/>
        </p:nvSpPr>
        <p:spPr>
          <a:xfrm>
            <a:off x="3302000" y="2171700"/>
            <a:ext cx="2565300" cy="139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212121"/>
                </a:solidFill>
              </a:rPr>
              <a:t>Avoid abrupt</a:t>
            </a:r>
            <a:endParaRPr sz="2100">
              <a:solidFill>
                <a:srgbClr val="212121"/>
              </a:solidFill>
            </a:endParaRPr>
          </a:p>
          <a:p>
            <a:pPr indent="0" lvl="0" marL="0" marR="0" rtl="0" algn="l">
              <a:lnSpc>
                <a:spcPct val="115000"/>
              </a:lnSpc>
              <a:spcBef>
                <a:spcPts val="0"/>
              </a:spcBef>
              <a:spcAft>
                <a:spcPts val="0"/>
              </a:spcAft>
              <a:buNone/>
            </a:pPr>
            <a:r>
              <a:rPr lang="en" sz="2100">
                <a:solidFill>
                  <a:srgbClr val="212121"/>
                </a:solidFill>
              </a:rPr>
              <a:t>action changes</a:t>
            </a:r>
            <a:endParaRPr sz="2100">
              <a:solidFill>
                <a:srgbClr val="212121"/>
              </a:solidFill>
            </a:endParaRPr>
          </a:p>
        </p:txBody>
      </p:sp>
      <p:sp>
        <p:nvSpPr>
          <p:cNvPr id="513" name="Google Shape;513;p37"/>
          <p:cNvSpPr txBox="1"/>
          <p:nvPr/>
        </p:nvSpPr>
        <p:spPr>
          <a:xfrm>
            <a:off x="6223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RESPECT LIMITS</a:t>
            </a:r>
            <a:endParaRPr b="1" sz="1500">
              <a:solidFill>
                <a:srgbClr val="4285F4"/>
              </a:solidFill>
            </a:endParaRPr>
          </a:p>
        </p:txBody>
      </p:sp>
      <p:sp>
        <p:nvSpPr>
          <p:cNvPr id="514" name="Google Shape;514;p37"/>
          <p:cNvSpPr txBox="1"/>
          <p:nvPr/>
        </p:nvSpPr>
        <p:spPr>
          <a:xfrm>
            <a:off x="6223000" y="2171700"/>
            <a:ext cx="2565300" cy="139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212121"/>
                </a:solidFill>
              </a:rPr>
              <a:t>Penalize motion near</a:t>
            </a:r>
            <a:endParaRPr sz="2100">
              <a:solidFill>
                <a:srgbClr val="212121"/>
              </a:solidFill>
            </a:endParaRPr>
          </a:p>
          <a:p>
            <a:pPr indent="0" lvl="0" marL="0" marR="0" rtl="0" algn="l">
              <a:lnSpc>
                <a:spcPct val="115000"/>
              </a:lnSpc>
              <a:spcBef>
                <a:spcPts val="0"/>
              </a:spcBef>
              <a:spcAft>
                <a:spcPts val="0"/>
              </a:spcAft>
              <a:buNone/>
            </a:pPr>
            <a:r>
              <a:rPr lang="en" sz="2100">
                <a:solidFill>
                  <a:srgbClr val="212121"/>
                </a:solidFill>
              </a:rPr>
              <a:t>joint limits</a:t>
            </a:r>
            <a:endParaRPr sz="2100">
              <a:solidFill>
                <a:srgbClr val="212121"/>
              </a:solidFill>
            </a:endParaRPr>
          </a:p>
        </p:txBody>
      </p:sp>
      <p:sp>
        <p:nvSpPr>
          <p:cNvPr id="515" name="Google Shape;515;p37"/>
          <p:cNvSpPr txBox="1"/>
          <p:nvPr/>
        </p:nvSpPr>
        <p:spPr>
          <a:xfrm>
            <a:off x="381000" y="4102100"/>
            <a:ext cx="8382000" cy="5079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800">
                <a:solidFill>
                  <a:srgbClr val="245CA7"/>
                </a:solidFill>
              </a:rPr>
              <a:t>In robotics, good regularization is key to success</a:t>
            </a:r>
            <a:endParaRPr b="1" sz="1800">
              <a:solidFill>
                <a:srgbClr val="245CA7"/>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519" name="Shape 519"/>
        <p:cNvGrpSpPr/>
        <p:nvPr/>
      </p:nvGrpSpPr>
      <p:grpSpPr>
        <a:xfrm>
          <a:off x="0" y="0"/>
          <a:ext cx="0" cy="0"/>
          <a:chOff x="0" y="0"/>
          <a:chExt cx="0" cy="0"/>
        </a:xfrm>
      </p:grpSpPr>
      <p:sp>
        <p:nvSpPr>
          <p:cNvPr id="520" name="Google Shape;520;p38"/>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38"/>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Resets decide which states are learned</a:t>
            </a:r>
            <a:endParaRPr b="1">
              <a:solidFill>
                <a:srgbClr val="15253B"/>
              </a:solidFill>
            </a:endParaRPr>
          </a:p>
        </p:txBody>
      </p:sp>
      <p:sp>
        <p:nvSpPr>
          <p:cNvPr id="523" name="Google Shape;523;p38"/>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LEARNING MOTION   /   26 OF 51</a:t>
            </a:r>
            <a:endParaRPr sz="900">
              <a:solidFill>
                <a:srgbClr val="596C82"/>
              </a:solidFill>
            </a:endParaRPr>
          </a:p>
        </p:txBody>
      </p:sp>
      <p:sp>
        <p:nvSpPr>
          <p:cNvPr id="524" name="Google Shape;524;p38"/>
          <p:cNvSpPr txBox="1"/>
          <p:nvPr/>
        </p:nvSpPr>
        <p:spPr>
          <a:xfrm>
            <a:off x="355600" y="18923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Sample a point</a:t>
            </a:r>
            <a:endParaRPr sz="1900">
              <a:solidFill>
                <a:srgbClr val="212121"/>
              </a:solidFill>
            </a:endParaRPr>
          </a:p>
          <a:p>
            <a:pPr indent="0" lvl="0" marL="0" marR="0" rtl="0" algn="ctr">
              <a:lnSpc>
                <a:spcPct val="115000"/>
              </a:lnSpc>
              <a:spcBef>
                <a:spcPts val="0"/>
              </a:spcBef>
              <a:spcAft>
                <a:spcPts val="0"/>
              </a:spcAft>
              <a:buNone/>
            </a:pPr>
            <a:r>
              <a:rPr lang="en" sz="1900">
                <a:solidFill>
                  <a:srgbClr val="212121"/>
                </a:solidFill>
              </a:rPr>
              <a:t>in the motion</a:t>
            </a:r>
            <a:endParaRPr sz="1900">
              <a:solidFill>
                <a:srgbClr val="212121"/>
              </a:solidFill>
            </a:endParaRPr>
          </a:p>
        </p:txBody>
      </p:sp>
      <p:cxnSp>
        <p:nvCxnSpPr>
          <p:cNvPr id="525" name="Google Shape;525;p38"/>
          <p:cNvCxnSpPr/>
          <p:nvPr/>
        </p:nvCxnSpPr>
        <p:spPr>
          <a:xfrm>
            <a:off x="2235200" y="2336800"/>
            <a:ext cx="266700" cy="0"/>
          </a:xfrm>
          <a:prstGeom prst="straightConnector1">
            <a:avLst/>
          </a:prstGeom>
          <a:noFill/>
          <a:ln cap="flat" cmpd="sng" w="25400">
            <a:solidFill>
              <a:srgbClr val="4285F4"/>
            </a:solidFill>
            <a:prstDash val="solid"/>
            <a:round/>
            <a:headEnd len="med" w="med" type="none"/>
            <a:tailEnd len="med" w="med" type="triangle"/>
          </a:ln>
        </p:spPr>
      </p:cxnSp>
      <p:sp>
        <p:nvSpPr>
          <p:cNvPr id="526" name="Google Shape;526;p38"/>
          <p:cNvSpPr txBox="1"/>
          <p:nvPr/>
        </p:nvSpPr>
        <p:spPr>
          <a:xfrm>
            <a:off x="2552700" y="18923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Initialize the</a:t>
            </a:r>
            <a:endParaRPr sz="1900">
              <a:solidFill>
                <a:srgbClr val="212121"/>
              </a:solidFill>
            </a:endParaRPr>
          </a:p>
          <a:p>
            <a:pPr indent="0" lvl="0" marL="0" marR="0" rtl="0" algn="ctr">
              <a:lnSpc>
                <a:spcPct val="115000"/>
              </a:lnSpc>
              <a:spcBef>
                <a:spcPts val="0"/>
              </a:spcBef>
              <a:spcAft>
                <a:spcPts val="0"/>
              </a:spcAft>
              <a:buNone/>
            </a:pPr>
            <a:r>
              <a:rPr lang="en" sz="1900">
                <a:solidFill>
                  <a:srgbClr val="212121"/>
                </a:solidFill>
              </a:rPr>
              <a:t>robot state</a:t>
            </a:r>
            <a:endParaRPr sz="1900">
              <a:solidFill>
                <a:srgbClr val="212121"/>
              </a:solidFill>
            </a:endParaRPr>
          </a:p>
        </p:txBody>
      </p:sp>
      <p:cxnSp>
        <p:nvCxnSpPr>
          <p:cNvPr id="527" name="Google Shape;527;p38"/>
          <p:cNvCxnSpPr/>
          <p:nvPr/>
        </p:nvCxnSpPr>
        <p:spPr>
          <a:xfrm>
            <a:off x="4432300" y="2336800"/>
            <a:ext cx="266700" cy="0"/>
          </a:xfrm>
          <a:prstGeom prst="straightConnector1">
            <a:avLst/>
          </a:prstGeom>
          <a:noFill/>
          <a:ln cap="flat" cmpd="sng" w="25400">
            <a:solidFill>
              <a:srgbClr val="4285F4"/>
            </a:solidFill>
            <a:prstDash val="solid"/>
            <a:round/>
            <a:headEnd len="med" w="med" type="none"/>
            <a:tailEnd len="med" w="med" type="triangle"/>
          </a:ln>
        </p:spPr>
      </p:cxnSp>
      <p:sp>
        <p:nvSpPr>
          <p:cNvPr id="528" name="Google Shape;528;p38"/>
          <p:cNvSpPr txBox="1"/>
          <p:nvPr/>
        </p:nvSpPr>
        <p:spPr>
          <a:xfrm>
            <a:off x="4749800" y="18923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Act and</a:t>
            </a:r>
            <a:endParaRPr sz="1900">
              <a:solidFill>
                <a:srgbClr val="212121"/>
              </a:solidFill>
            </a:endParaRPr>
          </a:p>
          <a:p>
            <a:pPr indent="0" lvl="0" marL="0" marR="0" rtl="0" algn="ctr">
              <a:lnSpc>
                <a:spcPct val="115000"/>
              </a:lnSpc>
              <a:spcBef>
                <a:spcPts val="0"/>
              </a:spcBef>
              <a:spcAft>
                <a:spcPts val="0"/>
              </a:spcAft>
              <a:buNone/>
            </a:pPr>
            <a:r>
              <a:rPr lang="en" sz="1900">
                <a:solidFill>
                  <a:srgbClr val="212121"/>
                </a:solidFill>
              </a:rPr>
              <a:t>observe</a:t>
            </a:r>
            <a:endParaRPr sz="1900">
              <a:solidFill>
                <a:srgbClr val="212121"/>
              </a:solidFill>
            </a:endParaRPr>
          </a:p>
        </p:txBody>
      </p:sp>
      <p:cxnSp>
        <p:nvCxnSpPr>
          <p:cNvPr id="529" name="Google Shape;529;p38"/>
          <p:cNvCxnSpPr/>
          <p:nvPr/>
        </p:nvCxnSpPr>
        <p:spPr>
          <a:xfrm>
            <a:off x="6629400" y="2336800"/>
            <a:ext cx="266700" cy="0"/>
          </a:xfrm>
          <a:prstGeom prst="straightConnector1">
            <a:avLst/>
          </a:prstGeom>
          <a:noFill/>
          <a:ln cap="flat" cmpd="sng" w="25400">
            <a:solidFill>
              <a:srgbClr val="4285F4"/>
            </a:solidFill>
            <a:prstDash val="solid"/>
            <a:round/>
            <a:headEnd len="med" w="med" type="none"/>
            <a:tailEnd len="med" w="med" type="triangle"/>
          </a:ln>
        </p:spPr>
      </p:cxnSp>
      <p:sp>
        <p:nvSpPr>
          <p:cNvPr id="530" name="Google Shape;530;p38"/>
          <p:cNvSpPr txBox="1"/>
          <p:nvPr/>
        </p:nvSpPr>
        <p:spPr>
          <a:xfrm>
            <a:off x="6946900" y="18923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Continue</a:t>
            </a:r>
            <a:endParaRPr sz="1900">
              <a:solidFill>
                <a:srgbClr val="212121"/>
              </a:solidFill>
            </a:endParaRPr>
          </a:p>
          <a:p>
            <a:pPr indent="0" lvl="0" marL="0" marR="0" rtl="0" algn="ctr">
              <a:lnSpc>
                <a:spcPct val="115000"/>
              </a:lnSpc>
              <a:spcBef>
                <a:spcPts val="0"/>
              </a:spcBef>
              <a:spcAft>
                <a:spcPts val="0"/>
              </a:spcAft>
              <a:buNone/>
            </a:pPr>
            <a:r>
              <a:rPr lang="en" sz="1900">
                <a:solidFill>
                  <a:srgbClr val="212121"/>
                </a:solidFill>
              </a:rPr>
              <a:t>or reset</a:t>
            </a:r>
            <a:endParaRPr sz="1900">
              <a:solidFill>
                <a:srgbClr val="212121"/>
              </a:solidFill>
            </a:endParaRPr>
          </a:p>
        </p:txBody>
      </p:sp>
      <p:sp>
        <p:nvSpPr>
          <p:cNvPr id="531" name="Google Shape;531;p38"/>
          <p:cNvSpPr txBox="1"/>
          <p:nvPr/>
        </p:nvSpPr>
        <p:spPr>
          <a:xfrm>
            <a:off x="381000" y="4102100"/>
            <a:ext cx="8382000" cy="5079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800">
                <a:solidFill>
                  <a:srgbClr val="245CA7"/>
                </a:solidFill>
              </a:rPr>
              <a:t>Recovery depends on the states and outcomes covered during training.</a:t>
            </a:r>
            <a:endParaRPr b="1" sz="1800">
              <a:solidFill>
                <a:srgbClr val="245CA7"/>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535" name="Shape 535"/>
        <p:cNvGrpSpPr/>
        <p:nvPr/>
      </p:nvGrpSpPr>
      <p:grpSpPr>
        <a:xfrm>
          <a:off x="0" y="0"/>
          <a:ext cx="0" cy="0"/>
          <a:chOff x="0" y="0"/>
          <a:chExt cx="0" cy="0"/>
        </a:xfrm>
      </p:grpSpPr>
      <p:sp>
        <p:nvSpPr>
          <p:cNvPr id="536" name="Google Shape;536;p39"/>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7" name="Google Shape;537;p39"/>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8" name="Google Shape;538;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Train with more information than you deploy</a:t>
            </a:r>
            <a:endParaRPr b="1">
              <a:solidFill>
                <a:srgbClr val="15253B"/>
              </a:solidFill>
            </a:endParaRPr>
          </a:p>
        </p:txBody>
      </p:sp>
      <p:sp>
        <p:nvSpPr>
          <p:cNvPr id="539" name="Google Shape;539;p39"/>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LEARNING MOTION   /   27 OF 51</a:t>
            </a:r>
            <a:endParaRPr sz="900">
              <a:solidFill>
                <a:srgbClr val="596C82"/>
              </a:solidFill>
            </a:endParaRPr>
          </a:p>
        </p:txBody>
      </p:sp>
      <p:sp>
        <p:nvSpPr>
          <p:cNvPr id="540" name="Google Shape;540;p39"/>
          <p:cNvSpPr txBox="1"/>
          <p:nvPr/>
        </p:nvSpPr>
        <p:spPr>
          <a:xfrm>
            <a:off x="444500" y="1739900"/>
            <a:ext cx="2552700" cy="8382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Robot observations</a:t>
            </a:r>
            <a:endParaRPr sz="1900">
              <a:solidFill>
                <a:srgbClr val="212121"/>
              </a:solidFill>
            </a:endParaRPr>
          </a:p>
        </p:txBody>
      </p:sp>
      <p:sp>
        <p:nvSpPr>
          <p:cNvPr id="541" name="Google Shape;541;p39"/>
          <p:cNvSpPr txBox="1"/>
          <p:nvPr/>
        </p:nvSpPr>
        <p:spPr>
          <a:xfrm>
            <a:off x="3644900" y="1739900"/>
            <a:ext cx="1752600" cy="8382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Actor</a:t>
            </a:r>
            <a:endParaRPr sz="1900">
              <a:solidFill>
                <a:srgbClr val="212121"/>
              </a:solidFill>
            </a:endParaRPr>
          </a:p>
        </p:txBody>
      </p:sp>
      <p:sp>
        <p:nvSpPr>
          <p:cNvPr id="542" name="Google Shape;542;p39"/>
          <p:cNvSpPr txBox="1"/>
          <p:nvPr/>
        </p:nvSpPr>
        <p:spPr>
          <a:xfrm>
            <a:off x="6057900" y="1739900"/>
            <a:ext cx="2552700" cy="8382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Actions</a:t>
            </a:r>
            <a:endParaRPr sz="1900">
              <a:solidFill>
                <a:srgbClr val="212121"/>
              </a:solidFill>
            </a:endParaRPr>
          </a:p>
        </p:txBody>
      </p:sp>
      <p:cxnSp>
        <p:nvCxnSpPr>
          <p:cNvPr id="543" name="Google Shape;543;p39"/>
          <p:cNvCxnSpPr/>
          <p:nvPr/>
        </p:nvCxnSpPr>
        <p:spPr>
          <a:xfrm>
            <a:off x="3048000" y="2159000"/>
            <a:ext cx="507900" cy="0"/>
          </a:xfrm>
          <a:prstGeom prst="straightConnector1">
            <a:avLst/>
          </a:prstGeom>
          <a:noFill/>
          <a:ln cap="flat" cmpd="sng" w="25400">
            <a:solidFill>
              <a:srgbClr val="4285F4"/>
            </a:solidFill>
            <a:prstDash val="solid"/>
            <a:round/>
            <a:headEnd len="med" w="med" type="none"/>
            <a:tailEnd len="med" w="med" type="triangle"/>
          </a:ln>
        </p:spPr>
      </p:cxnSp>
      <p:cxnSp>
        <p:nvCxnSpPr>
          <p:cNvPr id="544" name="Google Shape;544;p39"/>
          <p:cNvCxnSpPr/>
          <p:nvPr/>
        </p:nvCxnSpPr>
        <p:spPr>
          <a:xfrm>
            <a:off x="5461000" y="2159000"/>
            <a:ext cx="507900" cy="0"/>
          </a:xfrm>
          <a:prstGeom prst="straightConnector1">
            <a:avLst/>
          </a:prstGeom>
          <a:noFill/>
          <a:ln cap="flat" cmpd="sng" w="25400">
            <a:solidFill>
              <a:srgbClr val="4285F4"/>
            </a:solidFill>
            <a:prstDash val="solid"/>
            <a:round/>
            <a:headEnd len="med" w="med" type="none"/>
            <a:tailEnd len="med" w="med" type="triangle"/>
          </a:ln>
        </p:spPr>
      </p:cxnSp>
      <p:sp>
        <p:nvSpPr>
          <p:cNvPr id="545" name="Google Shape;545;p39"/>
          <p:cNvSpPr txBox="1"/>
          <p:nvPr/>
        </p:nvSpPr>
        <p:spPr>
          <a:xfrm>
            <a:off x="444500" y="3009900"/>
            <a:ext cx="2552700" cy="7113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Simulator state</a:t>
            </a:r>
            <a:endParaRPr sz="1900">
              <a:solidFill>
                <a:srgbClr val="212121"/>
              </a:solidFill>
            </a:endParaRPr>
          </a:p>
        </p:txBody>
      </p:sp>
      <p:sp>
        <p:nvSpPr>
          <p:cNvPr id="546" name="Google Shape;546;p39"/>
          <p:cNvSpPr txBox="1"/>
          <p:nvPr/>
        </p:nvSpPr>
        <p:spPr>
          <a:xfrm>
            <a:off x="3644900" y="3009900"/>
            <a:ext cx="1752600" cy="7113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Critic</a:t>
            </a:r>
            <a:endParaRPr sz="1900">
              <a:solidFill>
                <a:srgbClr val="212121"/>
              </a:solidFill>
            </a:endParaRPr>
          </a:p>
        </p:txBody>
      </p:sp>
      <p:sp>
        <p:nvSpPr>
          <p:cNvPr id="547" name="Google Shape;547;p39"/>
          <p:cNvSpPr txBox="1"/>
          <p:nvPr/>
        </p:nvSpPr>
        <p:spPr>
          <a:xfrm>
            <a:off x="6057900" y="3136900"/>
            <a:ext cx="2552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5C5C5C"/>
                </a:solidFill>
              </a:rPr>
              <a:t>Training only</a:t>
            </a:r>
            <a:endParaRPr sz="2000">
              <a:solidFill>
                <a:srgbClr val="5C5C5C"/>
              </a:solidFill>
            </a:endParaRPr>
          </a:p>
        </p:txBody>
      </p:sp>
      <p:cxnSp>
        <p:nvCxnSpPr>
          <p:cNvPr id="548" name="Google Shape;548;p39"/>
          <p:cNvCxnSpPr/>
          <p:nvPr/>
        </p:nvCxnSpPr>
        <p:spPr>
          <a:xfrm>
            <a:off x="3048000" y="3365500"/>
            <a:ext cx="507900" cy="0"/>
          </a:xfrm>
          <a:prstGeom prst="straightConnector1">
            <a:avLst/>
          </a:prstGeom>
          <a:noFill/>
          <a:ln cap="flat" cmpd="sng" w="25400">
            <a:solidFill>
              <a:srgbClr val="4285F4"/>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53B"/>
        </a:solidFill>
      </p:bgPr>
    </p:bg>
    <p:spTree>
      <p:nvGrpSpPr>
        <p:cNvPr id="552" name="Shape 552"/>
        <p:cNvGrpSpPr/>
        <p:nvPr/>
      </p:nvGrpSpPr>
      <p:grpSpPr>
        <a:xfrm>
          <a:off x="0" y="0"/>
          <a:ext cx="0" cy="0"/>
          <a:chOff x="0" y="0"/>
          <a:chExt cx="0" cy="0"/>
        </a:xfrm>
      </p:grpSpPr>
      <p:sp>
        <p:nvSpPr>
          <p:cNvPr id="553" name="Google Shape;553;p40"/>
          <p:cNvSpPr/>
          <p:nvPr/>
        </p:nvSpPr>
        <p:spPr>
          <a:xfrm>
            <a:off x="0" y="4838700"/>
            <a:ext cx="9144000" cy="304800"/>
          </a:xfrm>
          <a:prstGeom prst="rect">
            <a:avLst/>
          </a:prstGeom>
          <a:solidFill>
            <a:srgbClr val="1020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4" name="Google Shape;554;p40"/>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5" name="Google Shape;55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7FAFF"/>
                </a:solidFill>
              </a:rPr>
              <a:t>A trained controller can become a teacher</a:t>
            </a:r>
            <a:endParaRPr b="1">
              <a:solidFill>
                <a:srgbClr val="F7FAFF"/>
              </a:solidFill>
            </a:endParaRPr>
          </a:p>
        </p:txBody>
      </p:sp>
      <p:sp>
        <p:nvSpPr>
          <p:cNvPr id="556" name="Google Shape;556;p40"/>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B6C9DF"/>
                </a:solidFill>
              </a:rPr>
              <a:t>FROM TRACKING TO IMITATION   /   28 OF 51</a:t>
            </a:r>
            <a:endParaRPr sz="900">
              <a:solidFill>
                <a:srgbClr val="B6C9DF"/>
              </a:solidFill>
            </a:endParaRPr>
          </a:p>
        </p:txBody>
      </p:sp>
      <p:sp>
        <p:nvSpPr>
          <p:cNvPr id="557" name="Google Shape;557;p40"/>
          <p:cNvSpPr txBox="1"/>
          <p:nvPr/>
        </p:nvSpPr>
        <p:spPr>
          <a:xfrm>
            <a:off x="381000" y="1600200"/>
            <a:ext cx="40386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8BBFFF"/>
                </a:solidFill>
              </a:rPr>
              <a:t>SO FAR: LEARN BY RL</a:t>
            </a:r>
            <a:endParaRPr b="1" sz="1500">
              <a:solidFill>
                <a:srgbClr val="8BBFFF"/>
              </a:solidFill>
            </a:endParaRPr>
          </a:p>
        </p:txBody>
      </p:sp>
      <p:sp>
        <p:nvSpPr>
          <p:cNvPr id="558" name="Google Shape;558;p40"/>
          <p:cNvSpPr txBox="1"/>
          <p:nvPr/>
        </p:nvSpPr>
        <p:spPr>
          <a:xfrm>
            <a:off x="381000" y="2171700"/>
            <a:ext cx="4038600" cy="146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E7EEF7"/>
                </a:solidFill>
              </a:rPr>
              <a:t>Track human motion</a:t>
            </a:r>
            <a:endParaRPr sz="2100">
              <a:solidFill>
                <a:srgbClr val="E7EEF7"/>
              </a:solidFill>
            </a:endParaRPr>
          </a:p>
          <a:p>
            <a:pPr indent="0" lvl="0" marL="0" marR="0" rtl="0" algn="l">
              <a:lnSpc>
                <a:spcPct val="115000"/>
              </a:lnSpc>
              <a:spcBef>
                <a:spcPts val="0"/>
              </a:spcBef>
              <a:spcAft>
                <a:spcPts val="0"/>
              </a:spcAft>
              <a:buNone/>
            </a:pPr>
            <a:r>
              <a:rPr lang="en" sz="2100">
                <a:solidFill>
                  <a:srgbClr val="E7EEF7"/>
                </a:solidFill>
              </a:rPr>
              <a:t>using rewards in simulation.</a:t>
            </a:r>
            <a:endParaRPr sz="2100">
              <a:solidFill>
                <a:srgbClr val="E7EEF7"/>
              </a:solidFill>
            </a:endParaRPr>
          </a:p>
        </p:txBody>
      </p:sp>
      <p:sp>
        <p:nvSpPr>
          <p:cNvPr id="559" name="Google Shape;559;p40"/>
          <p:cNvSpPr txBox="1"/>
          <p:nvPr/>
        </p:nvSpPr>
        <p:spPr>
          <a:xfrm>
            <a:off x="4724400" y="1600200"/>
            <a:ext cx="40386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8BBFFF"/>
                </a:solidFill>
              </a:rPr>
              <a:t>NEXT: LEARN FROM ACTIONS</a:t>
            </a:r>
            <a:endParaRPr b="1" sz="1500">
              <a:solidFill>
                <a:srgbClr val="8BBFFF"/>
              </a:solidFill>
            </a:endParaRPr>
          </a:p>
        </p:txBody>
      </p:sp>
      <p:sp>
        <p:nvSpPr>
          <p:cNvPr id="560" name="Google Shape;560;p40"/>
          <p:cNvSpPr txBox="1"/>
          <p:nvPr/>
        </p:nvSpPr>
        <p:spPr>
          <a:xfrm>
            <a:off x="4724400" y="2171700"/>
            <a:ext cx="4038600" cy="146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E7EEF7"/>
                </a:solidFill>
              </a:rPr>
              <a:t>Use the tracker’s actions</a:t>
            </a:r>
            <a:endParaRPr sz="2100">
              <a:solidFill>
                <a:srgbClr val="E7EEF7"/>
              </a:solidFill>
            </a:endParaRPr>
          </a:p>
          <a:p>
            <a:pPr indent="0" lvl="0" marL="0" marR="0" rtl="0" algn="l">
              <a:lnSpc>
                <a:spcPct val="115000"/>
              </a:lnSpc>
              <a:spcBef>
                <a:spcPts val="0"/>
              </a:spcBef>
              <a:spcAft>
                <a:spcPts val="0"/>
              </a:spcAft>
              <a:buNone/>
            </a:pPr>
            <a:r>
              <a:rPr lang="en" sz="2100">
                <a:solidFill>
                  <a:srgbClr val="E7EEF7"/>
                </a:solidFill>
              </a:rPr>
              <a:t>to train a student policy.</a:t>
            </a:r>
            <a:endParaRPr sz="2100">
              <a:solidFill>
                <a:srgbClr val="E7EEF7"/>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564" name="Shape 564"/>
        <p:cNvGrpSpPr/>
        <p:nvPr/>
      </p:nvGrpSpPr>
      <p:grpSpPr>
        <a:xfrm>
          <a:off x="0" y="0"/>
          <a:ext cx="0" cy="0"/>
          <a:chOff x="0" y="0"/>
          <a:chExt cx="0" cy="0"/>
        </a:xfrm>
      </p:grpSpPr>
      <p:sp>
        <p:nvSpPr>
          <p:cNvPr id="565" name="Google Shape;565;p41"/>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6" name="Google Shape;566;p41"/>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7" name="Google Shape;567;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Can we just copy the trained controller?</a:t>
            </a:r>
            <a:endParaRPr b="1">
              <a:solidFill>
                <a:srgbClr val="15253B"/>
              </a:solidFill>
            </a:endParaRPr>
          </a:p>
        </p:txBody>
      </p:sp>
      <p:sp>
        <p:nvSpPr>
          <p:cNvPr id="568" name="Google Shape;568;p41"/>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BEHAVIOR CLONING   /   29 OF 51</a:t>
            </a:r>
            <a:endParaRPr sz="900">
              <a:solidFill>
                <a:srgbClr val="596C82"/>
              </a:solidFill>
            </a:endParaRPr>
          </a:p>
        </p:txBody>
      </p:sp>
      <p:sp>
        <p:nvSpPr>
          <p:cNvPr id="569" name="Google Shape;569;p41"/>
          <p:cNvSpPr txBox="1"/>
          <p:nvPr/>
        </p:nvSpPr>
        <p:spPr>
          <a:xfrm>
            <a:off x="355600" y="20066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Run expert</a:t>
            </a:r>
            <a:endParaRPr sz="1900">
              <a:solidFill>
                <a:srgbClr val="212121"/>
              </a:solidFill>
            </a:endParaRPr>
          </a:p>
        </p:txBody>
      </p:sp>
      <p:cxnSp>
        <p:nvCxnSpPr>
          <p:cNvPr id="570" name="Google Shape;570;p41"/>
          <p:cNvCxnSpPr/>
          <p:nvPr/>
        </p:nvCxnSpPr>
        <p:spPr>
          <a:xfrm>
            <a:off x="2235200" y="2451100"/>
            <a:ext cx="266700" cy="0"/>
          </a:xfrm>
          <a:prstGeom prst="straightConnector1">
            <a:avLst/>
          </a:prstGeom>
          <a:noFill/>
          <a:ln cap="flat" cmpd="sng" w="25400">
            <a:solidFill>
              <a:srgbClr val="4285F4"/>
            </a:solidFill>
            <a:prstDash val="solid"/>
            <a:round/>
            <a:headEnd len="med" w="med" type="none"/>
            <a:tailEnd len="med" w="med" type="triangle"/>
          </a:ln>
        </p:spPr>
      </p:cxnSp>
      <p:sp>
        <p:nvSpPr>
          <p:cNvPr id="571" name="Google Shape;571;p41"/>
          <p:cNvSpPr txBox="1"/>
          <p:nvPr/>
        </p:nvSpPr>
        <p:spPr>
          <a:xfrm>
            <a:off x="2552700" y="20066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Record</a:t>
            </a:r>
            <a:endParaRPr sz="1900">
              <a:solidFill>
                <a:srgbClr val="212121"/>
              </a:solidFill>
            </a:endParaRPr>
          </a:p>
          <a:p>
            <a:pPr indent="0" lvl="0" marL="0" marR="0" rtl="0" algn="ctr">
              <a:lnSpc>
                <a:spcPct val="115000"/>
              </a:lnSpc>
              <a:spcBef>
                <a:spcPts val="0"/>
              </a:spcBef>
              <a:spcAft>
                <a:spcPts val="0"/>
              </a:spcAft>
              <a:buNone/>
            </a:pPr>
            <a:r>
              <a:rPr lang="en" sz="1900">
                <a:solidFill>
                  <a:srgbClr val="212121"/>
                </a:solidFill>
              </a:rPr>
              <a:t>observations + actions</a:t>
            </a:r>
            <a:endParaRPr sz="1900">
              <a:solidFill>
                <a:srgbClr val="212121"/>
              </a:solidFill>
            </a:endParaRPr>
          </a:p>
        </p:txBody>
      </p:sp>
      <p:cxnSp>
        <p:nvCxnSpPr>
          <p:cNvPr id="572" name="Google Shape;572;p41"/>
          <p:cNvCxnSpPr/>
          <p:nvPr/>
        </p:nvCxnSpPr>
        <p:spPr>
          <a:xfrm>
            <a:off x="4432300" y="2451100"/>
            <a:ext cx="266700" cy="0"/>
          </a:xfrm>
          <a:prstGeom prst="straightConnector1">
            <a:avLst/>
          </a:prstGeom>
          <a:noFill/>
          <a:ln cap="flat" cmpd="sng" w="25400">
            <a:solidFill>
              <a:srgbClr val="4285F4"/>
            </a:solidFill>
            <a:prstDash val="solid"/>
            <a:round/>
            <a:headEnd len="med" w="med" type="none"/>
            <a:tailEnd len="med" w="med" type="triangle"/>
          </a:ln>
        </p:spPr>
      </p:cxnSp>
      <p:sp>
        <p:nvSpPr>
          <p:cNvPr id="573" name="Google Shape;573;p41"/>
          <p:cNvSpPr txBox="1"/>
          <p:nvPr/>
        </p:nvSpPr>
        <p:spPr>
          <a:xfrm>
            <a:off x="4749800" y="20066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Fit student</a:t>
            </a:r>
            <a:endParaRPr sz="1900">
              <a:solidFill>
                <a:srgbClr val="212121"/>
              </a:solidFill>
            </a:endParaRPr>
          </a:p>
        </p:txBody>
      </p:sp>
      <p:cxnSp>
        <p:nvCxnSpPr>
          <p:cNvPr id="574" name="Google Shape;574;p41"/>
          <p:cNvCxnSpPr/>
          <p:nvPr/>
        </p:nvCxnSpPr>
        <p:spPr>
          <a:xfrm>
            <a:off x="6629400" y="2451100"/>
            <a:ext cx="266700" cy="0"/>
          </a:xfrm>
          <a:prstGeom prst="straightConnector1">
            <a:avLst/>
          </a:prstGeom>
          <a:noFill/>
          <a:ln cap="flat" cmpd="sng" w="25400">
            <a:solidFill>
              <a:srgbClr val="4285F4"/>
            </a:solidFill>
            <a:prstDash val="solid"/>
            <a:round/>
            <a:headEnd len="med" w="med" type="none"/>
            <a:tailEnd len="med" w="med" type="triangle"/>
          </a:ln>
        </p:spPr>
      </p:cxnSp>
      <p:sp>
        <p:nvSpPr>
          <p:cNvPr id="575" name="Google Shape;575;p41"/>
          <p:cNvSpPr txBox="1"/>
          <p:nvPr/>
        </p:nvSpPr>
        <p:spPr>
          <a:xfrm>
            <a:off x="6946900" y="2006600"/>
            <a:ext cx="1841400" cy="888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Roll out student</a:t>
            </a:r>
            <a:endParaRPr sz="1900">
              <a:solidFill>
                <a:srgbClr val="212121"/>
              </a:solidFill>
            </a:endParaRPr>
          </a:p>
        </p:txBody>
      </p:sp>
      <p:sp>
        <p:nvSpPr>
          <p:cNvPr id="576" name="Google Shape;576;p41"/>
          <p:cNvSpPr txBox="1"/>
          <p:nvPr/>
        </p:nvSpPr>
        <p:spPr>
          <a:xfrm>
            <a:off x="381000" y="4102100"/>
            <a:ext cx="8382000" cy="5079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800">
                <a:solidFill>
                  <a:srgbClr val="245CA7"/>
                </a:solidFill>
              </a:rPr>
              <a:t>Matching actions in a dataset is not the same as succeeding in a rollout.</a:t>
            </a:r>
            <a:endParaRPr b="1" sz="1800">
              <a:solidFill>
                <a:srgbClr val="245CA7"/>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580" name="Shape 580"/>
        <p:cNvGrpSpPr/>
        <p:nvPr/>
      </p:nvGrpSpPr>
      <p:grpSpPr>
        <a:xfrm>
          <a:off x="0" y="0"/>
          <a:ext cx="0" cy="0"/>
          <a:chOff x="0" y="0"/>
          <a:chExt cx="0" cy="0"/>
        </a:xfrm>
      </p:grpSpPr>
      <p:sp>
        <p:nvSpPr>
          <p:cNvPr id="581" name="Google Shape;581;p42"/>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2" name="Google Shape;582;p42"/>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3" name="Google Shape;583;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Why naive behavior cloning can fail</a:t>
            </a:r>
            <a:endParaRPr b="1">
              <a:solidFill>
                <a:srgbClr val="15253B"/>
              </a:solidFill>
            </a:endParaRPr>
          </a:p>
        </p:txBody>
      </p:sp>
      <p:sp>
        <p:nvSpPr>
          <p:cNvPr id="584" name="Google Shape;584;p42"/>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BEHAVIOR CLONING   /   30 OF 51</a:t>
            </a:r>
            <a:endParaRPr sz="900">
              <a:solidFill>
                <a:srgbClr val="596C82"/>
              </a:solidFill>
            </a:endParaRPr>
          </a:p>
        </p:txBody>
      </p:sp>
      <p:sp>
        <p:nvSpPr>
          <p:cNvPr id="585" name="Google Shape;585;p42"/>
          <p:cNvSpPr txBox="1"/>
          <p:nvPr/>
        </p:nvSpPr>
        <p:spPr>
          <a:xfrm>
            <a:off x="508000" y="1333500"/>
            <a:ext cx="38100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2000">
                <a:solidFill>
                  <a:srgbClr val="4285F4"/>
                </a:solidFill>
              </a:rPr>
              <a:t>Demonstrated states</a:t>
            </a:r>
            <a:endParaRPr b="1" sz="2000">
              <a:solidFill>
                <a:srgbClr val="4285F4"/>
              </a:solidFill>
            </a:endParaRPr>
          </a:p>
        </p:txBody>
      </p:sp>
      <p:sp>
        <p:nvSpPr>
          <p:cNvPr id="586" name="Google Shape;586;p42"/>
          <p:cNvSpPr txBox="1"/>
          <p:nvPr/>
        </p:nvSpPr>
        <p:spPr>
          <a:xfrm>
            <a:off x="5549900" y="1333500"/>
            <a:ext cx="27939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2000">
                <a:solidFill>
                  <a:srgbClr val="D66E1A"/>
                </a:solidFill>
              </a:rPr>
              <a:t>After an imitation error</a:t>
            </a:r>
            <a:endParaRPr b="1" sz="2000">
              <a:solidFill>
                <a:srgbClr val="D66E1A"/>
              </a:solidFill>
            </a:endParaRPr>
          </a:p>
        </p:txBody>
      </p:sp>
      <p:sp>
        <p:nvSpPr>
          <p:cNvPr id="587" name="Google Shape;587;p42"/>
          <p:cNvSpPr txBox="1"/>
          <p:nvPr/>
        </p:nvSpPr>
        <p:spPr>
          <a:xfrm>
            <a:off x="635000" y="2362200"/>
            <a:ext cx="1066800" cy="507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state</a:t>
            </a:r>
            <a:endParaRPr sz="1900">
              <a:solidFill>
                <a:srgbClr val="212121"/>
              </a:solidFill>
            </a:endParaRPr>
          </a:p>
        </p:txBody>
      </p:sp>
      <p:cxnSp>
        <p:nvCxnSpPr>
          <p:cNvPr id="588" name="Google Shape;588;p42"/>
          <p:cNvCxnSpPr/>
          <p:nvPr/>
        </p:nvCxnSpPr>
        <p:spPr>
          <a:xfrm>
            <a:off x="1727200" y="2616200"/>
            <a:ext cx="457200" cy="0"/>
          </a:xfrm>
          <a:prstGeom prst="straightConnector1">
            <a:avLst/>
          </a:prstGeom>
          <a:noFill/>
          <a:ln cap="flat" cmpd="sng" w="25400">
            <a:solidFill>
              <a:srgbClr val="4285F4"/>
            </a:solidFill>
            <a:prstDash val="solid"/>
            <a:round/>
            <a:headEnd len="med" w="med" type="none"/>
            <a:tailEnd len="med" w="med" type="triangle"/>
          </a:ln>
        </p:spPr>
      </p:cxnSp>
      <p:sp>
        <p:nvSpPr>
          <p:cNvPr id="589" name="Google Shape;589;p42"/>
          <p:cNvSpPr txBox="1"/>
          <p:nvPr/>
        </p:nvSpPr>
        <p:spPr>
          <a:xfrm>
            <a:off x="2235200" y="2362200"/>
            <a:ext cx="1066800" cy="507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state</a:t>
            </a:r>
            <a:endParaRPr sz="1900">
              <a:solidFill>
                <a:srgbClr val="212121"/>
              </a:solidFill>
            </a:endParaRPr>
          </a:p>
        </p:txBody>
      </p:sp>
      <p:cxnSp>
        <p:nvCxnSpPr>
          <p:cNvPr id="590" name="Google Shape;590;p42"/>
          <p:cNvCxnSpPr/>
          <p:nvPr/>
        </p:nvCxnSpPr>
        <p:spPr>
          <a:xfrm>
            <a:off x="3327400" y="2616200"/>
            <a:ext cx="457200" cy="0"/>
          </a:xfrm>
          <a:prstGeom prst="straightConnector1">
            <a:avLst/>
          </a:prstGeom>
          <a:noFill/>
          <a:ln cap="flat" cmpd="sng" w="25400">
            <a:solidFill>
              <a:srgbClr val="4285F4"/>
            </a:solidFill>
            <a:prstDash val="solid"/>
            <a:round/>
            <a:headEnd len="med" w="med" type="none"/>
            <a:tailEnd len="med" w="med" type="triangle"/>
          </a:ln>
        </p:spPr>
      </p:cxnSp>
      <p:sp>
        <p:nvSpPr>
          <p:cNvPr id="591" name="Google Shape;591;p42"/>
          <p:cNvSpPr txBox="1"/>
          <p:nvPr/>
        </p:nvSpPr>
        <p:spPr>
          <a:xfrm>
            <a:off x="3835400" y="2362200"/>
            <a:ext cx="1066800" cy="507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state</a:t>
            </a:r>
            <a:endParaRPr sz="1900">
              <a:solidFill>
                <a:srgbClr val="212121"/>
              </a:solidFill>
            </a:endParaRPr>
          </a:p>
        </p:txBody>
      </p:sp>
      <p:cxnSp>
        <p:nvCxnSpPr>
          <p:cNvPr id="592" name="Google Shape;592;p42"/>
          <p:cNvCxnSpPr/>
          <p:nvPr/>
        </p:nvCxnSpPr>
        <p:spPr>
          <a:xfrm>
            <a:off x="4927600" y="2616200"/>
            <a:ext cx="457200" cy="0"/>
          </a:xfrm>
          <a:prstGeom prst="straightConnector1">
            <a:avLst/>
          </a:prstGeom>
          <a:noFill/>
          <a:ln cap="flat" cmpd="sng" w="25400">
            <a:solidFill>
              <a:srgbClr val="4285F4"/>
            </a:solidFill>
            <a:prstDash val="solid"/>
            <a:round/>
            <a:headEnd len="med" w="med" type="none"/>
            <a:tailEnd len="med" w="med" type="triangle"/>
          </a:ln>
        </p:spPr>
      </p:cxnSp>
      <p:sp>
        <p:nvSpPr>
          <p:cNvPr id="593" name="Google Shape;593;p42"/>
          <p:cNvSpPr txBox="1"/>
          <p:nvPr/>
        </p:nvSpPr>
        <p:spPr>
          <a:xfrm>
            <a:off x="5435600" y="2362200"/>
            <a:ext cx="1066800" cy="507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state</a:t>
            </a:r>
            <a:endParaRPr sz="1900">
              <a:solidFill>
                <a:srgbClr val="212121"/>
              </a:solidFill>
            </a:endParaRPr>
          </a:p>
        </p:txBody>
      </p:sp>
      <p:cxnSp>
        <p:nvCxnSpPr>
          <p:cNvPr id="594" name="Google Shape;594;p42"/>
          <p:cNvCxnSpPr/>
          <p:nvPr/>
        </p:nvCxnSpPr>
        <p:spPr>
          <a:xfrm>
            <a:off x="6527800" y="2616200"/>
            <a:ext cx="457200" cy="0"/>
          </a:xfrm>
          <a:prstGeom prst="straightConnector1">
            <a:avLst/>
          </a:prstGeom>
          <a:noFill/>
          <a:ln cap="flat" cmpd="sng" w="25400">
            <a:solidFill>
              <a:srgbClr val="4285F4"/>
            </a:solidFill>
            <a:prstDash val="solid"/>
            <a:round/>
            <a:headEnd len="med" w="med" type="none"/>
            <a:tailEnd len="med" w="med" type="triangle"/>
          </a:ln>
        </p:spPr>
      </p:cxnSp>
      <p:sp>
        <p:nvSpPr>
          <p:cNvPr id="595" name="Google Shape;595;p42"/>
          <p:cNvSpPr txBox="1"/>
          <p:nvPr/>
        </p:nvSpPr>
        <p:spPr>
          <a:xfrm>
            <a:off x="7035800" y="2362200"/>
            <a:ext cx="1066800" cy="5079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state</a:t>
            </a:r>
            <a:endParaRPr sz="1900">
              <a:solidFill>
                <a:srgbClr val="212121"/>
              </a:solidFill>
            </a:endParaRPr>
          </a:p>
        </p:txBody>
      </p:sp>
      <p:cxnSp>
        <p:nvCxnSpPr>
          <p:cNvPr id="596" name="Google Shape;596;p42"/>
          <p:cNvCxnSpPr/>
          <p:nvPr/>
        </p:nvCxnSpPr>
        <p:spPr>
          <a:xfrm>
            <a:off x="3568700" y="2540000"/>
            <a:ext cx="1511400" cy="673200"/>
          </a:xfrm>
          <a:prstGeom prst="straightConnector1">
            <a:avLst/>
          </a:prstGeom>
          <a:noFill/>
          <a:ln cap="flat" cmpd="sng" w="25400">
            <a:solidFill>
              <a:srgbClr val="D66E1A"/>
            </a:solidFill>
            <a:prstDash val="solid"/>
            <a:round/>
            <a:headEnd len="med" w="med" type="none"/>
            <a:tailEnd len="med" w="med" type="triangle"/>
          </a:ln>
        </p:spPr>
      </p:cxnSp>
      <p:cxnSp>
        <p:nvCxnSpPr>
          <p:cNvPr id="597" name="Google Shape;597;p42"/>
          <p:cNvCxnSpPr/>
          <p:nvPr/>
        </p:nvCxnSpPr>
        <p:spPr>
          <a:xfrm>
            <a:off x="5080000" y="3213100"/>
            <a:ext cx="1612800" cy="177900"/>
          </a:xfrm>
          <a:prstGeom prst="straightConnector1">
            <a:avLst/>
          </a:prstGeom>
          <a:noFill/>
          <a:ln cap="flat" cmpd="sng" w="25400">
            <a:solidFill>
              <a:srgbClr val="D66E1A"/>
            </a:solidFill>
            <a:prstDash val="solid"/>
            <a:round/>
            <a:headEnd len="med" w="med" type="none"/>
            <a:tailEnd len="med" w="med" type="triangle"/>
          </a:ln>
        </p:spPr>
      </p:cxnSp>
      <p:sp>
        <p:nvSpPr>
          <p:cNvPr id="598" name="Google Shape;598;p42"/>
          <p:cNvSpPr txBox="1"/>
          <p:nvPr/>
        </p:nvSpPr>
        <p:spPr>
          <a:xfrm>
            <a:off x="2247900" y="3568700"/>
            <a:ext cx="62229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900">
                <a:solidFill>
                  <a:srgbClr val="D66E1A"/>
                </a:solidFill>
              </a:rPr>
              <a:t>Unfamiliar states → larger errors → further drift</a:t>
            </a:r>
            <a:endParaRPr sz="1900">
              <a:solidFill>
                <a:srgbClr val="D66E1A"/>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602" name="Shape 602"/>
        <p:cNvGrpSpPr/>
        <p:nvPr/>
      </p:nvGrpSpPr>
      <p:grpSpPr>
        <a:xfrm>
          <a:off x="0" y="0"/>
          <a:ext cx="0" cy="0"/>
          <a:chOff x="0" y="0"/>
          <a:chExt cx="0" cy="0"/>
        </a:xfrm>
      </p:grpSpPr>
      <p:sp>
        <p:nvSpPr>
          <p:cNvPr id="603" name="Google Shape;603;p43"/>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4" name="Google Shape;604;p43"/>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5" name="Google Shape;605;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Teach the policy how to correct its mistakes</a:t>
            </a:r>
            <a:endParaRPr b="1">
              <a:solidFill>
                <a:srgbClr val="15253B"/>
              </a:solidFill>
            </a:endParaRPr>
          </a:p>
        </p:txBody>
      </p:sp>
      <p:sp>
        <p:nvSpPr>
          <p:cNvPr id="606" name="Google Shape;606;p43"/>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BEHAVIOR CLONING   /   31 OF 51</a:t>
            </a:r>
            <a:endParaRPr sz="900">
              <a:solidFill>
                <a:srgbClr val="596C82"/>
              </a:solidFill>
            </a:endParaRPr>
          </a:p>
        </p:txBody>
      </p:sp>
      <p:sp>
        <p:nvSpPr>
          <p:cNvPr id="607" name="Google Shape;607;p43"/>
          <p:cNvSpPr txBox="1"/>
          <p:nvPr/>
        </p:nvSpPr>
        <p:spPr>
          <a:xfrm>
            <a:off x="381000" y="1562100"/>
            <a:ext cx="40386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DAgger: STUDENT-DRIVEN</a:t>
            </a:r>
            <a:endParaRPr b="1" sz="1500">
              <a:solidFill>
                <a:srgbClr val="4285F4"/>
              </a:solidFill>
            </a:endParaRPr>
          </a:p>
        </p:txBody>
      </p:sp>
      <p:sp>
        <p:nvSpPr>
          <p:cNvPr id="608" name="Google Shape;608;p43"/>
          <p:cNvSpPr txBox="1"/>
          <p:nvPr/>
        </p:nvSpPr>
        <p:spPr>
          <a:xfrm>
            <a:off x="381000" y="2095500"/>
            <a:ext cx="4038600" cy="1841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212121"/>
                </a:solidFill>
              </a:rPr>
              <a:t>Roll out the student.</a:t>
            </a:r>
            <a:endParaRPr sz="2100">
              <a:solidFill>
                <a:srgbClr val="212121"/>
              </a:solidFill>
            </a:endParaRPr>
          </a:p>
          <a:p>
            <a:pPr indent="0" lvl="0" marL="0" marR="0" rtl="0" algn="l">
              <a:lnSpc>
                <a:spcPct val="115000"/>
              </a:lnSpc>
              <a:spcBef>
                <a:spcPts val="0"/>
              </a:spcBef>
              <a:spcAft>
                <a:spcPts val="0"/>
              </a:spcAft>
              <a:buNone/>
            </a:pPr>
            <a:r>
              <a:rPr lang="en" sz="2100">
                <a:solidFill>
                  <a:srgbClr val="212121"/>
                </a:solidFill>
              </a:rPr>
              <a:t>Ask the expert for actions.</a:t>
            </a:r>
            <a:endParaRPr sz="2100">
              <a:solidFill>
                <a:srgbClr val="212121"/>
              </a:solidFill>
            </a:endParaRPr>
          </a:p>
          <a:p>
            <a:pPr indent="0" lvl="0" marL="0" marR="0" rtl="0" algn="l">
              <a:lnSpc>
                <a:spcPct val="115000"/>
              </a:lnSpc>
              <a:spcBef>
                <a:spcPts val="0"/>
              </a:spcBef>
              <a:spcAft>
                <a:spcPts val="0"/>
              </a:spcAft>
              <a:buNone/>
            </a:pPr>
            <a:r>
              <a:rPr lang="en" sz="2100">
                <a:solidFill>
                  <a:srgbClr val="212121"/>
                </a:solidFill>
              </a:rPr>
              <a:t>Add labels to the dataset.</a:t>
            </a:r>
            <a:endParaRPr sz="2100">
              <a:solidFill>
                <a:srgbClr val="212121"/>
              </a:solidFill>
            </a:endParaRPr>
          </a:p>
          <a:p>
            <a:pPr indent="0" lvl="0" marL="0" marR="0" rtl="0" algn="l">
              <a:lnSpc>
                <a:spcPct val="115000"/>
              </a:lnSpc>
              <a:spcBef>
                <a:spcPts val="0"/>
              </a:spcBef>
              <a:spcAft>
                <a:spcPts val="0"/>
              </a:spcAft>
              <a:buNone/>
            </a:pPr>
            <a:r>
              <a:rPr lang="en" sz="2100">
                <a:solidFill>
                  <a:srgbClr val="212121"/>
                </a:solidFill>
              </a:rPr>
              <a:t>Retrain and repeat.</a:t>
            </a:r>
            <a:endParaRPr sz="2100">
              <a:solidFill>
                <a:srgbClr val="212121"/>
              </a:solidFill>
            </a:endParaRPr>
          </a:p>
        </p:txBody>
      </p:sp>
      <p:sp>
        <p:nvSpPr>
          <p:cNvPr id="609" name="Google Shape;609;p43"/>
          <p:cNvSpPr txBox="1"/>
          <p:nvPr/>
        </p:nvSpPr>
        <p:spPr>
          <a:xfrm>
            <a:off x="4724400" y="1562100"/>
            <a:ext cx="40386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NOISY EXPERT COLLECTION</a:t>
            </a:r>
            <a:endParaRPr b="1" sz="1500">
              <a:solidFill>
                <a:srgbClr val="4285F4"/>
              </a:solidFill>
            </a:endParaRPr>
          </a:p>
        </p:txBody>
      </p:sp>
      <p:sp>
        <p:nvSpPr>
          <p:cNvPr id="610" name="Google Shape;610;p43"/>
          <p:cNvSpPr txBox="1"/>
          <p:nvPr/>
        </p:nvSpPr>
        <p:spPr>
          <a:xfrm>
            <a:off x="4724400" y="2095500"/>
            <a:ext cx="4038600" cy="1841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212121"/>
                </a:solidFill>
              </a:rPr>
              <a:t>Perturb expert actions.</a:t>
            </a:r>
            <a:endParaRPr sz="2100">
              <a:solidFill>
                <a:srgbClr val="212121"/>
              </a:solidFill>
            </a:endParaRPr>
          </a:p>
          <a:p>
            <a:pPr indent="0" lvl="0" marL="0" marR="0" rtl="0" algn="l">
              <a:lnSpc>
                <a:spcPct val="115000"/>
              </a:lnSpc>
              <a:spcBef>
                <a:spcPts val="0"/>
              </a:spcBef>
              <a:spcAft>
                <a:spcPts val="0"/>
              </a:spcAft>
              <a:buNone/>
            </a:pPr>
            <a:r>
              <a:rPr lang="en" sz="2100">
                <a:solidFill>
                  <a:srgbClr val="212121"/>
                </a:solidFill>
              </a:rPr>
              <a:t>Record clean expert targets</a:t>
            </a:r>
            <a:endParaRPr sz="2100">
              <a:solidFill>
                <a:srgbClr val="212121"/>
              </a:solidFill>
            </a:endParaRPr>
          </a:p>
          <a:p>
            <a:pPr indent="0" lvl="0" marL="0" marR="0" rtl="0" algn="l">
              <a:lnSpc>
                <a:spcPct val="115000"/>
              </a:lnSpc>
              <a:spcBef>
                <a:spcPts val="0"/>
              </a:spcBef>
              <a:spcAft>
                <a:spcPts val="0"/>
              </a:spcAft>
              <a:buNone/>
            </a:pPr>
            <a:r>
              <a:rPr lang="en" sz="2100">
                <a:solidFill>
                  <a:srgbClr val="212121"/>
                </a:solidFill>
              </a:rPr>
              <a:t>at the states reached.</a:t>
            </a:r>
            <a:endParaRPr sz="2100">
              <a:solidFill>
                <a:srgbClr val="212121"/>
              </a:solidFill>
            </a:endParaRPr>
          </a:p>
          <a:p>
            <a:pPr indent="0" lvl="0" marL="0" marR="0" rtl="0" algn="l">
              <a:lnSpc>
                <a:spcPct val="115000"/>
              </a:lnSpc>
              <a:spcBef>
                <a:spcPts val="0"/>
              </a:spcBef>
              <a:spcAft>
                <a:spcPts val="0"/>
              </a:spcAft>
              <a:buNone/>
            </a:pPr>
            <a:r>
              <a:rPr lang="en" sz="2100">
                <a:solidFill>
                  <a:srgbClr val="212121"/>
                </a:solidFill>
              </a:rPr>
              <a:t>Train BC on this dataset.</a:t>
            </a:r>
            <a:endParaRPr sz="2100">
              <a:solidFill>
                <a:srgbClr val="21212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53B"/>
        </a:solidFill>
      </p:bgPr>
    </p:bg>
    <p:spTree>
      <p:nvGrpSpPr>
        <p:cNvPr id="614" name="Shape 614"/>
        <p:cNvGrpSpPr/>
        <p:nvPr/>
      </p:nvGrpSpPr>
      <p:grpSpPr>
        <a:xfrm>
          <a:off x="0" y="0"/>
          <a:ext cx="0" cy="0"/>
          <a:chOff x="0" y="0"/>
          <a:chExt cx="0" cy="0"/>
        </a:xfrm>
      </p:grpSpPr>
      <p:sp>
        <p:nvSpPr>
          <p:cNvPr id="615" name="Google Shape;615;p44"/>
          <p:cNvSpPr/>
          <p:nvPr/>
        </p:nvSpPr>
        <p:spPr>
          <a:xfrm>
            <a:off x="0" y="4838700"/>
            <a:ext cx="9144000" cy="304800"/>
          </a:xfrm>
          <a:prstGeom prst="rect">
            <a:avLst/>
          </a:prstGeom>
          <a:solidFill>
            <a:srgbClr val="1020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6" name="Google Shape;616;p44"/>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7" name="Google Shape;617;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7FAFF"/>
                </a:solidFill>
              </a:rPr>
              <a:t>What if the world changes too?</a:t>
            </a:r>
            <a:endParaRPr b="1">
              <a:solidFill>
                <a:srgbClr val="F7FAFF"/>
              </a:solidFill>
            </a:endParaRPr>
          </a:p>
        </p:txBody>
      </p:sp>
      <p:sp>
        <p:nvSpPr>
          <p:cNvPr id="618" name="Google Shape;618;p44"/>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B6C9DF"/>
                </a:solidFill>
              </a:rPr>
              <a:t>FROM IMITATION TO TRANSFER   /   32 OF 51</a:t>
            </a:r>
            <a:endParaRPr sz="900">
              <a:solidFill>
                <a:srgbClr val="B6C9DF"/>
              </a:solidFill>
            </a:endParaRPr>
          </a:p>
        </p:txBody>
      </p:sp>
      <p:sp>
        <p:nvSpPr>
          <p:cNvPr id="619" name="Google Shape;619;p44"/>
          <p:cNvSpPr txBox="1"/>
          <p:nvPr/>
        </p:nvSpPr>
        <p:spPr>
          <a:xfrm>
            <a:off x="381000" y="1600200"/>
            <a:ext cx="40386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8BBFFF"/>
                </a:solidFill>
              </a:rPr>
              <a:t>SO FAR: DIFFERENT STATES</a:t>
            </a:r>
            <a:endParaRPr b="1" sz="1500">
              <a:solidFill>
                <a:srgbClr val="8BBFFF"/>
              </a:solidFill>
            </a:endParaRPr>
          </a:p>
        </p:txBody>
      </p:sp>
      <p:sp>
        <p:nvSpPr>
          <p:cNvPr id="620" name="Google Shape;620;p44"/>
          <p:cNvSpPr txBox="1"/>
          <p:nvPr/>
        </p:nvSpPr>
        <p:spPr>
          <a:xfrm>
            <a:off x="381000" y="2171700"/>
            <a:ext cx="4038600" cy="146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E7EEF7"/>
                </a:solidFill>
              </a:rPr>
              <a:t>DAgger and noisy experts</a:t>
            </a:r>
            <a:endParaRPr sz="2100">
              <a:solidFill>
                <a:srgbClr val="E7EEF7"/>
              </a:solidFill>
            </a:endParaRPr>
          </a:p>
          <a:p>
            <a:pPr indent="0" lvl="0" marL="0" marR="0" rtl="0" algn="l">
              <a:lnSpc>
                <a:spcPct val="115000"/>
              </a:lnSpc>
              <a:spcBef>
                <a:spcPts val="0"/>
              </a:spcBef>
              <a:spcAft>
                <a:spcPts val="0"/>
              </a:spcAft>
              <a:buNone/>
            </a:pPr>
            <a:r>
              <a:rPr lang="en" sz="2100">
                <a:solidFill>
                  <a:srgbClr val="E7EEF7"/>
                </a:solidFill>
              </a:rPr>
              <a:t>teach corrections where</a:t>
            </a:r>
            <a:endParaRPr sz="2100">
              <a:solidFill>
                <a:srgbClr val="E7EEF7"/>
              </a:solidFill>
            </a:endParaRPr>
          </a:p>
          <a:p>
            <a:pPr indent="0" lvl="0" marL="0" marR="0" rtl="0" algn="l">
              <a:lnSpc>
                <a:spcPct val="115000"/>
              </a:lnSpc>
              <a:spcBef>
                <a:spcPts val="0"/>
              </a:spcBef>
              <a:spcAft>
                <a:spcPts val="0"/>
              </a:spcAft>
              <a:buNone/>
            </a:pPr>
            <a:r>
              <a:rPr lang="en" sz="2100">
                <a:solidFill>
                  <a:srgbClr val="E7EEF7"/>
                </a:solidFill>
              </a:rPr>
              <a:t>the student may drift.</a:t>
            </a:r>
            <a:endParaRPr sz="2100">
              <a:solidFill>
                <a:srgbClr val="E7EEF7"/>
              </a:solidFill>
            </a:endParaRPr>
          </a:p>
        </p:txBody>
      </p:sp>
      <p:sp>
        <p:nvSpPr>
          <p:cNvPr id="621" name="Google Shape;621;p44"/>
          <p:cNvSpPr txBox="1"/>
          <p:nvPr/>
        </p:nvSpPr>
        <p:spPr>
          <a:xfrm>
            <a:off x="4724400" y="1600200"/>
            <a:ext cx="40386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8BBFFF"/>
                </a:solidFill>
              </a:rPr>
              <a:t>NEXT: DIFFERENT PHYSICS</a:t>
            </a:r>
            <a:endParaRPr b="1" sz="1500">
              <a:solidFill>
                <a:srgbClr val="8BBFFF"/>
              </a:solidFill>
            </a:endParaRPr>
          </a:p>
        </p:txBody>
      </p:sp>
      <p:sp>
        <p:nvSpPr>
          <p:cNvPr id="622" name="Google Shape;622;p44"/>
          <p:cNvSpPr txBox="1"/>
          <p:nvPr/>
        </p:nvSpPr>
        <p:spPr>
          <a:xfrm>
            <a:off x="4724400" y="2171700"/>
            <a:ext cx="4038600" cy="146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E7EEF7"/>
                </a:solidFill>
              </a:rPr>
              <a:t>Friction, mass, and delays</a:t>
            </a:r>
            <a:endParaRPr sz="2100">
              <a:solidFill>
                <a:srgbClr val="E7EEF7"/>
              </a:solidFill>
            </a:endParaRPr>
          </a:p>
          <a:p>
            <a:pPr indent="0" lvl="0" marL="0" marR="0" rtl="0" algn="l">
              <a:lnSpc>
                <a:spcPct val="115000"/>
              </a:lnSpc>
              <a:spcBef>
                <a:spcPts val="0"/>
              </a:spcBef>
              <a:spcAft>
                <a:spcPts val="0"/>
              </a:spcAft>
              <a:buNone/>
            </a:pPr>
            <a:r>
              <a:rPr lang="en" sz="2100">
                <a:solidFill>
                  <a:srgbClr val="E7EEF7"/>
                </a:solidFill>
              </a:rPr>
              <a:t>may differ from training.</a:t>
            </a:r>
            <a:endParaRPr sz="2100">
              <a:solidFill>
                <a:srgbClr val="E7EEF7"/>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626" name="Shape 626"/>
        <p:cNvGrpSpPr/>
        <p:nvPr/>
      </p:nvGrpSpPr>
      <p:grpSpPr>
        <a:xfrm>
          <a:off x="0" y="0"/>
          <a:ext cx="0" cy="0"/>
          <a:chOff x="0" y="0"/>
          <a:chExt cx="0" cy="0"/>
        </a:xfrm>
      </p:grpSpPr>
      <p:sp>
        <p:nvSpPr>
          <p:cNvPr id="627" name="Google Shape;627;p45"/>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8" name="Google Shape;628;p45"/>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9" name="Google Shape;629;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The real world is not one fixed setting</a:t>
            </a:r>
            <a:endParaRPr b="1">
              <a:solidFill>
                <a:srgbClr val="15253B"/>
              </a:solidFill>
            </a:endParaRPr>
          </a:p>
        </p:txBody>
      </p:sp>
      <p:sp>
        <p:nvSpPr>
          <p:cNvPr id="630" name="Google Shape;630;p45"/>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SIM-TO-REAL   /   33 OF 51</a:t>
            </a:r>
            <a:endParaRPr sz="900">
              <a:solidFill>
                <a:srgbClr val="596C82"/>
              </a:solidFill>
            </a:endParaRPr>
          </a:p>
        </p:txBody>
      </p:sp>
      <p:sp>
        <p:nvSpPr>
          <p:cNvPr id="631" name="Google Shape;631;p45"/>
          <p:cNvSpPr txBox="1"/>
          <p:nvPr/>
        </p:nvSpPr>
        <p:spPr>
          <a:xfrm>
            <a:off x="3594100" y="2082800"/>
            <a:ext cx="1955700" cy="736500"/>
          </a:xfrm>
          <a:prstGeom prst="rect">
            <a:avLst/>
          </a:prstGeom>
          <a:solidFill>
            <a:srgbClr val="EDF2FC"/>
          </a:solid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sz="1900">
                <a:solidFill>
                  <a:srgbClr val="212121"/>
                </a:solidFill>
              </a:rPr>
              <a:t>Same weights</a:t>
            </a:r>
            <a:endParaRPr sz="1900">
              <a:solidFill>
                <a:srgbClr val="212121"/>
              </a:solidFill>
            </a:endParaRPr>
          </a:p>
        </p:txBody>
      </p:sp>
      <p:cxnSp>
        <p:nvCxnSpPr>
          <p:cNvPr id="632" name="Google Shape;632;p45"/>
          <p:cNvCxnSpPr/>
          <p:nvPr/>
        </p:nvCxnSpPr>
        <p:spPr>
          <a:xfrm>
            <a:off x="3149600" y="2451100"/>
            <a:ext cx="381000" cy="0"/>
          </a:xfrm>
          <a:prstGeom prst="straightConnector1">
            <a:avLst/>
          </a:prstGeom>
          <a:noFill/>
          <a:ln cap="flat" cmpd="sng" w="25400">
            <a:solidFill>
              <a:srgbClr val="4285F4"/>
            </a:solidFill>
            <a:prstDash val="solid"/>
            <a:round/>
            <a:headEnd len="med" w="med" type="none"/>
            <a:tailEnd len="med" w="med" type="triangle"/>
          </a:ln>
        </p:spPr>
      </p:cxnSp>
      <p:cxnSp>
        <p:nvCxnSpPr>
          <p:cNvPr id="633" name="Google Shape;633;p45"/>
          <p:cNvCxnSpPr/>
          <p:nvPr/>
        </p:nvCxnSpPr>
        <p:spPr>
          <a:xfrm>
            <a:off x="5613400" y="2451100"/>
            <a:ext cx="419100" cy="0"/>
          </a:xfrm>
          <a:prstGeom prst="straightConnector1">
            <a:avLst/>
          </a:prstGeom>
          <a:noFill/>
          <a:ln cap="flat" cmpd="sng" w="25400">
            <a:solidFill>
              <a:srgbClr val="4285F4"/>
            </a:solidFill>
            <a:prstDash val="solid"/>
            <a:round/>
            <a:headEnd len="med" w="med" type="none"/>
            <a:tailEnd len="med" w="med" type="triangle"/>
          </a:ln>
        </p:spPr>
      </p:cxnSp>
      <p:sp>
        <p:nvSpPr>
          <p:cNvPr id="634" name="Google Shape;634;p45"/>
          <p:cNvSpPr txBox="1"/>
          <p:nvPr/>
        </p:nvSpPr>
        <p:spPr>
          <a:xfrm>
            <a:off x="381000" y="3467100"/>
            <a:ext cx="3810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 sz="2300">
                <a:solidFill>
                  <a:srgbClr val="4285F4"/>
                </a:solidFill>
              </a:rPr>
              <a:t>One training setting</a:t>
            </a:r>
            <a:endParaRPr b="1" sz="2300">
              <a:solidFill>
                <a:srgbClr val="4285F4"/>
              </a:solidFill>
            </a:endParaRPr>
          </a:p>
        </p:txBody>
      </p:sp>
      <p:sp>
        <p:nvSpPr>
          <p:cNvPr id="635" name="Google Shape;635;p45"/>
          <p:cNvSpPr txBox="1"/>
          <p:nvPr/>
        </p:nvSpPr>
        <p:spPr>
          <a:xfrm>
            <a:off x="4826000" y="3467100"/>
            <a:ext cx="39369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 sz="2300">
                <a:solidFill>
                  <a:srgbClr val="4285F4"/>
                </a:solidFill>
              </a:rPr>
              <a:t>Real-world variation</a:t>
            </a:r>
            <a:endParaRPr b="1" sz="2300">
              <a:solidFill>
                <a:srgbClr val="4285F4"/>
              </a:solidFill>
            </a:endParaRPr>
          </a:p>
        </p:txBody>
      </p:sp>
      <p:sp>
        <p:nvSpPr>
          <p:cNvPr id="636" name="Google Shape;636;p45"/>
          <p:cNvSpPr txBox="1"/>
          <p:nvPr/>
        </p:nvSpPr>
        <p:spPr>
          <a:xfrm>
            <a:off x="381000" y="4292600"/>
            <a:ext cx="8382000" cy="4572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800">
                <a:solidFill>
                  <a:srgbClr val="245CA7"/>
                </a:solidFill>
              </a:rPr>
              <a:t>Handle both imperfect models and changing real-world conditions.</a:t>
            </a:r>
            <a:endParaRPr b="1" sz="1800">
              <a:solidFill>
                <a:srgbClr val="245CA7"/>
              </a:solidFill>
            </a:endParaRPr>
          </a:p>
        </p:txBody>
      </p:sp>
      <p:pic>
        <p:nvPicPr>
          <p:cNvPr id="637" name="Google Shape;637;p45"/>
          <p:cNvPicPr preferRelativeResize="0"/>
          <p:nvPr/>
        </p:nvPicPr>
        <p:blipFill>
          <a:blip r:embed="rId3">
            <a:alphaModFix/>
          </a:blip>
          <a:stretch>
            <a:fillRect/>
          </a:stretch>
        </p:blipFill>
        <p:spPr>
          <a:xfrm>
            <a:off x="1016000" y="1066800"/>
            <a:ext cx="2413000" cy="2413000"/>
          </a:xfrm>
          <a:prstGeom prst="rect">
            <a:avLst/>
          </a:prstGeom>
          <a:noFill/>
          <a:ln>
            <a:noFill/>
          </a:ln>
        </p:spPr>
      </p:pic>
      <p:pic>
        <p:nvPicPr>
          <p:cNvPr id="638" name="Google Shape;638;p45"/>
          <p:cNvPicPr preferRelativeResize="0"/>
          <p:nvPr/>
        </p:nvPicPr>
        <p:blipFill>
          <a:blip r:embed="rId3">
            <a:alphaModFix/>
          </a:blip>
          <a:stretch>
            <a:fillRect/>
          </a:stretch>
        </p:blipFill>
        <p:spPr>
          <a:xfrm>
            <a:off x="5715000" y="1066800"/>
            <a:ext cx="2413000" cy="2413000"/>
          </a:xfrm>
          <a:prstGeom prst="rect">
            <a:avLst/>
          </a:prstGeom>
          <a:noFill/>
          <a:ln>
            <a:noFill/>
          </a:ln>
        </p:spPr>
      </p:pic>
      <p:sp>
        <p:nvSpPr>
          <p:cNvPr id="639" name="Google Shape;639;p45"/>
          <p:cNvSpPr txBox="1"/>
          <p:nvPr/>
        </p:nvSpPr>
        <p:spPr>
          <a:xfrm>
            <a:off x="381000" y="3886200"/>
            <a:ext cx="4038600" cy="3048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a:solidFill>
                  <a:srgbClr val="4D5C6E"/>
                </a:solidFill>
              </a:rPr>
              <a:t>A fixed floor, robot model, and timing</a:t>
            </a:r>
            <a:endParaRPr>
              <a:solidFill>
                <a:srgbClr val="4D5C6E"/>
              </a:solidFill>
            </a:endParaRPr>
          </a:p>
        </p:txBody>
      </p:sp>
      <p:sp>
        <p:nvSpPr>
          <p:cNvPr id="640" name="Google Shape;640;p45"/>
          <p:cNvSpPr txBox="1"/>
          <p:nvPr/>
        </p:nvSpPr>
        <p:spPr>
          <a:xfrm>
            <a:off x="4724400" y="3886200"/>
            <a:ext cx="4038600" cy="3048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n">
                <a:solidFill>
                  <a:srgbClr val="4D5C6E"/>
                </a:solidFill>
              </a:rPr>
              <a:t>Sand, rubber, wood; changing temperature</a:t>
            </a:r>
            <a:endParaRPr>
              <a:solidFill>
                <a:srgbClr val="4D5C6E"/>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644" name="Shape 644"/>
        <p:cNvGrpSpPr/>
        <p:nvPr/>
      </p:nvGrpSpPr>
      <p:grpSpPr>
        <a:xfrm>
          <a:off x="0" y="0"/>
          <a:ext cx="0" cy="0"/>
          <a:chOff x="0" y="0"/>
          <a:chExt cx="0" cy="0"/>
        </a:xfrm>
      </p:grpSpPr>
      <p:sp>
        <p:nvSpPr>
          <p:cNvPr id="645" name="Google Shape;645;p46"/>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6" name="Google Shape;646;p46"/>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7" name="Google Shape;647;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Domain randomization: vary the world</a:t>
            </a:r>
            <a:endParaRPr b="1">
              <a:solidFill>
                <a:srgbClr val="15253B"/>
              </a:solidFill>
            </a:endParaRPr>
          </a:p>
        </p:txBody>
      </p:sp>
      <p:sp>
        <p:nvSpPr>
          <p:cNvPr id="648" name="Google Shape;648;p46"/>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SIM-TO-REAL   /   34 OF 51</a:t>
            </a:r>
            <a:endParaRPr sz="900">
              <a:solidFill>
                <a:srgbClr val="596C82"/>
              </a:solidFill>
            </a:endParaRPr>
          </a:p>
        </p:txBody>
      </p:sp>
      <p:sp>
        <p:nvSpPr>
          <p:cNvPr id="649" name="Google Shape;649;p46"/>
          <p:cNvSpPr txBox="1"/>
          <p:nvPr/>
        </p:nvSpPr>
        <p:spPr>
          <a:xfrm>
            <a:off x="533400" y="1511300"/>
            <a:ext cx="2412900" cy="50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2200">
                <a:solidFill>
                  <a:srgbClr val="4285F4"/>
                </a:solidFill>
              </a:rPr>
              <a:t>Friction</a:t>
            </a:r>
            <a:endParaRPr b="1" sz="2200">
              <a:solidFill>
                <a:srgbClr val="4285F4"/>
              </a:solidFill>
            </a:endParaRPr>
          </a:p>
        </p:txBody>
      </p:sp>
      <p:sp>
        <p:nvSpPr>
          <p:cNvPr id="650" name="Google Shape;650;p46"/>
          <p:cNvSpPr txBox="1"/>
          <p:nvPr/>
        </p:nvSpPr>
        <p:spPr>
          <a:xfrm>
            <a:off x="5791200" y="1511300"/>
            <a:ext cx="2921100" cy="50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2200">
                <a:solidFill>
                  <a:srgbClr val="4285F4"/>
                </a:solidFill>
              </a:rPr>
              <a:t>Body dynamics</a:t>
            </a:r>
            <a:endParaRPr b="1" sz="2200">
              <a:solidFill>
                <a:srgbClr val="4285F4"/>
              </a:solidFill>
            </a:endParaRPr>
          </a:p>
        </p:txBody>
      </p:sp>
      <p:sp>
        <p:nvSpPr>
          <p:cNvPr id="651" name="Google Shape;651;p46"/>
          <p:cNvSpPr txBox="1"/>
          <p:nvPr/>
        </p:nvSpPr>
        <p:spPr>
          <a:xfrm>
            <a:off x="419100" y="3124200"/>
            <a:ext cx="3111600" cy="63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12121"/>
                </a:solidFill>
              </a:rPr>
              <a:t>Sensing / action noise</a:t>
            </a:r>
            <a:endParaRPr sz="2000">
              <a:solidFill>
                <a:srgbClr val="212121"/>
              </a:solidFill>
            </a:endParaRPr>
          </a:p>
        </p:txBody>
      </p:sp>
      <p:sp>
        <p:nvSpPr>
          <p:cNvPr id="652" name="Google Shape;652;p46"/>
          <p:cNvSpPr txBox="1"/>
          <p:nvPr/>
        </p:nvSpPr>
        <p:spPr>
          <a:xfrm>
            <a:off x="6007100" y="3124200"/>
            <a:ext cx="2705100" cy="635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12121"/>
                </a:solidFill>
              </a:rPr>
              <a:t>Resets / pushes</a:t>
            </a:r>
            <a:endParaRPr sz="2000">
              <a:solidFill>
                <a:srgbClr val="212121"/>
              </a:solidFill>
            </a:endParaRPr>
          </a:p>
        </p:txBody>
      </p:sp>
      <p:pic>
        <p:nvPicPr>
          <p:cNvPr id="653" name="Google Shape;653;p46"/>
          <p:cNvPicPr preferRelativeResize="0"/>
          <p:nvPr/>
        </p:nvPicPr>
        <p:blipFill>
          <a:blip r:embed="rId3">
            <a:alphaModFix/>
          </a:blip>
          <a:stretch>
            <a:fillRect/>
          </a:stretch>
        </p:blipFill>
        <p:spPr>
          <a:xfrm>
            <a:off x="3159125" y="990600"/>
            <a:ext cx="2952750" cy="29527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657" name="Shape 657"/>
        <p:cNvGrpSpPr/>
        <p:nvPr/>
      </p:nvGrpSpPr>
      <p:grpSpPr>
        <a:xfrm>
          <a:off x="0" y="0"/>
          <a:ext cx="0" cy="0"/>
          <a:chOff x="0" y="0"/>
          <a:chExt cx="0" cy="0"/>
        </a:xfrm>
      </p:grpSpPr>
      <p:sp>
        <p:nvSpPr>
          <p:cNvPr id="658" name="Google Shape;658;p47"/>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9" name="Google Shape;659;p47"/>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0" name="Google Shape;660;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Sim-to-sim helps, but deployment needs more</a:t>
            </a:r>
            <a:endParaRPr b="1">
              <a:solidFill>
                <a:srgbClr val="15253B"/>
              </a:solidFill>
            </a:endParaRPr>
          </a:p>
        </p:txBody>
      </p:sp>
      <p:sp>
        <p:nvSpPr>
          <p:cNvPr id="661" name="Google Shape;661;p47"/>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SIM-TO-REAL   /   35 OF 51</a:t>
            </a:r>
            <a:endParaRPr sz="900">
              <a:solidFill>
                <a:srgbClr val="596C82"/>
              </a:solidFill>
            </a:endParaRPr>
          </a:p>
        </p:txBody>
      </p:sp>
      <p:sp>
        <p:nvSpPr>
          <p:cNvPr id="662" name="Google Shape;662;p47"/>
          <p:cNvSpPr txBox="1"/>
          <p:nvPr/>
        </p:nvSpPr>
        <p:spPr>
          <a:xfrm>
            <a:off x="381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1. TEST TRANSFER</a:t>
            </a:r>
            <a:endParaRPr b="1" sz="1500">
              <a:solidFill>
                <a:srgbClr val="4285F4"/>
              </a:solidFill>
            </a:endParaRPr>
          </a:p>
        </p:txBody>
      </p:sp>
      <p:sp>
        <p:nvSpPr>
          <p:cNvPr id="663" name="Google Shape;663;p47"/>
          <p:cNvSpPr txBox="1"/>
          <p:nvPr/>
        </p:nvSpPr>
        <p:spPr>
          <a:xfrm>
            <a:off x="381000" y="2159000"/>
            <a:ext cx="2565300" cy="175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212121"/>
                </a:solidFill>
              </a:rPr>
              <a:t>Run the same policy in another simulator to expose simulator-specific behavior.</a:t>
            </a:r>
            <a:endParaRPr sz="2100">
              <a:solidFill>
                <a:srgbClr val="212121"/>
              </a:solidFill>
            </a:endParaRPr>
          </a:p>
        </p:txBody>
      </p:sp>
      <p:sp>
        <p:nvSpPr>
          <p:cNvPr id="664" name="Google Shape;664;p47"/>
          <p:cNvSpPr txBox="1"/>
          <p:nvPr/>
        </p:nvSpPr>
        <p:spPr>
          <a:xfrm>
            <a:off x="3302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2. CHECK THE MODEL</a:t>
            </a:r>
            <a:endParaRPr b="1" sz="1500">
              <a:solidFill>
                <a:srgbClr val="4285F4"/>
              </a:solidFill>
            </a:endParaRPr>
          </a:p>
        </p:txBody>
      </p:sp>
      <p:sp>
        <p:nvSpPr>
          <p:cNvPr id="665" name="Google Shape;665;p47"/>
          <p:cNvSpPr txBox="1"/>
          <p:nvPr/>
        </p:nvSpPr>
        <p:spPr>
          <a:xfrm>
            <a:off x="3302000" y="2159000"/>
            <a:ext cx="2565300" cy="175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212121"/>
                </a:solidFill>
              </a:rPr>
              <a:t>Validate geometry, mass, motor response, and delays against the real robot.</a:t>
            </a:r>
            <a:endParaRPr sz="2100">
              <a:solidFill>
                <a:srgbClr val="212121"/>
              </a:solidFill>
            </a:endParaRPr>
          </a:p>
        </p:txBody>
      </p:sp>
      <p:sp>
        <p:nvSpPr>
          <p:cNvPr id="666" name="Google Shape;666;p47"/>
          <p:cNvSpPr txBox="1"/>
          <p:nvPr/>
        </p:nvSpPr>
        <p:spPr>
          <a:xfrm>
            <a:off x="6223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3. BUILD THE SYSTEM</a:t>
            </a:r>
            <a:endParaRPr b="1" sz="1500">
              <a:solidFill>
                <a:srgbClr val="4285F4"/>
              </a:solidFill>
            </a:endParaRPr>
          </a:p>
        </p:txBody>
      </p:sp>
      <p:sp>
        <p:nvSpPr>
          <p:cNvPr id="667" name="Google Shape;667;p47"/>
          <p:cNvSpPr txBox="1"/>
          <p:nvPr/>
        </p:nvSpPr>
        <p:spPr>
          <a:xfrm>
            <a:off x="6223000" y="2159000"/>
            <a:ext cx="2565300" cy="175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212121"/>
                </a:solidFill>
              </a:rPr>
              <a:t>Integrate real-time control, state estimation, perception, and safety systems.</a:t>
            </a:r>
            <a:endParaRPr sz="2100">
              <a:solidFill>
                <a:srgbClr val="212121"/>
              </a:solidFill>
            </a:endParaRPr>
          </a:p>
        </p:txBody>
      </p:sp>
      <p:sp>
        <p:nvSpPr>
          <p:cNvPr id="668" name="Google Shape;668;p47"/>
          <p:cNvSpPr txBox="1"/>
          <p:nvPr/>
        </p:nvSpPr>
        <p:spPr>
          <a:xfrm>
            <a:off x="381000" y="4102100"/>
            <a:ext cx="8382000" cy="5079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800">
                <a:solidFill>
                  <a:srgbClr val="245CA7"/>
                </a:solidFill>
              </a:rPr>
              <a:t>Two simulators can agree and still share an unrealistic robot model.</a:t>
            </a:r>
            <a:endParaRPr b="1" sz="1800">
              <a:solidFill>
                <a:srgbClr val="245CA7"/>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672" name="Shape 672"/>
        <p:cNvGrpSpPr/>
        <p:nvPr/>
      </p:nvGrpSpPr>
      <p:grpSpPr>
        <a:xfrm>
          <a:off x="0" y="0"/>
          <a:ext cx="0" cy="0"/>
          <a:chOff x="0" y="0"/>
          <a:chExt cx="0" cy="0"/>
        </a:xfrm>
      </p:grpSpPr>
      <p:sp>
        <p:nvSpPr>
          <p:cNvPr id="673" name="Google Shape;673;p48"/>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4" name="Google Shape;674;p48"/>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5" name="Google Shape;675;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Debug from the interface inward</a:t>
            </a:r>
            <a:endParaRPr b="1">
              <a:solidFill>
                <a:srgbClr val="15253B"/>
              </a:solidFill>
            </a:endParaRPr>
          </a:p>
        </p:txBody>
      </p:sp>
      <p:sp>
        <p:nvSpPr>
          <p:cNvPr id="676" name="Google Shape;676;p48"/>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SIM-TO-REAL   /   36 OF 51</a:t>
            </a:r>
            <a:endParaRPr sz="900">
              <a:solidFill>
                <a:srgbClr val="596C82"/>
              </a:solidFill>
            </a:endParaRPr>
          </a:p>
        </p:txBody>
      </p:sp>
      <p:sp>
        <p:nvSpPr>
          <p:cNvPr id="677" name="Google Shape;677;p48"/>
          <p:cNvSpPr txBox="1"/>
          <p:nvPr/>
        </p:nvSpPr>
        <p:spPr>
          <a:xfrm>
            <a:off x="393700" y="1346200"/>
            <a:ext cx="2857500" cy="609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900">
                <a:solidFill>
                  <a:srgbClr val="4285F4"/>
                </a:solidFill>
              </a:rPr>
              <a:t>Bad at reset</a:t>
            </a:r>
            <a:endParaRPr b="1" sz="1900">
              <a:solidFill>
                <a:srgbClr val="4285F4"/>
              </a:solidFill>
            </a:endParaRPr>
          </a:p>
        </p:txBody>
      </p:sp>
      <p:sp>
        <p:nvSpPr>
          <p:cNvPr id="678" name="Google Shape;678;p48"/>
          <p:cNvSpPr txBox="1"/>
          <p:nvPr/>
        </p:nvSpPr>
        <p:spPr>
          <a:xfrm>
            <a:off x="3543300" y="1346200"/>
            <a:ext cx="5207100" cy="609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900">
                <a:solidFill>
                  <a:srgbClr val="212121"/>
                </a:solidFill>
              </a:rPr>
              <a:t>Check assets, poses, and frames</a:t>
            </a:r>
            <a:endParaRPr sz="1900">
              <a:solidFill>
                <a:srgbClr val="212121"/>
              </a:solidFill>
            </a:endParaRPr>
          </a:p>
        </p:txBody>
      </p:sp>
      <p:sp>
        <p:nvSpPr>
          <p:cNvPr id="679" name="Google Shape;679;p48"/>
          <p:cNvSpPr txBox="1"/>
          <p:nvPr/>
        </p:nvSpPr>
        <p:spPr>
          <a:xfrm>
            <a:off x="393700" y="2044700"/>
            <a:ext cx="2857500" cy="609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900">
                <a:solidFill>
                  <a:srgbClr val="4285F4"/>
                </a:solidFill>
              </a:rPr>
              <a:t>Unstable immediately</a:t>
            </a:r>
            <a:endParaRPr b="1" sz="1900">
              <a:solidFill>
                <a:srgbClr val="4285F4"/>
              </a:solidFill>
            </a:endParaRPr>
          </a:p>
        </p:txBody>
      </p:sp>
      <p:sp>
        <p:nvSpPr>
          <p:cNvPr id="680" name="Google Shape;680;p48"/>
          <p:cNvSpPr txBox="1"/>
          <p:nvPr/>
        </p:nvSpPr>
        <p:spPr>
          <a:xfrm>
            <a:off x="3543300" y="2044700"/>
            <a:ext cx="5207100" cy="609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900">
                <a:solidFill>
                  <a:srgbClr val="212121"/>
                </a:solidFill>
              </a:rPr>
              <a:t>Check actions, gains, and timing</a:t>
            </a:r>
            <a:endParaRPr sz="1900">
              <a:solidFill>
                <a:srgbClr val="212121"/>
              </a:solidFill>
            </a:endParaRPr>
          </a:p>
        </p:txBody>
      </p:sp>
      <p:sp>
        <p:nvSpPr>
          <p:cNvPr id="681" name="Google Shape;681;p48"/>
          <p:cNvSpPr txBox="1"/>
          <p:nvPr/>
        </p:nvSpPr>
        <p:spPr>
          <a:xfrm>
            <a:off x="393700" y="2743200"/>
            <a:ext cx="2857500" cy="609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900">
                <a:solidFill>
                  <a:srgbClr val="4285F4"/>
                </a:solidFill>
              </a:rPr>
              <a:t>Fails after a push</a:t>
            </a:r>
            <a:endParaRPr b="1" sz="1900">
              <a:solidFill>
                <a:srgbClr val="4285F4"/>
              </a:solidFill>
            </a:endParaRPr>
          </a:p>
        </p:txBody>
      </p:sp>
      <p:sp>
        <p:nvSpPr>
          <p:cNvPr id="682" name="Google Shape;682;p48"/>
          <p:cNvSpPr txBox="1"/>
          <p:nvPr/>
        </p:nvSpPr>
        <p:spPr>
          <a:xfrm>
            <a:off x="3543300" y="2743200"/>
            <a:ext cx="5207100" cy="609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900">
                <a:solidFill>
                  <a:srgbClr val="212121"/>
                </a:solidFill>
              </a:rPr>
              <a:t>Check state coverage and terminations</a:t>
            </a:r>
            <a:endParaRPr sz="1900">
              <a:solidFill>
                <a:srgbClr val="212121"/>
              </a:solidFill>
            </a:endParaRPr>
          </a:p>
        </p:txBody>
      </p:sp>
      <p:sp>
        <p:nvSpPr>
          <p:cNvPr id="683" name="Google Shape;683;p48"/>
          <p:cNvSpPr txBox="1"/>
          <p:nvPr/>
        </p:nvSpPr>
        <p:spPr>
          <a:xfrm>
            <a:off x="393700" y="3441700"/>
            <a:ext cx="2857500" cy="609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900">
                <a:solidFill>
                  <a:srgbClr val="4285F4"/>
                </a:solidFill>
              </a:rPr>
              <a:t>Fails after transfer</a:t>
            </a:r>
            <a:endParaRPr b="1" sz="1900">
              <a:solidFill>
                <a:srgbClr val="4285F4"/>
              </a:solidFill>
            </a:endParaRPr>
          </a:p>
        </p:txBody>
      </p:sp>
      <p:sp>
        <p:nvSpPr>
          <p:cNvPr id="684" name="Google Shape;684;p48"/>
          <p:cNvSpPr txBox="1"/>
          <p:nvPr/>
        </p:nvSpPr>
        <p:spPr>
          <a:xfrm>
            <a:off x="3543300" y="3441700"/>
            <a:ext cx="5207100" cy="609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900">
                <a:solidFill>
                  <a:srgbClr val="212121"/>
                </a:solidFill>
              </a:rPr>
              <a:t>Check conventions, then dynamics</a:t>
            </a:r>
            <a:endParaRPr sz="1900">
              <a:solidFill>
                <a:srgbClr val="212121"/>
              </a:solidFill>
            </a:endParaRPr>
          </a:p>
        </p:txBody>
      </p:sp>
      <p:sp>
        <p:nvSpPr>
          <p:cNvPr id="685" name="Google Shape;685;p48"/>
          <p:cNvSpPr txBox="1"/>
          <p:nvPr/>
        </p:nvSpPr>
        <p:spPr>
          <a:xfrm>
            <a:off x="381000" y="4102100"/>
            <a:ext cx="8382000" cy="5079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800">
                <a:solidFill>
                  <a:srgbClr val="245CA7"/>
                </a:solidFill>
              </a:rPr>
              <a:t>Inspect a rollout and isolate one cause before launching another run.</a:t>
            </a:r>
            <a:endParaRPr b="1" sz="1800">
              <a:solidFill>
                <a:srgbClr val="245CA7"/>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53B"/>
        </a:solidFill>
      </p:bgPr>
    </p:bg>
    <p:spTree>
      <p:nvGrpSpPr>
        <p:cNvPr id="689" name="Shape 689"/>
        <p:cNvGrpSpPr/>
        <p:nvPr/>
      </p:nvGrpSpPr>
      <p:grpSpPr>
        <a:xfrm>
          <a:off x="0" y="0"/>
          <a:ext cx="0" cy="0"/>
          <a:chOff x="0" y="0"/>
          <a:chExt cx="0" cy="0"/>
        </a:xfrm>
      </p:grpSpPr>
      <p:sp>
        <p:nvSpPr>
          <p:cNvPr id="690" name="Google Shape;690;p49"/>
          <p:cNvSpPr/>
          <p:nvPr/>
        </p:nvSpPr>
        <p:spPr>
          <a:xfrm>
            <a:off x="0" y="4838700"/>
            <a:ext cx="9144000" cy="304800"/>
          </a:xfrm>
          <a:prstGeom prst="rect">
            <a:avLst/>
          </a:prstGeom>
          <a:solidFill>
            <a:srgbClr val="1020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1" name="Google Shape;691;p49"/>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2" name="Google Shape;692;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7FAFF"/>
                </a:solidFill>
              </a:rPr>
              <a:t>From theory to practice</a:t>
            </a:r>
            <a:endParaRPr b="1">
              <a:solidFill>
                <a:srgbClr val="F7FAFF"/>
              </a:solidFill>
            </a:endParaRPr>
          </a:p>
        </p:txBody>
      </p:sp>
      <p:sp>
        <p:nvSpPr>
          <p:cNvPr id="693" name="Google Shape;693;p49"/>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B6C9DF"/>
                </a:solidFill>
              </a:rPr>
              <a:t>FROM THEORY TO PRACTICE   /   37 OF 51</a:t>
            </a:r>
            <a:endParaRPr sz="900">
              <a:solidFill>
                <a:srgbClr val="B6C9DF"/>
              </a:solidFill>
            </a:endParaRPr>
          </a:p>
        </p:txBody>
      </p:sp>
      <p:sp>
        <p:nvSpPr>
          <p:cNvPr id="694" name="Google Shape;694;p49"/>
          <p:cNvSpPr txBox="1"/>
          <p:nvPr/>
        </p:nvSpPr>
        <p:spPr>
          <a:xfrm>
            <a:off x="381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8BBFFF"/>
                </a:solidFill>
              </a:rPr>
              <a:t>ROBOT ARMS</a:t>
            </a:r>
            <a:endParaRPr b="1" sz="1500">
              <a:solidFill>
                <a:srgbClr val="8BBFFF"/>
              </a:solidFill>
            </a:endParaRPr>
          </a:p>
        </p:txBody>
      </p:sp>
      <p:sp>
        <p:nvSpPr>
          <p:cNvPr id="695" name="Google Shape;695;p49"/>
          <p:cNvSpPr txBox="1"/>
          <p:nvPr/>
        </p:nvSpPr>
        <p:spPr>
          <a:xfrm>
            <a:off x="381000" y="2171700"/>
            <a:ext cx="2565300" cy="139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E7EEF7"/>
                </a:solidFill>
              </a:rPr>
              <a:t>AlphaNIST</a:t>
            </a:r>
            <a:endParaRPr sz="2100">
              <a:solidFill>
                <a:srgbClr val="E7EEF7"/>
              </a:solidFill>
            </a:endParaRPr>
          </a:p>
          <a:p>
            <a:pPr indent="0" lvl="0" marL="0" marR="0" rtl="0" algn="l">
              <a:lnSpc>
                <a:spcPct val="115000"/>
              </a:lnSpc>
              <a:spcBef>
                <a:spcPts val="0"/>
              </a:spcBef>
              <a:spcAft>
                <a:spcPts val="0"/>
              </a:spcAft>
              <a:buNone/>
            </a:pPr>
            <a:r>
              <a:rPr lang="en" sz="2100">
                <a:solidFill>
                  <a:srgbClr val="E7EEF7"/>
                </a:solidFill>
              </a:rPr>
              <a:t>and ADEPT</a:t>
            </a:r>
            <a:endParaRPr sz="2100">
              <a:solidFill>
                <a:srgbClr val="E7EEF7"/>
              </a:solidFill>
            </a:endParaRPr>
          </a:p>
        </p:txBody>
      </p:sp>
      <p:sp>
        <p:nvSpPr>
          <p:cNvPr id="696" name="Google Shape;696;p49"/>
          <p:cNvSpPr txBox="1"/>
          <p:nvPr/>
        </p:nvSpPr>
        <p:spPr>
          <a:xfrm>
            <a:off x="3302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8BBFFF"/>
                </a:solidFill>
              </a:rPr>
              <a:t>HUMANOIDS</a:t>
            </a:r>
            <a:endParaRPr b="1" sz="1500">
              <a:solidFill>
                <a:srgbClr val="8BBFFF"/>
              </a:solidFill>
            </a:endParaRPr>
          </a:p>
        </p:txBody>
      </p:sp>
      <p:sp>
        <p:nvSpPr>
          <p:cNvPr id="697" name="Google Shape;697;p49"/>
          <p:cNvSpPr txBox="1"/>
          <p:nvPr/>
        </p:nvSpPr>
        <p:spPr>
          <a:xfrm>
            <a:off x="3302000" y="2171700"/>
            <a:ext cx="2565300" cy="139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E7EEF7"/>
                </a:solidFill>
              </a:rPr>
              <a:t>RoboGPC</a:t>
            </a:r>
            <a:endParaRPr sz="2100">
              <a:solidFill>
                <a:srgbClr val="E7EEF7"/>
              </a:solidFill>
            </a:endParaRPr>
          </a:p>
          <a:p>
            <a:pPr indent="0" lvl="0" marL="0" marR="0" rtl="0" algn="l">
              <a:lnSpc>
                <a:spcPct val="115000"/>
              </a:lnSpc>
              <a:spcBef>
                <a:spcPts val="0"/>
              </a:spcBef>
              <a:spcAft>
                <a:spcPts val="0"/>
              </a:spcAft>
              <a:buNone/>
            </a:pPr>
            <a:r>
              <a:rPr lang="en" sz="2100">
                <a:solidFill>
                  <a:srgbClr val="E7EEF7"/>
                </a:solidFill>
              </a:rPr>
              <a:t>and Metatron</a:t>
            </a:r>
            <a:endParaRPr sz="2100">
              <a:solidFill>
                <a:srgbClr val="E7EEF7"/>
              </a:solidFill>
            </a:endParaRPr>
          </a:p>
        </p:txBody>
      </p:sp>
      <p:sp>
        <p:nvSpPr>
          <p:cNvPr id="698" name="Google Shape;698;p49"/>
          <p:cNvSpPr txBox="1"/>
          <p:nvPr/>
        </p:nvSpPr>
        <p:spPr>
          <a:xfrm>
            <a:off x="6223000" y="1638300"/>
            <a:ext cx="25653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8BBFFF"/>
                </a:solidFill>
              </a:rPr>
              <a:t>YOUR EXPERIMENTS</a:t>
            </a:r>
            <a:endParaRPr b="1" sz="1500">
              <a:solidFill>
                <a:srgbClr val="8BBFFF"/>
              </a:solidFill>
            </a:endParaRPr>
          </a:p>
        </p:txBody>
      </p:sp>
      <p:sp>
        <p:nvSpPr>
          <p:cNvPr id="699" name="Google Shape;699;p49"/>
          <p:cNvSpPr txBox="1"/>
          <p:nvPr/>
        </p:nvSpPr>
        <p:spPr>
          <a:xfrm>
            <a:off x="6223000" y="2171700"/>
            <a:ext cx="2565300" cy="139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rgbClr val="E7EEF7"/>
                </a:solidFill>
              </a:rPr>
              <a:t>Build and test a</a:t>
            </a:r>
            <a:endParaRPr sz="2100">
              <a:solidFill>
                <a:srgbClr val="E7EEF7"/>
              </a:solidFill>
            </a:endParaRPr>
          </a:p>
          <a:p>
            <a:pPr indent="0" lvl="0" marL="0" marR="0" rtl="0" algn="l">
              <a:lnSpc>
                <a:spcPct val="115000"/>
              </a:lnSpc>
              <a:spcBef>
                <a:spcPts val="0"/>
              </a:spcBef>
              <a:spcAft>
                <a:spcPts val="0"/>
              </a:spcAft>
              <a:buNone/>
            </a:pPr>
            <a:r>
              <a:rPr lang="en" sz="2100">
                <a:solidFill>
                  <a:srgbClr val="E7EEF7"/>
                </a:solidFill>
              </a:rPr>
              <a:t>walking controller</a:t>
            </a:r>
            <a:endParaRPr sz="2100">
              <a:solidFill>
                <a:srgbClr val="E7EEF7"/>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703" name="Shape 703"/>
        <p:cNvGrpSpPr/>
        <p:nvPr/>
      </p:nvGrpSpPr>
      <p:grpSpPr>
        <a:xfrm>
          <a:off x="0" y="0"/>
          <a:ext cx="0" cy="0"/>
          <a:chOff x="0" y="0"/>
          <a:chExt cx="0" cy="0"/>
        </a:xfrm>
      </p:grpSpPr>
      <p:sp>
        <p:nvSpPr>
          <p:cNvPr id="704" name="Google Shape;704;p50"/>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5" name="Google Shape;705;p50"/>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6" name="Google Shape;706;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AlphaNIST: learn how to assemble</a:t>
            </a:r>
            <a:endParaRPr b="1">
              <a:solidFill>
                <a:srgbClr val="15253B"/>
              </a:solidFill>
            </a:endParaRPr>
          </a:p>
        </p:txBody>
      </p:sp>
      <p:sp>
        <p:nvSpPr>
          <p:cNvPr id="707" name="Google Shape;707;p50"/>
          <p:cNvSpPr txBox="1"/>
          <p:nvPr/>
        </p:nvSpPr>
        <p:spPr>
          <a:xfrm>
            <a:off x="5842000" y="1397000"/>
            <a:ext cx="2921100" cy="2387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800">
                <a:solidFill>
                  <a:srgbClr val="5C5C5C"/>
                </a:solidFill>
              </a:rPr>
              <a:t>No demonstrations.</a:t>
            </a:r>
            <a:endParaRPr sz="1800">
              <a:solidFill>
                <a:srgbClr val="5C5C5C"/>
              </a:solidFill>
            </a:endParaRPr>
          </a:p>
          <a:p>
            <a:pPr indent="0" lvl="0" marL="0" marR="0" rtl="0" algn="l">
              <a:lnSpc>
                <a:spcPct val="110000"/>
              </a:lnSpc>
              <a:spcBef>
                <a:spcPts val="0"/>
              </a:spcBef>
              <a:spcAft>
                <a:spcPts val="0"/>
              </a:spcAft>
              <a:buNone/>
            </a:pPr>
            <a:r>
              <a:t/>
            </a:r>
            <a:endParaRPr sz="1800">
              <a:solidFill>
                <a:srgbClr val="5C5C5C"/>
              </a:solidFill>
            </a:endParaRPr>
          </a:p>
          <a:p>
            <a:pPr indent="0" lvl="0" marL="0" marR="0" rtl="0" algn="l">
              <a:lnSpc>
                <a:spcPct val="110000"/>
              </a:lnSpc>
              <a:spcBef>
                <a:spcPts val="0"/>
              </a:spcBef>
              <a:spcAft>
                <a:spcPts val="0"/>
              </a:spcAft>
              <a:buNone/>
            </a:pPr>
            <a:r>
              <a:rPr lang="en" sz="1800">
                <a:solidFill>
                  <a:srgbClr val="5C5C5C"/>
                </a:solidFill>
              </a:rPr>
              <a:t>No scripted stages.</a:t>
            </a:r>
            <a:endParaRPr sz="1800">
              <a:solidFill>
                <a:srgbClr val="5C5C5C"/>
              </a:solidFill>
            </a:endParaRPr>
          </a:p>
          <a:p>
            <a:pPr indent="0" lvl="0" marL="0" marR="0" rtl="0" algn="l">
              <a:lnSpc>
                <a:spcPct val="110000"/>
              </a:lnSpc>
              <a:spcBef>
                <a:spcPts val="0"/>
              </a:spcBef>
              <a:spcAft>
                <a:spcPts val="0"/>
              </a:spcAft>
              <a:buNone/>
            </a:pPr>
            <a:r>
              <a:t/>
            </a:r>
            <a:endParaRPr sz="1800">
              <a:solidFill>
                <a:srgbClr val="5C5C5C"/>
              </a:solidFill>
            </a:endParaRPr>
          </a:p>
          <a:p>
            <a:pPr indent="0" lvl="0" marL="0" marR="0" rtl="0" algn="l">
              <a:lnSpc>
                <a:spcPct val="110000"/>
              </a:lnSpc>
              <a:spcBef>
                <a:spcPts val="0"/>
              </a:spcBef>
              <a:spcAft>
                <a:spcPts val="0"/>
              </a:spcAft>
              <a:buNone/>
            </a:pPr>
            <a:r>
              <a:rPr lang="en" sz="1800">
                <a:solidFill>
                  <a:srgbClr val="5C5C5C"/>
                </a:solidFill>
              </a:rPr>
              <a:t>Ten parts, one learned sequence.</a:t>
            </a:r>
            <a:endParaRPr sz="1800">
              <a:solidFill>
                <a:srgbClr val="5C5C5C"/>
              </a:solidFill>
            </a:endParaRPr>
          </a:p>
        </p:txBody>
      </p:sp>
      <p:sp>
        <p:nvSpPr>
          <p:cNvPr id="708" name="Google Shape;708;p50"/>
          <p:cNvSpPr txBox="1"/>
          <p:nvPr/>
        </p:nvSpPr>
        <p:spPr>
          <a:xfrm>
            <a:off x="381000" y="4584700"/>
            <a:ext cx="8382000" cy="2031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100" u="sng">
                <a:solidFill>
                  <a:schemeClr val="hlink"/>
                </a:solidFill>
                <a:hlinkClick r:id="rId3"/>
              </a:rPr>
              <a:t>Ten-part policy · Isaac Lab simulation · Zhang et al., 2026</a:t>
            </a:r>
            <a:endParaRPr sz="1100">
              <a:solidFill>
                <a:srgbClr val="5C5C5C"/>
              </a:solidFill>
            </a:endParaRPr>
          </a:p>
        </p:txBody>
      </p:sp>
      <p:sp>
        <p:nvSpPr>
          <p:cNvPr id="709" name="Google Shape;709;p50"/>
          <p:cNvSpPr txBox="1"/>
          <p:nvPr/>
        </p:nvSpPr>
        <p:spPr>
          <a:xfrm>
            <a:off x="381000" y="4889500"/>
            <a:ext cx="8382000" cy="1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596C82"/>
                </a:solidFill>
              </a:rPr>
              <a:t>ROBOT-ARM MANIPULATION   /   38 OF 51</a:t>
            </a:r>
            <a:endParaRPr sz="900">
              <a:solidFill>
                <a:srgbClr val="596C82"/>
              </a:solidFill>
            </a:endParaRPr>
          </a:p>
        </p:txBody>
      </p:sp>
      <p:pic>
        <p:nvPicPr>
          <p:cNvPr id="710" name="Google Shape;710;p50">
            <a:hlinkClick r:id="rId4"/>
          </p:cNvPr>
          <p:cNvPicPr preferRelativeResize="0"/>
          <p:nvPr/>
        </p:nvPicPr>
        <p:blipFill>
          <a:blip r:embed="rId5">
            <a:alphaModFix/>
          </a:blip>
          <a:stretch>
            <a:fillRect/>
          </a:stretch>
        </p:blipFill>
        <p:spPr>
          <a:xfrm>
            <a:off x="381000" y="1219200"/>
            <a:ext cx="5080000" cy="2857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1000"/>
                                        <p:tgtEl>
                                          <p:spTgt spid="7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714" name="Shape 714"/>
        <p:cNvGrpSpPr/>
        <p:nvPr/>
      </p:nvGrpSpPr>
      <p:grpSpPr>
        <a:xfrm>
          <a:off x="0" y="0"/>
          <a:ext cx="0" cy="0"/>
          <a:chOff x="0" y="0"/>
          <a:chExt cx="0" cy="0"/>
        </a:xfrm>
      </p:grpSpPr>
      <p:sp>
        <p:nvSpPr>
          <p:cNvPr id="715" name="Google Shape;715;p51"/>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6" name="Google Shape;716;p51"/>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7" name="Google Shape;71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AlphaNIST: make sparse rewards learnable</a:t>
            </a:r>
            <a:endParaRPr b="1">
              <a:solidFill>
                <a:srgbClr val="15253B"/>
              </a:solidFill>
            </a:endParaRPr>
          </a:p>
        </p:txBody>
      </p:sp>
      <p:sp>
        <p:nvSpPr>
          <p:cNvPr id="718" name="Google Shape;718;p51"/>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ROBOT-ARM MANIPULATION   /   39 OF 51</a:t>
            </a:r>
            <a:endParaRPr sz="900">
              <a:solidFill>
                <a:srgbClr val="596C82"/>
              </a:solidFill>
            </a:endParaRPr>
          </a:p>
        </p:txBody>
      </p:sp>
      <p:sp>
        <p:nvSpPr>
          <p:cNvPr id="719" name="Google Shape;719;p51"/>
          <p:cNvSpPr txBox="1"/>
          <p:nvPr/>
        </p:nvSpPr>
        <p:spPr>
          <a:xfrm>
            <a:off x="381000" y="1219200"/>
            <a:ext cx="25653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1  VARIED STARTS</a:t>
            </a:r>
            <a:endParaRPr b="1" sz="1500">
              <a:solidFill>
                <a:srgbClr val="4285F4"/>
              </a:solidFill>
            </a:endParaRPr>
          </a:p>
        </p:txBody>
      </p:sp>
      <p:sp>
        <p:nvSpPr>
          <p:cNvPr id="720" name="Google Shape;720;p51"/>
          <p:cNvSpPr txBox="1"/>
          <p:nvPr/>
        </p:nvSpPr>
        <p:spPr>
          <a:xfrm>
            <a:off x="381000" y="1701800"/>
            <a:ext cx="2565300" cy="736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22222"/>
                </a:solidFill>
              </a:rPr>
              <a:t>Loose, grasped or</a:t>
            </a:r>
            <a:endParaRPr sz="2000">
              <a:solidFill>
                <a:srgbClr val="222222"/>
              </a:solidFill>
            </a:endParaRPr>
          </a:p>
          <a:p>
            <a:pPr indent="0" lvl="0" marL="0" marR="0" rtl="0" algn="l">
              <a:lnSpc>
                <a:spcPct val="115000"/>
              </a:lnSpc>
              <a:spcBef>
                <a:spcPts val="0"/>
              </a:spcBef>
              <a:spcAft>
                <a:spcPts val="0"/>
              </a:spcAft>
              <a:buNone/>
            </a:pPr>
            <a:r>
              <a:rPr lang="en" sz="2000">
                <a:solidFill>
                  <a:srgbClr val="222222"/>
                </a:solidFill>
              </a:rPr>
              <a:t>partly assembled</a:t>
            </a:r>
            <a:endParaRPr sz="2000">
              <a:solidFill>
                <a:srgbClr val="222222"/>
              </a:solidFill>
            </a:endParaRPr>
          </a:p>
        </p:txBody>
      </p:sp>
      <p:sp>
        <p:nvSpPr>
          <p:cNvPr id="721" name="Google Shape;721;p51"/>
          <p:cNvSpPr txBox="1"/>
          <p:nvPr/>
        </p:nvSpPr>
        <p:spPr>
          <a:xfrm>
            <a:off x="3302000" y="1219200"/>
            <a:ext cx="25653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2  PICK PRACTICE</a:t>
            </a:r>
            <a:endParaRPr b="1" sz="1500">
              <a:solidFill>
                <a:srgbClr val="4285F4"/>
              </a:solidFill>
            </a:endParaRPr>
          </a:p>
        </p:txBody>
      </p:sp>
      <p:sp>
        <p:nvSpPr>
          <p:cNvPr id="722" name="Google Shape;722;p51"/>
          <p:cNvSpPr txBox="1"/>
          <p:nvPr/>
        </p:nvSpPr>
        <p:spPr>
          <a:xfrm>
            <a:off x="3302000" y="1701800"/>
            <a:ext cx="2565300" cy="736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22222"/>
                </a:solidFill>
              </a:rPr>
              <a:t>Favor starts with</a:t>
            </a:r>
            <a:endParaRPr sz="2000">
              <a:solidFill>
                <a:srgbClr val="222222"/>
              </a:solidFill>
            </a:endParaRPr>
          </a:p>
          <a:p>
            <a:pPr indent="0" lvl="0" marL="0" marR="0" rtl="0" algn="l">
              <a:lnSpc>
                <a:spcPct val="115000"/>
              </a:lnSpc>
              <a:spcBef>
                <a:spcPts val="0"/>
              </a:spcBef>
              <a:spcAft>
                <a:spcPts val="0"/>
              </a:spcAft>
              <a:buNone/>
            </a:pPr>
            <a:r>
              <a:rPr lang="en" sz="2000">
                <a:solidFill>
                  <a:srgbClr val="222222"/>
                </a:solidFill>
              </a:rPr>
              <a:t>~50% success</a:t>
            </a:r>
            <a:endParaRPr sz="2000">
              <a:solidFill>
                <a:srgbClr val="222222"/>
              </a:solidFill>
            </a:endParaRPr>
          </a:p>
        </p:txBody>
      </p:sp>
      <p:sp>
        <p:nvSpPr>
          <p:cNvPr id="723" name="Google Shape;723;p51"/>
          <p:cNvSpPr txBox="1"/>
          <p:nvPr/>
        </p:nvSpPr>
        <p:spPr>
          <a:xfrm>
            <a:off x="6223000" y="1219200"/>
            <a:ext cx="25653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3  TRAIN WITH PPO</a:t>
            </a:r>
            <a:endParaRPr b="1" sz="1500">
              <a:solidFill>
                <a:srgbClr val="4285F4"/>
              </a:solidFill>
            </a:endParaRPr>
          </a:p>
        </p:txBody>
      </p:sp>
      <p:sp>
        <p:nvSpPr>
          <p:cNvPr id="724" name="Google Shape;724;p51"/>
          <p:cNvSpPr txBox="1"/>
          <p:nvPr/>
        </p:nvSpPr>
        <p:spPr>
          <a:xfrm>
            <a:off x="6223000" y="1701800"/>
            <a:ext cx="2565300" cy="736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22222"/>
                </a:solidFill>
              </a:rPr>
              <a:t>Reward success,</a:t>
            </a:r>
            <a:endParaRPr sz="2000">
              <a:solidFill>
                <a:srgbClr val="222222"/>
              </a:solidFill>
            </a:endParaRPr>
          </a:p>
          <a:p>
            <a:pPr indent="0" lvl="0" marL="0" marR="0" rtl="0" algn="l">
              <a:lnSpc>
                <a:spcPct val="115000"/>
              </a:lnSpc>
              <a:spcBef>
                <a:spcPts val="0"/>
              </a:spcBef>
              <a:spcAft>
                <a:spcPts val="0"/>
              </a:spcAft>
              <a:buNone/>
            </a:pPr>
            <a:r>
              <a:rPr lang="en" sz="2000">
                <a:solidFill>
                  <a:srgbClr val="222222"/>
                </a:solidFill>
              </a:rPr>
              <a:t>not progress</a:t>
            </a:r>
            <a:endParaRPr sz="2000">
              <a:solidFill>
                <a:srgbClr val="222222"/>
              </a:solidFill>
            </a:endParaRPr>
          </a:p>
        </p:txBody>
      </p:sp>
      <p:cxnSp>
        <p:nvCxnSpPr>
          <p:cNvPr id="725" name="Google Shape;725;p51"/>
          <p:cNvCxnSpPr/>
          <p:nvPr/>
        </p:nvCxnSpPr>
        <p:spPr>
          <a:xfrm>
            <a:off x="3009900" y="3263900"/>
            <a:ext cx="216000" cy="0"/>
          </a:xfrm>
          <a:prstGeom prst="straightConnector1">
            <a:avLst/>
          </a:prstGeom>
          <a:noFill/>
          <a:ln cap="flat" cmpd="sng" w="25400">
            <a:solidFill>
              <a:srgbClr val="4285F4"/>
            </a:solidFill>
            <a:prstDash val="solid"/>
            <a:round/>
            <a:headEnd len="med" w="med" type="none"/>
            <a:tailEnd len="med" w="med" type="triangle"/>
          </a:ln>
        </p:spPr>
      </p:cxnSp>
      <p:cxnSp>
        <p:nvCxnSpPr>
          <p:cNvPr id="726" name="Google Shape;726;p51"/>
          <p:cNvCxnSpPr/>
          <p:nvPr/>
        </p:nvCxnSpPr>
        <p:spPr>
          <a:xfrm>
            <a:off x="5930900" y="3263900"/>
            <a:ext cx="216000" cy="0"/>
          </a:xfrm>
          <a:prstGeom prst="straightConnector1">
            <a:avLst/>
          </a:prstGeom>
          <a:noFill/>
          <a:ln cap="flat" cmpd="sng" w="25400">
            <a:solidFill>
              <a:srgbClr val="4285F4"/>
            </a:solidFill>
            <a:prstDash val="solid"/>
            <a:round/>
            <a:headEnd len="med" w="med" type="none"/>
            <a:tailEnd len="med" w="med" type="triangle"/>
          </a:ln>
        </p:spPr>
      </p:cxnSp>
      <p:sp>
        <p:nvSpPr>
          <p:cNvPr id="727" name="Google Shape;727;p51"/>
          <p:cNvSpPr txBox="1"/>
          <p:nvPr/>
        </p:nvSpPr>
        <p:spPr>
          <a:xfrm>
            <a:off x="381000" y="4622800"/>
            <a:ext cx="8382000" cy="1905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000" u="sng">
                <a:solidFill>
                  <a:schemeClr val="hlink"/>
                </a:solidFill>
                <a:hlinkClick r:id="rId3"/>
              </a:rPr>
              <a:t>Zhang et al., 2026 · NVIDIA and University of Washington · Simulation</a:t>
            </a:r>
            <a:endParaRPr sz="1000">
              <a:solidFill>
                <a:srgbClr val="5C5C5C"/>
              </a:solidFill>
            </a:endParaRPr>
          </a:p>
        </p:txBody>
      </p:sp>
      <p:pic>
        <p:nvPicPr>
          <p:cNvPr id="728" name="Google Shape;728;p51"/>
          <p:cNvPicPr preferRelativeResize="0"/>
          <p:nvPr/>
        </p:nvPicPr>
        <p:blipFill>
          <a:blip r:embed="rId4">
            <a:alphaModFix/>
          </a:blip>
          <a:stretch>
            <a:fillRect/>
          </a:stretch>
        </p:blipFill>
        <p:spPr>
          <a:xfrm>
            <a:off x="520700" y="2565400"/>
            <a:ext cx="2286000" cy="1714500"/>
          </a:xfrm>
          <a:prstGeom prst="rect">
            <a:avLst/>
          </a:prstGeom>
          <a:noFill/>
          <a:ln>
            <a:noFill/>
          </a:ln>
        </p:spPr>
      </p:pic>
      <p:sp>
        <p:nvSpPr>
          <p:cNvPr id="729" name="Google Shape;729;p51"/>
          <p:cNvSpPr/>
          <p:nvPr/>
        </p:nvSpPr>
        <p:spPr>
          <a:xfrm>
            <a:off x="3467100" y="3644900"/>
            <a:ext cx="2235300" cy="12600"/>
          </a:xfrm>
          <a:prstGeom prst="rect">
            <a:avLst/>
          </a:prstGeom>
          <a:solidFill>
            <a:srgbClr val="A6B0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0" name="Google Shape;730;p51"/>
          <p:cNvSpPr/>
          <p:nvPr/>
        </p:nvSpPr>
        <p:spPr>
          <a:xfrm>
            <a:off x="3606800" y="3517900"/>
            <a:ext cx="393600" cy="1269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1" name="Google Shape;731;p51"/>
          <p:cNvSpPr/>
          <p:nvPr/>
        </p:nvSpPr>
        <p:spPr>
          <a:xfrm>
            <a:off x="4368800" y="2870200"/>
            <a:ext cx="393600" cy="774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2" name="Google Shape;732;p51"/>
          <p:cNvSpPr/>
          <p:nvPr/>
        </p:nvSpPr>
        <p:spPr>
          <a:xfrm>
            <a:off x="5130800" y="3517900"/>
            <a:ext cx="393600" cy="1269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3" name="Google Shape;733;p51"/>
          <p:cNvSpPr txBox="1"/>
          <p:nvPr/>
        </p:nvSpPr>
        <p:spPr>
          <a:xfrm>
            <a:off x="3492500" y="3683000"/>
            <a:ext cx="609600" cy="2922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1300">
                <a:solidFill>
                  <a:srgbClr val="212121"/>
                </a:solidFill>
              </a:rPr>
              <a:t>0%</a:t>
            </a:r>
            <a:endParaRPr sz="1300">
              <a:solidFill>
                <a:srgbClr val="212121"/>
              </a:solidFill>
            </a:endParaRPr>
          </a:p>
        </p:txBody>
      </p:sp>
      <p:sp>
        <p:nvSpPr>
          <p:cNvPr id="734" name="Google Shape;734;p51"/>
          <p:cNvSpPr txBox="1"/>
          <p:nvPr/>
        </p:nvSpPr>
        <p:spPr>
          <a:xfrm>
            <a:off x="4254500" y="3683000"/>
            <a:ext cx="622200" cy="2922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1300">
                <a:solidFill>
                  <a:srgbClr val="212121"/>
                </a:solidFill>
              </a:rPr>
              <a:t>50%</a:t>
            </a:r>
            <a:endParaRPr sz="1300">
              <a:solidFill>
                <a:srgbClr val="212121"/>
              </a:solidFill>
            </a:endParaRPr>
          </a:p>
        </p:txBody>
      </p:sp>
      <p:sp>
        <p:nvSpPr>
          <p:cNvPr id="735" name="Google Shape;735;p51"/>
          <p:cNvSpPr txBox="1"/>
          <p:nvPr/>
        </p:nvSpPr>
        <p:spPr>
          <a:xfrm>
            <a:off x="5003800" y="3683000"/>
            <a:ext cx="723900" cy="2922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1300">
                <a:solidFill>
                  <a:srgbClr val="212121"/>
                </a:solidFill>
              </a:rPr>
              <a:t>100%</a:t>
            </a:r>
            <a:endParaRPr sz="1300">
              <a:solidFill>
                <a:srgbClr val="212121"/>
              </a:solidFill>
            </a:endParaRPr>
          </a:p>
        </p:txBody>
      </p:sp>
      <p:sp>
        <p:nvSpPr>
          <p:cNvPr id="736" name="Google Shape;736;p51"/>
          <p:cNvSpPr txBox="1"/>
          <p:nvPr/>
        </p:nvSpPr>
        <p:spPr>
          <a:xfrm>
            <a:off x="3390900" y="3987800"/>
            <a:ext cx="2336700" cy="2793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1300">
                <a:solidFill>
                  <a:srgbClr val="212121"/>
                </a:solidFill>
              </a:rPr>
              <a:t>Recent success rate</a:t>
            </a:r>
            <a:endParaRPr sz="1300">
              <a:solidFill>
                <a:srgbClr val="212121"/>
              </a:solidFill>
            </a:endParaRPr>
          </a:p>
        </p:txBody>
      </p:sp>
      <p:sp>
        <p:nvSpPr>
          <p:cNvPr id="737" name="Google Shape;737;p51"/>
          <p:cNvSpPr txBox="1"/>
          <p:nvPr/>
        </p:nvSpPr>
        <p:spPr>
          <a:xfrm>
            <a:off x="3581400" y="2552700"/>
            <a:ext cx="2031900" cy="2793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b="1" lang="en" sz="1500">
                <a:solidFill>
                  <a:srgbClr val="4285F4"/>
                </a:solidFill>
              </a:rPr>
              <a:t>More practice</a:t>
            </a:r>
            <a:endParaRPr b="1" sz="1500">
              <a:solidFill>
                <a:srgbClr val="4285F4"/>
              </a:solidFill>
            </a:endParaRPr>
          </a:p>
        </p:txBody>
      </p:sp>
      <p:sp>
        <p:nvSpPr>
          <p:cNvPr id="738" name="Google Shape;738;p51"/>
          <p:cNvSpPr txBox="1"/>
          <p:nvPr/>
        </p:nvSpPr>
        <p:spPr>
          <a:xfrm>
            <a:off x="6248400" y="2768600"/>
            <a:ext cx="2438400" cy="444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b="1" lang="en" sz="2000">
                <a:solidFill>
                  <a:srgbClr val="4285F4"/>
                </a:solidFill>
              </a:rPr>
              <a:t>Completion: 1</a:t>
            </a:r>
            <a:endParaRPr b="1" sz="2000">
              <a:solidFill>
                <a:srgbClr val="4285F4"/>
              </a:solidFill>
            </a:endParaRPr>
          </a:p>
        </p:txBody>
      </p:sp>
      <p:sp>
        <p:nvSpPr>
          <p:cNvPr id="739" name="Google Shape;739;p51"/>
          <p:cNvSpPr txBox="1"/>
          <p:nvPr/>
        </p:nvSpPr>
        <p:spPr>
          <a:xfrm>
            <a:off x="6248400" y="3263900"/>
            <a:ext cx="2438400" cy="3684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2000">
                <a:solidFill>
                  <a:srgbClr val="212121"/>
                </a:solidFill>
              </a:rPr>
              <a:t>0 otherwise</a:t>
            </a:r>
            <a:endParaRPr sz="2000">
              <a:solidFill>
                <a:srgbClr val="212121"/>
              </a:solidFill>
            </a:endParaRPr>
          </a:p>
        </p:txBody>
      </p:sp>
      <p:sp>
        <p:nvSpPr>
          <p:cNvPr id="740" name="Google Shape;740;p51"/>
          <p:cNvSpPr txBox="1"/>
          <p:nvPr/>
        </p:nvSpPr>
        <p:spPr>
          <a:xfrm>
            <a:off x="6248400" y="3797300"/>
            <a:ext cx="2438400" cy="6096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a:solidFill>
                  <a:srgbClr val="212121"/>
                </a:solidFill>
              </a:rPr>
              <a:t>Also penalize</a:t>
            </a:r>
            <a:endParaRPr>
              <a:solidFill>
                <a:srgbClr val="212121"/>
              </a:solidFill>
            </a:endParaRPr>
          </a:p>
          <a:p>
            <a:pPr indent="0" lvl="0" marL="0" rtl="0" algn="ctr">
              <a:lnSpc>
                <a:spcPct val="105000"/>
              </a:lnSpc>
              <a:spcBef>
                <a:spcPts val="0"/>
              </a:spcBef>
              <a:spcAft>
                <a:spcPts val="0"/>
              </a:spcAft>
              <a:buNone/>
            </a:pPr>
            <a:r>
              <a:rPr lang="en">
                <a:solidFill>
                  <a:srgbClr val="212121"/>
                </a:solidFill>
              </a:rPr>
              <a:t>excessive control effort</a:t>
            </a:r>
            <a:endParaRPr>
              <a:solidFill>
                <a:srgbClr val="212121"/>
              </a:solidFill>
            </a:endParaRPr>
          </a:p>
        </p:txBody>
      </p:sp>
      <p:sp>
        <p:nvSpPr>
          <p:cNvPr id="741" name="Google Shape;741;p51"/>
          <p:cNvSpPr txBox="1"/>
          <p:nvPr/>
        </p:nvSpPr>
        <p:spPr>
          <a:xfrm>
            <a:off x="381000" y="4292600"/>
            <a:ext cx="8382000" cy="2793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a:solidFill>
                  <a:srgbClr val="212121"/>
                </a:solidFill>
              </a:rPr>
              <a:t>Robot state + geometry → policy → joint targets + gripper</a:t>
            </a:r>
            <a:endParaRPr>
              <a:solidFill>
                <a:srgbClr val="21212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745" name="Shape 745"/>
        <p:cNvGrpSpPr/>
        <p:nvPr/>
      </p:nvGrpSpPr>
      <p:grpSpPr>
        <a:xfrm>
          <a:off x="0" y="0"/>
          <a:ext cx="0" cy="0"/>
          <a:chOff x="0" y="0"/>
          <a:chExt cx="0" cy="0"/>
        </a:xfrm>
      </p:grpSpPr>
      <p:sp>
        <p:nvSpPr>
          <p:cNvPr id="746" name="Google Shape;746;p52"/>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7" name="Google Shape;747;p52"/>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8" name="Google Shape;748;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ADEPT: learned dexterity on real robots</a:t>
            </a:r>
            <a:endParaRPr b="1">
              <a:solidFill>
                <a:srgbClr val="15253B"/>
              </a:solidFill>
            </a:endParaRPr>
          </a:p>
        </p:txBody>
      </p:sp>
      <p:sp>
        <p:nvSpPr>
          <p:cNvPr id="749" name="Google Shape;749;p52"/>
          <p:cNvSpPr txBox="1"/>
          <p:nvPr/>
        </p:nvSpPr>
        <p:spPr>
          <a:xfrm>
            <a:off x="381000" y="1244600"/>
            <a:ext cx="4038600" cy="4698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4285F4"/>
                </a:solidFill>
              </a:rPr>
              <a:t>Grasp, reorient, insert</a:t>
            </a:r>
            <a:endParaRPr b="1" sz="2200">
              <a:solidFill>
                <a:srgbClr val="4285F4"/>
              </a:solidFill>
            </a:endParaRPr>
          </a:p>
        </p:txBody>
      </p:sp>
      <p:sp>
        <p:nvSpPr>
          <p:cNvPr id="750" name="Google Shape;750;p52"/>
          <p:cNvSpPr txBox="1"/>
          <p:nvPr/>
        </p:nvSpPr>
        <p:spPr>
          <a:xfrm>
            <a:off x="4724400" y="1244600"/>
            <a:ext cx="4038600" cy="4698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4285F4"/>
                </a:solidFill>
              </a:rPr>
              <a:t>Flip, grasp, place</a:t>
            </a:r>
            <a:endParaRPr b="1" sz="2200">
              <a:solidFill>
                <a:srgbClr val="4285F4"/>
              </a:solidFill>
            </a:endParaRPr>
          </a:p>
        </p:txBody>
      </p:sp>
      <p:sp>
        <p:nvSpPr>
          <p:cNvPr id="751" name="Google Shape;751;p52"/>
          <p:cNvSpPr txBox="1"/>
          <p:nvPr/>
        </p:nvSpPr>
        <p:spPr>
          <a:xfrm>
            <a:off x="381000" y="4140200"/>
            <a:ext cx="8382000" cy="393600"/>
          </a:xfrm>
          <a:prstGeom prst="rect">
            <a:avLst/>
          </a:prstGeom>
          <a:solidFill>
            <a:srgbClr val="E1EBF9"/>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800">
                <a:solidFill>
                  <a:srgbClr val="275D9F"/>
                </a:solidFill>
              </a:rPr>
              <a:t>Insertion: 8/10 with vision + touch; 3/10 with vision alone.</a:t>
            </a:r>
            <a:endParaRPr b="1" sz="1800">
              <a:solidFill>
                <a:srgbClr val="275D9F"/>
              </a:solidFill>
            </a:endParaRPr>
          </a:p>
        </p:txBody>
      </p:sp>
      <p:sp>
        <p:nvSpPr>
          <p:cNvPr id="752" name="Google Shape;752;p52"/>
          <p:cNvSpPr txBox="1"/>
          <p:nvPr/>
        </p:nvSpPr>
        <p:spPr>
          <a:xfrm>
            <a:off x="381000" y="4584700"/>
            <a:ext cx="8382000" cy="2031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100">
                <a:solidFill>
                  <a:srgbClr val="5C5C5C"/>
                </a:solidFill>
              </a:rPr>
              <a:t>Flexiv–Sharpa insertion · 10 trials / condition · Lee et al., CoRL 2026</a:t>
            </a:r>
            <a:endParaRPr sz="1100">
              <a:solidFill>
                <a:srgbClr val="5C5C5C"/>
              </a:solidFill>
            </a:endParaRPr>
          </a:p>
        </p:txBody>
      </p:sp>
      <p:sp>
        <p:nvSpPr>
          <p:cNvPr id="753" name="Google Shape;753;p52"/>
          <p:cNvSpPr txBox="1"/>
          <p:nvPr/>
        </p:nvSpPr>
        <p:spPr>
          <a:xfrm>
            <a:off x="381000" y="4889500"/>
            <a:ext cx="8382000" cy="1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596C82"/>
                </a:solidFill>
              </a:rPr>
              <a:t>ROBOT-ARM MANIPULATION   /   40 OF 51</a:t>
            </a:r>
            <a:endParaRPr sz="900">
              <a:solidFill>
                <a:srgbClr val="596C82"/>
              </a:solidFill>
            </a:endParaRPr>
          </a:p>
        </p:txBody>
      </p:sp>
      <p:pic>
        <p:nvPicPr>
          <p:cNvPr id="754" name="Google Shape;754;p52">
            <a:hlinkClick r:id="rId3"/>
          </p:cNvPr>
          <p:cNvPicPr preferRelativeResize="0"/>
          <p:nvPr/>
        </p:nvPicPr>
        <p:blipFill>
          <a:blip r:embed="rId4">
            <a:alphaModFix/>
          </a:blip>
          <a:stretch>
            <a:fillRect/>
          </a:stretch>
        </p:blipFill>
        <p:spPr>
          <a:xfrm>
            <a:off x="381000" y="2032000"/>
            <a:ext cx="4038600" cy="1766887"/>
          </a:xfrm>
          <a:prstGeom prst="rect">
            <a:avLst/>
          </a:prstGeom>
          <a:noFill/>
          <a:ln>
            <a:noFill/>
          </a:ln>
        </p:spPr>
      </p:pic>
      <p:pic>
        <p:nvPicPr>
          <p:cNvPr id="755" name="Google Shape;755;p52">
            <a:hlinkClick r:id="rId5"/>
          </p:cNvPr>
          <p:cNvPicPr preferRelativeResize="0"/>
          <p:nvPr/>
        </p:nvPicPr>
        <p:blipFill>
          <a:blip r:embed="rId6">
            <a:alphaModFix/>
          </a:blip>
          <a:stretch>
            <a:fillRect/>
          </a:stretch>
        </p:blipFill>
        <p:spPr>
          <a:xfrm>
            <a:off x="4724400" y="1790700"/>
            <a:ext cx="4038600" cy="22717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4"/>
                                        </p:tgtEl>
                                        <p:attrNameLst>
                                          <p:attrName>style.visibility</p:attrName>
                                        </p:attrNameLst>
                                      </p:cBhvr>
                                      <p:to>
                                        <p:strVal val="visible"/>
                                      </p:to>
                                    </p:set>
                                    <p:animEffect filter="fade" transition="in">
                                      <p:cBhvr>
                                        <p:cTn dur="1000"/>
                                        <p:tgtEl>
                                          <p:spTgt spid="7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5"/>
                                        </p:tgtEl>
                                        <p:attrNameLst>
                                          <p:attrName>style.visibility</p:attrName>
                                        </p:attrNameLst>
                                      </p:cBhvr>
                                      <p:to>
                                        <p:strVal val="visible"/>
                                      </p:to>
                                    </p:set>
                                    <p:animEffect filter="fade" transition="in">
                                      <p:cBhvr>
                                        <p:cTn dur="1000"/>
                                        <p:tgtEl>
                                          <p:spTgt spid="7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759" name="Shape 759"/>
        <p:cNvGrpSpPr/>
        <p:nvPr/>
      </p:nvGrpSpPr>
      <p:grpSpPr>
        <a:xfrm>
          <a:off x="0" y="0"/>
          <a:ext cx="0" cy="0"/>
          <a:chOff x="0" y="0"/>
          <a:chExt cx="0" cy="0"/>
        </a:xfrm>
      </p:grpSpPr>
      <p:sp>
        <p:nvSpPr>
          <p:cNvPr id="760" name="Google Shape;760;p53"/>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1" name="Google Shape;761;p53"/>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2" name="Google Shape;762;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ADEPT: pretrain, adapt, then deploy</a:t>
            </a:r>
            <a:endParaRPr b="1">
              <a:solidFill>
                <a:srgbClr val="15253B"/>
              </a:solidFill>
            </a:endParaRPr>
          </a:p>
        </p:txBody>
      </p:sp>
      <p:sp>
        <p:nvSpPr>
          <p:cNvPr id="763" name="Google Shape;763;p53"/>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ROBOT-ARM MANIPULATION   /   41 OF 51</a:t>
            </a:r>
            <a:endParaRPr sz="900">
              <a:solidFill>
                <a:srgbClr val="596C82"/>
              </a:solidFill>
            </a:endParaRPr>
          </a:p>
        </p:txBody>
      </p:sp>
      <p:sp>
        <p:nvSpPr>
          <p:cNvPr id="764" name="Google Shape;764;p53"/>
          <p:cNvSpPr txBox="1"/>
          <p:nvPr/>
        </p:nvSpPr>
        <p:spPr>
          <a:xfrm>
            <a:off x="381000" y="1219200"/>
            <a:ext cx="25653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1  PRETRAIN</a:t>
            </a:r>
            <a:endParaRPr b="1" sz="1500">
              <a:solidFill>
                <a:srgbClr val="4285F4"/>
              </a:solidFill>
            </a:endParaRPr>
          </a:p>
        </p:txBody>
      </p:sp>
      <p:sp>
        <p:nvSpPr>
          <p:cNvPr id="765" name="Google Shape;765;p53"/>
          <p:cNvSpPr txBox="1"/>
          <p:nvPr/>
        </p:nvSpPr>
        <p:spPr>
          <a:xfrm>
            <a:off x="381000" y="1701800"/>
            <a:ext cx="2565300" cy="736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22222"/>
                </a:solidFill>
              </a:rPr>
              <a:t>RL on object</a:t>
            </a:r>
            <a:endParaRPr sz="2000">
              <a:solidFill>
                <a:srgbClr val="222222"/>
              </a:solidFill>
            </a:endParaRPr>
          </a:p>
          <a:p>
            <a:pPr indent="0" lvl="0" marL="0" marR="0" rtl="0" algn="l">
              <a:lnSpc>
                <a:spcPct val="115000"/>
              </a:lnSpc>
              <a:spcBef>
                <a:spcPts val="0"/>
              </a:spcBef>
              <a:spcAft>
                <a:spcPts val="0"/>
              </a:spcAft>
              <a:buNone/>
            </a:pPr>
            <a:r>
              <a:rPr lang="en" sz="2000">
                <a:solidFill>
                  <a:srgbClr val="222222"/>
                </a:solidFill>
              </a:rPr>
              <a:t>repositioning</a:t>
            </a:r>
            <a:endParaRPr sz="2000">
              <a:solidFill>
                <a:srgbClr val="222222"/>
              </a:solidFill>
            </a:endParaRPr>
          </a:p>
        </p:txBody>
      </p:sp>
      <p:sp>
        <p:nvSpPr>
          <p:cNvPr id="766" name="Google Shape;766;p53"/>
          <p:cNvSpPr txBox="1"/>
          <p:nvPr/>
        </p:nvSpPr>
        <p:spPr>
          <a:xfrm>
            <a:off x="3302000" y="1219200"/>
            <a:ext cx="25653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2  ADAPT</a:t>
            </a:r>
            <a:endParaRPr b="1" sz="1500">
              <a:solidFill>
                <a:srgbClr val="4285F4"/>
              </a:solidFill>
            </a:endParaRPr>
          </a:p>
        </p:txBody>
      </p:sp>
      <p:sp>
        <p:nvSpPr>
          <p:cNvPr id="767" name="Google Shape;767;p53"/>
          <p:cNvSpPr txBox="1"/>
          <p:nvPr/>
        </p:nvSpPr>
        <p:spPr>
          <a:xfrm>
            <a:off x="3302000" y="1701800"/>
            <a:ext cx="2565300" cy="736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22222"/>
                </a:solidFill>
              </a:rPr>
              <a:t>Fine-tune for</a:t>
            </a:r>
            <a:endParaRPr sz="2000">
              <a:solidFill>
                <a:srgbClr val="222222"/>
              </a:solidFill>
            </a:endParaRPr>
          </a:p>
          <a:p>
            <a:pPr indent="0" lvl="0" marL="0" marR="0" rtl="0" algn="l">
              <a:lnSpc>
                <a:spcPct val="115000"/>
              </a:lnSpc>
              <a:spcBef>
                <a:spcPts val="0"/>
              </a:spcBef>
              <a:spcAft>
                <a:spcPts val="0"/>
              </a:spcAft>
              <a:buNone/>
            </a:pPr>
            <a:r>
              <a:rPr lang="en" sz="2000">
                <a:solidFill>
                  <a:srgbClr val="222222"/>
                </a:solidFill>
              </a:rPr>
              <a:t>a specific task</a:t>
            </a:r>
            <a:endParaRPr sz="2000">
              <a:solidFill>
                <a:srgbClr val="222222"/>
              </a:solidFill>
            </a:endParaRPr>
          </a:p>
        </p:txBody>
      </p:sp>
      <p:sp>
        <p:nvSpPr>
          <p:cNvPr id="768" name="Google Shape;768;p53"/>
          <p:cNvSpPr txBox="1"/>
          <p:nvPr/>
        </p:nvSpPr>
        <p:spPr>
          <a:xfrm>
            <a:off x="6223000" y="1219200"/>
            <a:ext cx="25653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3  DISTILL</a:t>
            </a:r>
            <a:endParaRPr b="1" sz="1500">
              <a:solidFill>
                <a:srgbClr val="4285F4"/>
              </a:solidFill>
            </a:endParaRPr>
          </a:p>
        </p:txBody>
      </p:sp>
      <p:sp>
        <p:nvSpPr>
          <p:cNvPr id="769" name="Google Shape;769;p53"/>
          <p:cNvSpPr txBox="1"/>
          <p:nvPr/>
        </p:nvSpPr>
        <p:spPr>
          <a:xfrm>
            <a:off x="6223000" y="1701800"/>
            <a:ext cx="2565300" cy="736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000">
                <a:solidFill>
                  <a:srgbClr val="222222"/>
                </a:solidFill>
              </a:rPr>
              <a:t>Imitate using</a:t>
            </a:r>
            <a:endParaRPr sz="2000">
              <a:solidFill>
                <a:srgbClr val="222222"/>
              </a:solidFill>
            </a:endParaRPr>
          </a:p>
          <a:p>
            <a:pPr indent="0" lvl="0" marL="0" marR="0" rtl="0" algn="l">
              <a:lnSpc>
                <a:spcPct val="115000"/>
              </a:lnSpc>
              <a:spcBef>
                <a:spcPts val="0"/>
              </a:spcBef>
              <a:spcAft>
                <a:spcPts val="0"/>
              </a:spcAft>
              <a:buNone/>
            </a:pPr>
            <a:r>
              <a:rPr lang="en" sz="2000">
                <a:solidFill>
                  <a:srgbClr val="222222"/>
                </a:solidFill>
              </a:rPr>
              <a:t>robot sensors</a:t>
            </a:r>
            <a:endParaRPr sz="2000">
              <a:solidFill>
                <a:srgbClr val="222222"/>
              </a:solidFill>
            </a:endParaRPr>
          </a:p>
        </p:txBody>
      </p:sp>
      <p:pic>
        <p:nvPicPr>
          <p:cNvPr id="770" name="Google Shape;770;p53"/>
          <p:cNvPicPr preferRelativeResize="0"/>
          <p:nvPr/>
        </p:nvPicPr>
        <p:blipFill>
          <a:blip r:embed="rId3">
            <a:alphaModFix/>
          </a:blip>
          <a:stretch>
            <a:fillRect/>
          </a:stretch>
        </p:blipFill>
        <p:spPr>
          <a:xfrm>
            <a:off x="381000" y="2552700"/>
            <a:ext cx="2565402" cy="1443038"/>
          </a:xfrm>
          <a:prstGeom prst="rect">
            <a:avLst/>
          </a:prstGeom>
          <a:noFill/>
          <a:ln>
            <a:noFill/>
          </a:ln>
        </p:spPr>
      </p:pic>
      <p:cxnSp>
        <p:nvCxnSpPr>
          <p:cNvPr id="771" name="Google Shape;771;p53"/>
          <p:cNvCxnSpPr/>
          <p:nvPr/>
        </p:nvCxnSpPr>
        <p:spPr>
          <a:xfrm>
            <a:off x="3009900" y="3263900"/>
            <a:ext cx="216000" cy="0"/>
          </a:xfrm>
          <a:prstGeom prst="straightConnector1">
            <a:avLst/>
          </a:prstGeom>
          <a:noFill/>
          <a:ln cap="flat" cmpd="sng" w="25400">
            <a:solidFill>
              <a:srgbClr val="4285F4"/>
            </a:solidFill>
            <a:prstDash val="solid"/>
            <a:round/>
            <a:headEnd len="med" w="med" type="none"/>
            <a:tailEnd len="med" w="med" type="triangle"/>
          </a:ln>
        </p:spPr>
      </p:cxnSp>
      <p:pic>
        <p:nvPicPr>
          <p:cNvPr id="772" name="Google Shape;772;p53"/>
          <p:cNvPicPr preferRelativeResize="0"/>
          <p:nvPr/>
        </p:nvPicPr>
        <p:blipFill>
          <a:blip r:embed="rId4">
            <a:alphaModFix/>
          </a:blip>
          <a:stretch>
            <a:fillRect/>
          </a:stretch>
        </p:blipFill>
        <p:spPr>
          <a:xfrm>
            <a:off x="3302000" y="2552700"/>
            <a:ext cx="2565402" cy="1443038"/>
          </a:xfrm>
          <a:prstGeom prst="rect">
            <a:avLst/>
          </a:prstGeom>
          <a:noFill/>
          <a:ln>
            <a:noFill/>
          </a:ln>
        </p:spPr>
      </p:pic>
      <p:cxnSp>
        <p:nvCxnSpPr>
          <p:cNvPr id="773" name="Google Shape;773;p53"/>
          <p:cNvCxnSpPr/>
          <p:nvPr/>
        </p:nvCxnSpPr>
        <p:spPr>
          <a:xfrm>
            <a:off x="5930900" y="3263900"/>
            <a:ext cx="216000" cy="0"/>
          </a:xfrm>
          <a:prstGeom prst="straightConnector1">
            <a:avLst/>
          </a:prstGeom>
          <a:noFill/>
          <a:ln cap="flat" cmpd="sng" w="25400">
            <a:solidFill>
              <a:srgbClr val="4285F4"/>
            </a:solidFill>
            <a:prstDash val="solid"/>
            <a:round/>
            <a:headEnd len="med" w="med" type="none"/>
            <a:tailEnd len="med" w="med" type="triangle"/>
          </a:ln>
        </p:spPr>
      </p:cxnSp>
      <p:pic>
        <p:nvPicPr>
          <p:cNvPr id="774" name="Google Shape;774;p53"/>
          <p:cNvPicPr preferRelativeResize="0"/>
          <p:nvPr/>
        </p:nvPicPr>
        <p:blipFill>
          <a:blip r:embed="rId5">
            <a:alphaModFix/>
          </a:blip>
          <a:stretch>
            <a:fillRect/>
          </a:stretch>
        </p:blipFill>
        <p:spPr>
          <a:xfrm>
            <a:off x="6223000" y="2552700"/>
            <a:ext cx="2565402" cy="1443038"/>
          </a:xfrm>
          <a:prstGeom prst="rect">
            <a:avLst/>
          </a:prstGeom>
          <a:noFill/>
          <a:ln>
            <a:noFill/>
          </a:ln>
        </p:spPr>
      </p:pic>
      <p:sp>
        <p:nvSpPr>
          <p:cNvPr id="775" name="Google Shape;775;p53"/>
          <p:cNvSpPr txBox="1"/>
          <p:nvPr/>
        </p:nvSpPr>
        <p:spPr>
          <a:xfrm>
            <a:off x="381000" y="4622800"/>
            <a:ext cx="8382000" cy="1905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000">
                <a:solidFill>
                  <a:srgbClr val="5C5C5C"/>
                </a:solidFill>
              </a:rPr>
              <a:t>Lee et al., NVIDIA and Michigan</a:t>
            </a:r>
            <a:endParaRPr sz="1000">
              <a:solidFill>
                <a:srgbClr val="5C5C5C"/>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779" name="Shape 779"/>
        <p:cNvGrpSpPr/>
        <p:nvPr/>
      </p:nvGrpSpPr>
      <p:grpSpPr>
        <a:xfrm>
          <a:off x="0" y="0"/>
          <a:ext cx="0" cy="0"/>
          <a:chOff x="0" y="0"/>
          <a:chExt cx="0" cy="0"/>
        </a:xfrm>
      </p:grpSpPr>
      <p:sp>
        <p:nvSpPr>
          <p:cNvPr id="780" name="Google Shape;780;p54"/>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1" name="Google Shape;781;p54"/>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2" name="Google Shape;782;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From motion tracking to reusable control</a:t>
            </a:r>
            <a:endParaRPr b="1">
              <a:solidFill>
                <a:srgbClr val="15253B"/>
              </a:solidFill>
            </a:endParaRPr>
          </a:p>
        </p:txBody>
      </p:sp>
      <p:sp>
        <p:nvSpPr>
          <p:cNvPr id="783" name="Google Shape;783;p54"/>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HUMANOID CONTROL   /   42 OF 51</a:t>
            </a:r>
            <a:endParaRPr sz="900">
              <a:solidFill>
                <a:srgbClr val="596C82"/>
              </a:solidFill>
            </a:endParaRPr>
          </a:p>
        </p:txBody>
      </p:sp>
      <p:sp>
        <p:nvSpPr>
          <p:cNvPr id="784" name="Google Shape;784;p54"/>
          <p:cNvSpPr txBox="1"/>
          <p:nvPr/>
        </p:nvSpPr>
        <p:spPr>
          <a:xfrm>
            <a:off x="1803400" y="1549400"/>
            <a:ext cx="2146200" cy="825600"/>
          </a:xfrm>
          <a:prstGeom prst="rect">
            <a:avLst/>
          </a:prstGeom>
          <a:solidFill>
            <a:srgbClr val="E8EDF3"/>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800">
                <a:solidFill>
                  <a:srgbClr val="222222"/>
                </a:solidFill>
              </a:rPr>
              <a:t>Track motions with</a:t>
            </a:r>
            <a:endParaRPr sz="1800">
              <a:solidFill>
                <a:srgbClr val="222222"/>
              </a:solidFill>
            </a:endParaRPr>
          </a:p>
          <a:p>
            <a:pPr indent="0" lvl="0" marL="0" marR="0" rtl="0" algn="l">
              <a:lnSpc>
                <a:spcPct val="115000"/>
              </a:lnSpc>
              <a:spcBef>
                <a:spcPts val="0"/>
              </a:spcBef>
              <a:spcAft>
                <a:spcPts val="0"/>
              </a:spcAft>
              <a:buNone/>
            </a:pPr>
            <a:r>
              <a:rPr lang="en" sz="1800">
                <a:solidFill>
                  <a:srgbClr val="222222"/>
                </a:solidFill>
              </a:rPr>
              <a:t>discrete skill codes</a:t>
            </a:r>
            <a:endParaRPr sz="1800">
              <a:solidFill>
                <a:srgbClr val="222222"/>
              </a:solidFill>
            </a:endParaRPr>
          </a:p>
        </p:txBody>
      </p:sp>
      <p:sp>
        <p:nvSpPr>
          <p:cNvPr id="785" name="Google Shape;785;p54"/>
          <p:cNvSpPr txBox="1"/>
          <p:nvPr/>
        </p:nvSpPr>
        <p:spPr>
          <a:xfrm>
            <a:off x="1803400" y="3009900"/>
            <a:ext cx="2146200" cy="825600"/>
          </a:xfrm>
          <a:prstGeom prst="rect">
            <a:avLst/>
          </a:prstGeom>
          <a:solidFill>
            <a:srgbClr val="E8EDF3"/>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800">
                <a:solidFill>
                  <a:srgbClr val="222222"/>
                </a:solidFill>
              </a:rPr>
              <a:t>Train a dense</a:t>
            </a:r>
            <a:endParaRPr sz="1800">
              <a:solidFill>
                <a:srgbClr val="222222"/>
              </a:solidFill>
            </a:endParaRPr>
          </a:p>
          <a:p>
            <a:pPr indent="0" lvl="0" marL="0" marR="0" rtl="0" algn="l">
              <a:lnSpc>
                <a:spcPct val="115000"/>
              </a:lnSpc>
              <a:spcBef>
                <a:spcPts val="0"/>
              </a:spcBef>
              <a:spcAft>
                <a:spcPts val="0"/>
              </a:spcAft>
              <a:buNone/>
            </a:pPr>
            <a:r>
              <a:rPr lang="en" sz="1800">
                <a:solidFill>
                  <a:srgbClr val="222222"/>
                </a:solidFill>
              </a:rPr>
              <a:t>motion tracker</a:t>
            </a:r>
            <a:endParaRPr sz="1800">
              <a:solidFill>
                <a:srgbClr val="222222"/>
              </a:solidFill>
            </a:endParaRPr>
          </a:p>
        </p:txBody>
      </p:sp>
      <p:sp>
        <p:nvSpPr>
          <p:cNvPr id="786" name="Google Shape;786;p54"/>
          <p:cNvSpPr txBox="1"/>
          <p:nvPr/>
        </p:nvSpPr>
        <p:spPr>
          <a:xfrm>
            <a:off x="4152900" y="1549400"/>
            <a:ext cx="2146200" cy="825600"/>
          </a:xfrm>
          <a:prstGeom prst="rect">
            <a:avLst/>
          </a:prstGeom>
          <a:solidFill>
            <a:srgbClr val="E8EDF3"/>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800">
                <a:solidFill>
                  <a:srgbClr val="222222"/>
                </a:solidFill>
              </a:rPr>
              <a:t>Predict skill codes</a:t>
            </a:r>
            <a:endParaRPr sz="1800">
              <a:solidFill>
                <a:srgbClr val="222222"/>
              </a:solidFill>
            </a:endParaRPr>
          </a:p>
          <a:p>
            <a:pPr indent="0" lvl="0" marL="0" marR="0" rtl="0" algn="l">
              <a:lnSpc>
                <a:spcPct val="115000"/>
              </a:lnSpc>
              <a:spcBef>
                <a:spcPts val="0"/>
              </a:spcBef>
              <a:spcAft>
                <a:spcPts val="0"/>
              </a:spcAft>
              <a:buNone/>
            </a:pPr>
            <a:r>
              <a:rPr lang="en" sz="1800">
                <a:solidFill>
                  <a:srgbClr val="222222"/>
                </a:solidFill>
              </a:rPr>
              <a:t>from robot state</a:t>
            </a:r>
            <a:endParaRPr sz="1800">
              <a:solidFill>
                <a:srgbClr val="222222"/>
              </a:solidFill>
            </a:endParaRPr>
          </a:p>
        </p:txBody>
      </p:sp>
      <p:sp>
        <p:nvSpPr>
          <p:cNvPr id="787" name="Google Shape;787;p54"/>
          <p:cNvSpPr txBox="1"/>
          <p:nvPr/>
        </p:nvSpPr>
        <p:spPr>
          <a:xfrm>
            <a:off x="4152900" y="3009900"/>
            <a:ext cx="2146200" cy="825600"/>
          </a:xfrm>
          <a:prstGeom prst="rect">
            <a:avLst/>
          </a:prstGeom>
          <a:solidFill>
            <a:srgbClr val="E8EDF3"/>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800">
                <a:solidFill>
                  <a:srgbClr val="222222"/>
                </a:solidFill>
              </a:rPr>
              <a:t>Distill on-policy</a:t>
            </a:r>
            <a:endParaRPr sz="1800">
              <a:solidFill>
                <a:srgbClr val="222222"/>
              </a:solidFill>
            </a:endParaRPr>
          </a:p>
          <a:p>
            <a:pPr indent="0" lvl="0" marL="0" marR="0" rtl="0" algn="l">
              <a:lnSpc>
                <a:spcPct val="115000"/>
              </a:lnSpc>
              <a:spcBef>
                <a:spcPts val="0"/>
              </a:spcBef>
              <a:spcAft>
                <a:spcPts val="0"/>
              </a:spcAft>
              <a:buNone/>
            </a:pPr>
            <a:r>
              <a:rPr lang="en" sz="1800">
                <a:solidFill>
                  <a:srgbClr val="222222"/>
                </a:solidFill>
              </a:rPr>
              <a:t>with masked goals</a:t>
            </a:r>
            <a:endParaRPr sz="1800">
              <a:solidFill>
                <a:srgbClr val="222222"/>
              </a:solidFill>
            </a:endParaRPr>
          </a:p>
        </p:txBody>
      </p:sp>
      <p:sp>
        <p:nvSpPr>
          <p:cNvPr id="788" name="Google Shape;788;p54"/>
          <p:cNvSpPr txBox="1"/>
          <p:nvPr/>
        </p:nvSpPr>
        <p:spPr>
          <a:xfrm>
            <a:off x="6502400" y="1549400"/>
            <a:ext cx="2146200" cy="825600"/>
          </a:xfrm>
          <a:prstGeom prst="rect">
            <a:avLst/>
          </a:prstGeom>
          <a:solidFill>
            <a:srgbClr val="E8EDF3"/>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800">
                <a:solidFill>
                  <a:srgbClr val="222222"/>
                </a:solidFill>
              </a:rPr>
              <a:t>Learn lightweight</a:t>
            </a:r>
            <a:endParaRPr sz="1800">
              <a:solidFill>
                <a:srgbClr val="222222"/>
              </a:solidFill>
            </a:endParaRPr>
          </a:p>
          <a:p>
            <a:pPr indent="0" lvl="0" marL="0" marR="0" rtl="0" algn="l">
              <a:lnSpc>
                <a:spcPct val="115000"/>
              </a:lnSpc>
              <a:spcBef>
                <a:spcPts val="0"/>
              </a:spcBef>
              <a:spcAft>
                <a:spcPts val="0"/>
              </a:spcAft>
              <a:buNone/>
            </a:pPr>
            <a:r>
              <a:rPr lang="en" sz="1800">
                <a:solidFill>
                  <a:srgbClr val="222222"/>
                </a:solidFill>
              </a:rPr>
              <a:t>task adapters</a:t>
            </a:r>
            <a:endParaRPr sz="1800">
              <a:solidFill>
                <a:srgbClr val="222222"/>
              </a:solidFill>
            </a:endParaRPr>
          </a:p>
        </p:txBody>
      </p:sp>
      <p:sp>
        <p:nvSpPr>
          <p:cNvPr id="789" name="Google Shape;789;p54"/>
          <p:cNvSpPr txBox="1"/>
          <p:nvPr/>
        </p:nvSpPr>
        <p:spPr>
          <a:xfrm>
            <a:off x="6502400" y="3009900"/>
            <a:ext cx="2146200" cy="825600"/>
          </a:xfrm>
          <a:prstGeom prst="rect">
            <a:avLst/>
          </a:prstGeom>
          <a:solidFill>
            <a:srgbClr val="E8EDF3"/>
          </a:solid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800">
                <a:solidFill>
                  <a:srgbClr val="222222"/>
                </a:solidFill>
              </a:rPr>
              <a:t>Freeze the policy</a:t>
            </a:r>
            <a:endParaRPr sz="1800">
              <a:solidFill>
                <a:srgbClr val="222222"/>
              </a:solidFill>
            </a:endParaRPr>
          </a:p>
          <a:p>
            <a:pPr indent="0" lvl="0" marL="0" marR="0" rtl="0" algn="l">
              <a:lnSpc>
                <a:spcPct val="115000"/>
              </a:lnSpc>
              <a:spcBef>
                <a:spcPts val="0"/>
              </a:spcBef>
              <a:spcAft>
                <a:spcPts val="0"/>
              </a:spcAft>
              <a:buNone/>
            </a:pPr>
            <a:r>
              <a:rPr lang="en" sz="1800">
                <a:solidFill>
                  <a:srgbClr val="222222"/>
                </a:solidFill>
              </a:rPr>
              <a:t>Write skill code</a:t>
            </a:r>
            <a:endParaRPr sz="1800">
              <a:solidFill>
                <a:srgbClr val="222222"/>
              </a:solidFill>
            </a:endParaRPr>
          </a:p>
        </p:txBody>
      </p:sp>
      <p:cxnSp>
        <p:nvCxnSpPr>
          <p:cNvPr id="790" name="Google Shape;790;p54"/>
          <p:cNvCxnSpPr/>
          <p:nvPr/>
        </p:nvCxnSpPr>
        <p:spPr>
          <a:xfrm>
            <a:off x="3975100" y="1968500"/>
            <a:ext cx="152400" cy="0"/>
          </a:xfrm>
          <a:prstGeom prst="straightConnector1">
            <a:avLst/>
          </a:prstGeom>
          <a:noFill/>
          <a:ln cap="flat" cmpd="sng" w="25400">
            <a:solidFill>
              <a:srgbClr val="4285F4"/>
            </a:solidFill>
            <a:prstDash val="solid"/>
            <a:round/>
            <a:headEnd len="med" w="med" type="none"/>
            <a:tailEnd len="med" w="med" type="triangle"/>
          </a:ln>
        </p:spPr>
      </p:cxnSp>
      <p:cxnSp>
        <p:nvCxnSpPr>
          <p:cNvPr id="791" name="Google Shape;791;p54"/>
          <p:cNvCxnSpPr/>
          <p:nvPr/>
        </p:nvCxnSpPr>
        <p:spPr>
          <a:xfrm>
            <a:off x="6324600" y="1968500"/>
            <a:ext cx="152400" cy="0"/>
          </a:xfrm>
          <a:prstGeom prst="straightConnector1">
            <a:avLst/>
          </a:prstGeom>
          <a:noFill/>
          <a:ln cap="flat" cmpd="sng" w="25400">
            <a:solidFill>
              <a:srgbClr val="4285F4"/>
            </a:solidFill>
            <a:prstDash val="solid"/>
            <a:round/>
            <a:headEnd len="med" w="med" type="none"/>
            <a:tailEnd len="med" w="med" type="triangle"/>
          </a:ln>
        </p:spPr>
      </p:cxnSp>
      <p:cxnSp>
        <p:nvCxnSpPr>
          <p:cNvPr id="792" name="Google Shape;792;p54"/>
          <p:cNvCxnSpPr/>
          <p:nvPr/>
        </p:nvCxnSpPr>
        <p:spPr>
          <a:xfrm>
            <a:off x="3975100" y="3429000"/>
            <a:ext cx="152400" cy="0"/>
          </a:xfrm>
          <a:prstGeom prst="straightConnector1">
            <a:avLst/>
          </a:prstGeom>
          <a:noFill/>
          <a:ln cap="flat" cmpd="sng" w="25400">
            <a:solidFill>
              <a:srgbClr val="4285F4"/>
            </a:solidFill>
            <a:prstDash val="solid"/>
            <a:round/>
            <a:headEnd len="med" w="med" type="none"/>
            <a:tailEnd len="med" w="med" type="triangle"/>
          </a:ln>
        </p:spPr>
      </p:cxnSp>
      <p:cxnSp>
        <p:nvCxnSpPr>
          <p:cNvPr id="793" name="Google Shape;793;p54"/>
          <p:cNvCxnSpPr/>
          <p:nvPr/>
        </p:nvCxnSpPr>
        <p:spPr>
          <a:xfrm>
            <a:off x="6324600" y="3429000"/>
            <a:ext cx="152400" cy="0"/>
          </a:xfrm>
          <a:prstGeom prst="straightConnector1">
            <a:avLst/>
          </a:prstGeom>
          <a:noFill/>
          <a:ln cap="flat" cmpd="sng" w="25400">
            <a:solidFill>
              <a:srgbClr val="4285F4"/>
            </a:solidFill>
            <a:prstDash val="solid"/>
            <a:round/>
            <a:headEnd len="med" w="med" type="none"/>
            <a:tailEnd len="med" w="med" type="triangle"/>
          </a:ln>
        </p:spPr>
      </p:cxnSp>
      <p:sp>
        <p:nvSpPr>
          <p:cNvPr id="794" name="Google Shape;794;p54"/>
          <p:cNvSpPr txBox="1"/>
          <p:nvPr/>
        </p:nvSpPr>
        <p:spPr>
          <a:xfrm>
            <a:off x="381000" y="1739900"/>
            <a:ext cx="1397100" cy="4065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b="1" lang="en" sz="1900">
                <a:solidFill>
                  <a:srgbClr val="4285F4"/>
                </a:solidFill>
              </a:rPr>
              <a:t>RoboGPC</a:t>
            </a:r>
            <a:endParaRPr b="1" sz="1900">
              <a:solidFill>
                <a:srgbClr val="4285F4"/>
              </a:solidFill>
            </a:endParaRPr>
          </a:p>
        </p:txBody>
      </p:sp>
      <p:sp>
        <p:nvSpPr>
          <p:cNvPr id="795" name="Google Shape;795;p54"/>
          <p:cNvSpPr txBox="1"/>
          <p:nvPr/>
        </p:nvSpPr>
        <p:spPr>
          <a:xfrm>
            <a:off x="381000" y="3200400"/>
            <a:ext cx="1397100" cy="4065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b="1" lang="en" sz="1900">
                <a:solidFill>
                  <a:srgbClr val="4285F4"/>
                </a:solidFill>
              </a:rPr>
              <a:t>Metatron</a:t>
            </a:r>
            <a:endParaRPr b="1" sz="1900">
              <a:solidFill>
                <a:srgbClr val="4285F4"/>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799" name="Shape 799"/>
        <p:cNvGrpSpPr/>
        <p:nvPr/>
      </p:nvGrpSpPr>
      <p:grpSpPr>
        <a:xfrm>
          <a:off x="0" y="0"/>
          <a:ext cx="0" cy="0"/>
          <a:chOff x="0" y="0"/>
          <a:chExt cx="0" cy="0"/>
        </a:xfrm>
      </p:grpSpPr>
      <p:sp>
        <p:nvSpPr>
          <p:cNvPr id="800" name="Google Shape;800;p55"/>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1" name="Google Shape;801;p55"/>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2" name="Google Shape;802;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RoboGPC: tracking with feedback</a:t>
            </a:r>
            <a:endParaRPr b="1">
              <a:solidFill>
                <a:srgbClr val="15253B"/>
              </a:solidFill>
            </a:endParaRPr>
          </a:p>
        </p:txBody>
      </p:sp>
      <p:sp>
        <p:nvSpPr>
          <p:cNvPr id="803" name="Google Shape;803;p55"/>
          <p:cNvSpPr txBox="1"/>
          <p:nvPr/>
        </p:nvSpPr>
        <p:spPr>
          <a:xfrm>
            <a:off x="381000" y="1244600"/>
            <a:ext cx="4038600" cy="4698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4285F4"/>
                </a:solidFill>
              </a:rPr>
              <a:t>Reference tracking</a:t>
            </a:r>
            <a:endParaRPr b="1" sz="2200">
              <a:solidFill>
                <a:srgbClr val="4285F4"/>
              </a:solidFill>
            </a:endParaRPr>
          </a:p>
        </p:txBody>
      </p:sp>
      <p:sp>
        <p:nvSpPr>
          <p:cNvPr id="804" name="Google Shape;804;p55"/>
          <p:cNvSpPr txBox="1"/>
          <p:nvPr/>
        </p:nvSpPr>
        <p:spPr>
          <a:xfrm>
            <a:off x="4724400" y="1244600"/>
            <a:ext cx="4038600" cy="4698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4285F4"/>
                </a:solidFill>
              </a:rPr>
              <a:t>With external forces</a:t>
            </a:r>
            <a:endParaRPr b="1" sz="2200">
              <a:solidFill>
                <a:srgbClr val="4285F4"/>
              </a:solidFill>
            </a:endParaRPr>
          </a:p>
        </p:txBody>
      </p:sp>
      <p:pic>
        <p:nvPicPr>
          <p:cNvPr id="805" name="Google Shape;805;p55">
            <a:hlinkClick r:id="rId3"/>
          </p:cNvPr>
          <p:cNvPicPr preferRelativeResize="0"/>
          <p:nvPr/>
        </p:nvPicPr>
        <p:blipFill>
          <a:blip r:embed="rId4">
            <a:alphaModFix/>
          </a:blip>
          <a:stretch>
            <a:fillRect/>
          </a:stretch>
        </p:blipFill>
        <p:spPr>
          <a:xfrm>
            <a:off x="381000" y="1790700"/>
            <a:ext cx="4038600" cy="2271713"/>
          </a:xfrm>
          <a:prstGeom prst="rect">
            <a:avLst/>
          </a:prstGeom>
          <a:noFill/>
          <a:ln>
            <a:noFill/>
          </a:ln>
        </p:spPr>
      </p:pic>
      <p:pic>
        <p:nvPicPr>
          <p:cNvPr id="806" name="Google Shape;806;p55">
            <a:hlinkClick r:id="rId5"/>
          </p:cNvPr>
          <p:cNvPicPr preferRelativeResize="0"/>
          <p:nvPr/>
        </p:nvPicPr>
        <p:blipFill>
          <a:blip r:embed="rId6">
            <a:alphaModFix/>
          </a:blip>
          <a:stretch>
            <a:fillRect/>
          </a:stretch>
        </p:blipFill>
        <p:spPr>
          <a:xfrm>
            <a:off x="4724400" y="1790700"/>
            <a:ext cx="4038600" cy="2271713"/>
          </a:xfrm>
          <a:prstGeom prst="rect">
            <a:avLst/>
          </a:prstGeom>
          <a:noFill/>
          <a:ln>
            <a:noFill/>
          </a:ln>
        </p:spPr>
      </p:pic>
      <p:sp>
        <p:nvSpPr>
          <p:cNvPr id="807" name="Google Shape;807;p55"/>
          <p:cNvSpPr txBox="1"/>
          <p:nvPr/>
        </p:nvSpPr>
        <p:spPr>
          <a:xfrm>
            <a:off x="381000" y="4584700"/>
            <a:ext cx="8382000" cy="2031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100">
                <a:solidFill>
                  <a:srgbClr val="5C5C5C"/>
                </a:solidFill>
              </a:rPr>
              <a:t>RoboGPC · hardware demonstrations · separate trials</a:t>
            </a:r>
            <a:endParaRPr sz="1100">
              <a:solidFill>
                <a:srgbClr val="5C5C5C"/>
              </a:solidFill>
            </a:endParaRPr>
          </a:p>
        </p:txBody>
      </p:sp>
      <p:sp>
        <p:nvSpPr>
          <p:cNvPr id="808" name="Google Shape;808;p55"/>
          <p:cNvSpPr txBox="1"/>
          <p:nvPr/>
        </p:nvSpPr>
        <p:spPr>
          <a:xfrm>
            <a:off x="381000" y="4889500"/>
            <a:ext cx="8382000" cy="1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596C82"/>
                </a:solidFill>
              </a:rPr>
              <a:t>HUMANOID CONTROL   /   43 OF 51</a:t>
            </a:r>
            <a:endParaRPr sz="900">
              <a:solidFill>
                <a:srgbClr val="596C8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5"/>
                                        </p:tgtEl>
                                        <p:attrNameLst>
                                          <p:attrName>style.visibility</p:attrName>
                                        </p:attrNameLst>
                                      </p:cBhvr>
                                      <p:to>
                                        <p:strVal val="visible"/>
                                      </p:to>
                                    </p:set>
                                    <p:animEffect filter="fade" transition="in">
                                      <p:cBhvr>
                                        <p:cTn dur="1000"/>
                                        <p:tgtEl>
                                          <p:spTgt spid="8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6"/>
                                        </p:tgtEl>
                                        <p:attrNameLst>
                                          <p:attrName>style.visibility</p:attrName>
                                        </p:attrNameLst>
                                      </p:cBhvr>
                                      <p:to>
                                        <p:strVal val="visible"/>
                                      </p:to>
                                    </p:set>
                                    <p:animEffect filter="fade" transition="in">
                                      <p:cBhvr>
                                        <p:cTn dur="1000"/>
                                        <p:tgtEl>
                                          <p:spTgt spid="8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812" name="Shape 812"/>
        <p:cNvGrpSpPr/>
        <p:nvPr/>
      </p:nvGrpSpPr>
      <p:grpSpPr>
        <a:xfrm>
          <a:off x="0" y="0"/>
          <a:ext cx="0" cy="0"/>
          <a:chOff x="0" y="0"/>
          <a:chExt cx="0" cy="0"/>
        </a:xfrm>
      </p:grpSpPr>
      <p:sp>
        <p:nvSpPr>
          <p:cNvPr id="813" name="Google Shape;813;p56"/>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4" name="Google Shape;814;p56"/>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5" name="Google Shape;815;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Recovery is part of the control problem</a:t>
            </a:r>
            <a:endParaRPr b="1">
              <a:solidFill>
                <a:srgbClr val="15253B"/>
              </a:solidFill>
            </a:endParaRPr>
          </a:p>
        </p:txBody>
      </p:sp>
      <p:sp>
        <p:nvSpPr>
          <p:cNvPr id="816" name="Google Shape;816;p56"/>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HUMANOID CONTROL   /   44 OF 51</a:t>
            </a:r>
            <a:endParaRPr sz="900">
              <a:solidFill>
                <a:srgbClr val="596C82"/>
              </a:solidFill>
            </a:endParaRPr>
          </a:p>
        </p:txBody>
      </p:sp>
      <p:sp>
        <p:nvSpPr>
          <p:cNvPr id="817" name="Google Shape;817;p56"/>
          <p:cNvSpPr txBox="1"/>
          <p:nvPr/>
        </p:nvSpPr>
        <p:spPr>
          <a:xfrm>
            <a:off x="6096000" y="1435100"/>
            <a:ext cx="2717700" cy="88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chemeClr val="dk2"/>
                </a:solidFill>
              </a:rPr>
              <a:t>How should it</a:t>
            </a:r>
            <a:endParaRPr b="1" sz="2400">
              <a:solidFill>
                <a:schemeClr val="dk2"/>
              </a:solidFill>
            </a:endParaRPr>
          </a:p>
          <a:p>
            <a:pPr indent="0" lvl="0" marL="0" marR="0" rtl="0" algn="l">
              <a:lnSpc>
                <a:spcPct val="100000"/>
              </a:lnSpc>
              <a:spcBef>
                <a:spcPts val="0"/>
              </a:spcBef>
              <a:spcAft>
                <a:spcPts val="0"/>
              </a:spcAft>
              <a:buNone/>
            </a:pPr>
            <a:r>
              <a:rPr b="1" lang="en" sz="2400">
                <a:solidFill>
                  <a:schemeClr val="dk2"/>
                </a:solidFill>
              </a:rPr>
              <a:t>recover?</a:t>
            </a:r>
            <a:endParaRPr b="1" sz="2400">
              <a:solidFill>
                <a:schemeClr val="dk2"/>
              </a:solidFill>
            </a:endParaRPr>
          </a:p>
        </p:txBody>
      </p:sp>
      <p:sp>
        <p:nvSpPr>
          <p:cNvPr id="818" name="Google Shape;818;p56"/>
          <p:cNvSpPr txBox="1"/>
          <p:nvPr/>
        </p:nvSpPr>
        <p:spPr>
          <a:xfrm>
            <a:off x="6096000" y="2616200"/>
            <a:ext cx="2717700" cy="114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000">
                <a:solidFill>
                  <a:schemeClr val="dk2"/>
                </a:solidFill>
              </a:rPr>
              <a:t>Recovery needs</a:t>
            </a:r>
            <a:endParaRPr sz="2000">
              <a:solidFill>
                <a:schemeClr val="dk2"/>
              </a:solidFill>
            </a:endParaRPr>
          </a:p>
          <a:p>
            <a:pPr indent="0" lvl="0" marL="0" marR="0" rtl="0" algn="l">
              <a:lnSpc>
                <a:spcPct val="100000"/>
              </a:lnSpc>
              <a:spcBef>
                <a:spcPts val="0"/>
              </a:spcBef>
              <a:spcAft>
                <a:spcPts val="0"/>
              </a:spcAft>
              <a:buNone/>
            </a:pPr>
            <a:r>
              <a:rPr lang="en" sz="2000">
                <a:solidFill>
                  <a:schemeClr val="dk2"/>
                </a:solidFill>
              </a:rPr>
              <a:t>experience beyond</a:t>
            </a:r>
            <a:endParaRPr sz="2000">
              <a:solidFill>
                <a:schemeClr val="dk2"/>
              </a:solidFill>
            </a:endParaRPr>
          </a:p>
          <a:p>
            <a:pPr indent="0" lvl="0" marL="0" marR="0" rtl="0" algn="l">
              <a:lnSpc>
                <a:spcPct val="100000"/>
              </a:lnSpc>
              <a:spcBef>
                <a:spcPts val="0"/>
              </a:spcBef>
              <a:spcAft>
                <a:spcPts val="0"/>
              </a:spcAft>
              <a:buNone/>
            </a:pPr>
            <a:r>
              <a:rPr lang="en" sz="2000">
                <a:solidFill>
                  <a:schemeClr val="dk2"/>
                </a:solidFill>
              </a:rPr>
              <a:t>the nominal motion.</a:t>
            </a:r>
            <a:endParaRPr sz="2000">
              <a:solidFill>
                <a:schemeClr val="dk2"/>
              </a:solidFill>
            </a:endParaRPr>
          </a:p>
        </p:txBody>
      </p:sp>
      <p:sp>
        <p:nvSpPr>
          <p:cNvPr id="819" name="Google Shape;819;p56"/>
          <p:cNvSpPr txBox="1"/>
          <p:nvPr/>
        </p:nvSpPr>
        <p:spPr>
          <a:xfrm>
            <a:off x="381000" y="4216400"/>
            <a:ext cx="5460900" cy="21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100"/>
              <a:t>RoboGPC · fall and get-up during steering</a:t>
            </a:r>
            <a:endParaRPr sz="1100"/>
          </a:p>
        </p:txBody>
      </p:sp>
      <p:pic>
        <p:nvPicPr>
          <p:cNvPr id="820" name="Google Shape;820;p56">
            <a:hlinkClick r:id="rId3"/>
          </p:cNvPr>
          <p:cNvPicPr preferRelativeResize="0"/>
          <p:nvPr/>
        </p:nvPicPr>
        <p:blipFill>
          <a:blip r:embed="rId4">
            <a:alphaModFix/>
          </a:blip>
          <a:stretch>
            <a:fillRect/>
          </a:stretch>
        </p:blipFill>
        <p:spPr>
          <a:xfrm>
            <a:off x="381000" y="1155700"/>
            <a:ext cx="5461000" cy="30718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0"/>
                                        </p:tgtEl>
                                        <p:attrNameLst>
                                          <p:attrName>style.visibility</p:attrName>
                                        </p:attrNameLst>
                                      </p:cBhvr>
                                      <p:to>
                                        <p:strVal val="visible"/>
                                      </p:to>
                                    </p:set>
                                    <p:animEffect filter="fade" transition="in">
                                      <p:cBhvr>
                                        <p:cTn dur="1000"/>
                                        <p:tgtEl>
                                          <p:spTgt spid="8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824" name="Shape 824"/>
        <p:cNvGrpSpPr/>
        <p:nvPr/>
      </p:nvGrpSpPr>
      <p:grpSpPr>
        <a:xfrm>
          <a:off x="0" y="0"/>
          <a:ext cx="0" cy="0"/>
          <a:chOff x="0" y="0"/>
          <a:chExt cx="0" cy="0"/>
        </a:xfrm>
      </p:grpSpPr>
      <p:sp>
        <p:nvSpPr>
          <p:cNvPr id="825" name="Google Shape;825;p57"/>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6" name="Google Shape;826;p57"/>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7" name="Google Shape;827;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RoboGPC: adapt a motion prior</a:t>
            </a:r>
            <a:endParaRPr b="1">
              <a:solidFill>
                <a:srgbClr val="15253B"/>
              </a:solidFill>
            </a:endParaRPr>
          </a:p>
        </p:txBody>
      </p:sp>
      <p:pic>
        <p:nvPicPr>
          <p:cNvPr id="828" name="Google Shape;828;p57">
            <a:hlinkClick r:id="rId3"/>
          </p:cNvPr>
          <p:cNvPicPr preferRelativeResize="0"/>
          <p:nvPr/>
        </p:nvPicPr>
        <p:blipFill>
          <a:blip r:embed="rId4">
            <a:alphaModFix/>
          </a:blip>
          <a:stretch>
            <a:fillRect/>
          </a:stretch>
        </p:blipFill>
        <p:spPr>
          <a:xfrm>
            <a:off x="4724400" y="1536700"/>
            <a:ext cx="4038600" cy="2271713"/>
          </a:xfrm>
          <a:prstGeom prst="rect">
            <a:avLst/>
          </a:prstGeom>
          <a:noFill/>
          <a:ln>
            <a:noFill/>
          </a:ln>
        </p:spPr>
      </p:pic>
      <p:sp>
        <p:nvSpPr>
          <p:cNvPr id="829" name="Google Shape;829;p57"/>
          <p:cNvSpPr txBox="1"/>
          <p:nvPr/>
        </p:nvSpPr>
        <p:spPr>
          <a:xfrm>
            <a:off x="381000" y="1117600"/>
            <a:ext cx="40386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4285F4"/>
                </a:solidFill>
              </a:rPr>
              <a:t>Regular steering</a:t>
            </a:r>
            <a:endParaRPr b="1" sz="2100">
              <a:solidFill>
                <a:srgbClr val="4285F4"/>
              </a:solidFill>
            </a:endParaRPr>
          </a:p>
        </p:txBody>
      </p:sp>
      <p:sp>
        <p:nvSpPr>
          <p:cNvPr id="830" name="Google Shape;830;p57"/>
          <p:cNvSpPr txBox="1"/>
          <p:nvPr/>
        </p:nvSpPr>
        <p:spPr>
          <a:xfrm>
            <a:off x="381000" y="3835400"/>
            <a:ext cx="4038600" cy="4953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800">
                <a:solidFill>
                  <a:srgbClr val="222222"/>
                </a:solidFill>
              </a:rPr>
              <a:t>RL for joystick steering</a:t>
            </a:r>
            <a:endParaRPr sz="1800">
              <a:solidFill>
                <a:srgbClr val="222222"/>
              </a:solidFill>
            </a:endParaRPr>
          </a:p>
        </p:txBody>
      </p:sp>
      <p:sp>
        <p:nvSpPr>
          <p:cNvPr id="831" name="Google Shape;831;p57"/>
          <p:cNvSpPr txBox="1"/>
          <p:nvPr/>
        </p:nvSpPr>
        <p:spPr>
          <a:xfrm>
            <a:off x="4724400" y="1117600"/>
            <a:ext cx="40386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4285F4"/>
                </a:solidFill>
              </a:rPr>
              <a:t>Stylized steering</a:t>
            </a:r>
            <a:endParaRPr b="1" sz="2100">
              <a:solidFill>
                <a:srgbClr val="4285F4"/>
              </a:solidFill>
            </a:endParaRPr>
          </a:p>
        </p:txBody>
      </p:sp>
      <p:sp>
        <p:nvSpPr>
          <p:cNvPr id="832" name="Google Shape;832;p57"/>
          <p:cNvSpPr txBox="1"/>
          <p:nvPr/>
        </p:nvSpPr>
        <p:spPr>
          <a:xfrm>
            <a:off x="4724400" y="3835400"/>
            <a:ext cx="4038600" cy="4953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700">
                <a:solidFill>
                  <a:srgbClr val="222222"/>
                </a:solidFill>
              </a:rPr>
              <a:t>Learn a style, then RL for steering</a:t>
            </a:r>
            <a:endParaRPr sz="1700">
              <a:solidFill>
                <a:srgbClr val="222222"/>
              </a:solidFill>
            </a:endParaRPr>
          </a:p>
        </p:txBody>
      </p:sp>
      <p:sp>
        <p:nvSpPr>
          <p:cNvPr id="833" name="Google Shape;833;p57"/>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900">
                <a:solidFill>
                  <a:srgbClr val="596C82"/>
                </a:solidFill>
              </a:rPr>
              <a:t>HUMANOID CONTROL   /   45 OF 51</a:t>
            </a:r>
            <a:endParaRPr sz="900">
              <a:solidFill>
                <a:srgbClr val="596C82"/>
              </a:solidFill>
            </a:endParaRPr>
          </a:p>
        </p:txBody>
      </p:sp>
      <p:pic>
        <p:nvPicPr>
          <p:cNvPr id="834" name="Google Shape;834;p57">
            <a:hlinkClick r:id="rId5"/>
          </p:cNvPr>
          <p:cNvPicPr preferRelativeResize="0"/>
          <p:nvPr/>
        </p:nvPicPr>
        <p:blipFill>
          <a:blip r:embed="rId6">
            <a:alphaModFix/>
          </a:blip>
          <a:stretch>
            <a:fillRect/>
          </a:stretch>
        </p:blipFill>
        <p:spPr>
          <a:xfrm>
            <a:off x="381000" y="1536700"/>
            <a:ext cx="4038600" cy="22717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1000"/>
                                        <p:tgtEl>
                                          <p:spTgt spid="8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gtEl>
                                        <p:attrNameLst>
                                          <p:attrName>style.visibility</p:attrName>
                                        </p:attrNameLst>
                                      </p:cBhvr>
                                      <p:to>
                                        <p:strVal val="visible"/>
                                      </p:to>
                                    </p:set>
                                    <p:animEffect filter="fade" transition="in">
                                      <p:cBhvr>
                                        <p:cTn dur="1000"/>
                                        <p:tgtEl>
                                          <p:spTgt spid="8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838" name="Shape 838"/>
        <p:cNvGrpSpPr/>
        <p:nvPr/>
      </p:nvGrpSpPr>
      <p:grpSpPr>
        <a:xfrm>
          <a:off x="0" y="0"/>
          <a:ext cx="0" cy="0"/>
          <a:chOff x="0" y="0"/>
          <a:chExt cx="0" cy="0"/>
        </a:xfrm>
      </p:grpSpPr>
      <p:sp>
        <p:nvSpPr>
          <p:cNvPr id="839" name="Google Shape;839;p58"/>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0" name="Google Shape;840;p58"/>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1" name="Google Shape;841;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RoboGPC: from motion data to task control</a:t>
            </a:r>
            <a:endParaRPr b="1">
              <a:solidFill>
                <a:srgbClr val="15253B"/>
              </a:solidFill>
            </a:endParaRPr>
          </a:p>
        </p:txBody>
      </p:sp>
      <p:sp>
        <p:nvSpPr>
          <p:cNvPr id="842" name="Google Shape;842;p58"/>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HUMANOID CONTROL   /   46 OF 51</a:t>
            </a:r>
            <a:endParaRPr sz="900">
              <a:solidFill>
                <a:srgbClr val="596C82"/>
              </a:solidFill>
            </a:endParaRPr>
          </a:p>
        </p:txBody>
      </p:sp>
      <p:sp>
        <p:nvSpPr>
          <p:cNvPr id="843" name="Google Shape;843;p58"/>
          <p:cNvSpPr txBox="1"/>
          <p:nvPr/>
        </p:nvSpPr>
        <p:spPr>
          <a:xfrm>
            <a:off x="381000" y="1282700"/>
            <a:ext cx="18414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
                <a:solidFill>
                  <a:srgbClr val="4285F4"/>
                </a:solidFill>
              </a:rPr>
              <a:t>1  LEARN CODES</a:t>
            </a:r>
            <a:endParaRPr b="1">
              <a:solidFill>
                <a:srgbClr val="4285F4"/>
              </a:solidFill>
            </a:endParaRPr>
          </a:p>
        </p:txBody>
      </p:sp>
      <p:sp>
        <p:nvSpPr>
          <p:cNvPr id="844" name="Google Shape;844;p58"/>
          <p:cNvSpPr txBox="1"/>
          <p:nvPr/>
        </p:nvSpPr>
        <p:spPr>
          <a:xfrm>
            <a:off x="381000" y="1663700"/>
            <a:ext cx="1841400" cy="507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rgbClr val="17263B"/>
                </a:solidFill>
              </a:rPr>
              <a:t>Motion-tracking RL</a:t>
            </a:r>
            <a:endParaRPr>
              <a:solidFill>
                <a:srgbClr val="17263B"/>
              </a:solidFill>
            </a:endParaRPr>
          </a:p>
        </p:txBody>
      </p:sp>
      <p:sp>
        <p:nvSpPr>
          <p:cNvPr id="845" name="Google Shape;845;p58"/>
          <p:cNvSpPr txBox="1"/>
          <p:nvPr/>
        </p:nvSpPr>
        <p:spPr>
          <a:xfrm>
            <a:off x="381000" y="2565400"/>
            <a:ext cx="18414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
                <a:solidFill>
                  <a:srgbClr val="4285F4"/>
                </a:solidFill>
              </a:rPr>
              <a:t>2  LEARN A PRIOR</a:t>
            </a:r>
            <a:endParaRPr b="1">
              <a:solidFill>
                <a:srgbClr val="4285F4"/>
              </a:solidFill>
            </a:endParaRPr>
          </a:p>
        </p:txBody>
      </p:sp>
      <p:sp>
        <p:nvSpPr>
          <p:cNvPr id="846" name="Google Shape;846;p58"/>
          <p:cNvSpPr txBox="1"/>
          <p:nvPr/>
        </p:nvSpPr>
        <p:spPr>
          <a:xfrm>
            <a:off x="381000" y="2946400"/>
            <a:ext cx="1841400" cy="507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rgbClr val="17263B"/>
                </a:solidFill>
              </a:rPr>
              <a:t>Predict tracker codes</a:t>
            </a:r>
            <a:endParaRPr>
              <a:solidFill>
                <a:srgbClr val="17263B"/>
              </a:solidFill>
            </a:endParaRPr>
          </a:p>
        </p:txBody>
      </p:sp>
      <p:sp>
        <p:nvSpPr>
          <p:cNvPr id="847" name="Google Shape;847;p58"/>
          <p:cNvSpPr txBox="1"/>
          <p:nvPr/>
        </p:nvSpPr>
        <p:spPr>
          <a:xfrm>
            <a:off x="381000" y="3556000"/>
            <a:ext cx="18414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
                <a:solidFill>
                  <a:srgbClr val="4285F4"/>
                </a:solidFill>
              </a:rPr>
              <a:t>3  ADAPT</a:t>
            </a:r>
            <a:endParaRPr b="1">
              <a:solidFill>
                <a:srgbClr val="4285F4"/>
              </a:solidFill>
            </a:endParaRPr>
          </a:p>
        </p:txBody>
      </p:sp>
      <p:sp>
        <p:nvSpPr>
          <p:cNvPr id="848" name="Google Shape;848;p58"/>
          <p:cNvSpPr txBox="1"/>
          <p:nvPr/>
        </p:nvSpPr>
        <p:spPr>
          <a:xfrm>
            <a:off x="381000" y="3937000"/>
            <a:ext cx="1841400" cy="507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a:solidFill>
                  <a:srgbClr val="17263B"/>
                </a:solidFill>
              </a:rPr>
              <a:t>Task-reward RL</a:t>
            </a:r>
            <a:endParaRPr>
              <a:solidFill>
                <a:srgbClr val="17263B"/>
              </a:solidFill>
            </a:endParaRPr>
          </a:p>
        </p:txBody>
      </p:sp>
      <p:sp>
        <p:nvSpPr>
          <p:cNvPr id="849" name="Google Shape;849;p58"/>
          <p:cNvSpPr txBox="1"/>
          <p:nvPr/>
        </p:nvSpPr>
        <p:spPr>
          <a:xfrm>
            <a:off x="2349500" y="1524000"/>
            <a:ext cx="1079400" cy="507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Reference</a:t>
            </a:r>
            <a:endParaRPr sz="1200">
              <a:solidFill>
                <a:srgbClr val="17263B"/>
              </a:solidFill>
            </a:endParaRPr>
          </a:p>
          <a:p>
            <a:pPr indent="0" lvl="0" marL="0" rtl="0" algn="ctr">
              <a:lnSpc>
                <a:spcPct val="100000"/>
              </a:lnSpc>
              <a:spcBef>
                <a:spcPts val="0"/>
              </a:spcBef>
              <a:spcAft>
                <a:spcPts val="0"/>
              </a:spcAft>
              <a:buNone/>
            </a:pPr>
            <a:r>
              <a:rPr lang="en" sz="1200">
                <a:solidFill>
                  <a:srgbClr val="17263B"/>
                </a:solidFill>
              </a:rPr>
              <a:t>+ state</a:t>
            </a:r>
            <a:endParaRPr sz="1200">
              <a:solidFill>
                <a:srgbClr val="17263B"/>
              </a:solidFill>
            </a:endParaRPr>
          </a:p>
        </p:txBody>
      </p:sp>
      <p:sp>
        <p:nvSpPr>
          <p:cNvPr id="850" name="Google Shape;850;p58"/>
          <p:cNvSpPr txBox="1"/>
          <p:nvPr/>
        </p:nvSpPr>
        <p:spPr>
          <a:xfrm>
            <a:off x="5867400" y="1612900"/>
            <a:ext cx="228600" cy="330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rgbClr val="FFFFFF"/>
                </a:solidFill>
              </a:rPr>
              <a:t>2</a:t>
            </a:r>
            <a:endParaRPr b="1" sz="1200">
              <a:solidFill>
                <a:srgbClr val="FFFFFF"/>
              </a:solidFill>
            </a:endParaRPr>
          </a:p>
        </p:txBody>
      </p:sp>
      <p:sp>
        <p:nvSpPr>
          <p:cNvPr id="851" name="Google Shape;851;p58"/>
          <p:cNvSpPr txBox="1"/>
          <p:nvPr/>
        </p:nvSpPr>
        <p:spPr>
          <a:xfrm>
            <a:off x="6134100" y="1612900"/>
            <a:ext cx="228600" cy="330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rgbClr val="FFFFFF"/>
                </a:solidFill>
              </a:rPr>
              <a:t>0</a:t>
            </a:r>
            <a:endParaRPr b="1" sz="1200">
              <a:solidFill>
                <a:srgbClr val="FFFFFF"/>
              </a:solidFill>
            </a:endParaRPr>
          </a:p>
        </p:txBody>
      </p:sp>
      <p:sp>
        <p:nvSpPr>
          <p:cNvPr id="852" name="Google Shape;852;p58"/>
          <p:cNvSpPr txBox="1"/>
          <p:nvPr/>
        </p:nvSpPr>
        <p:spPr>
          <a:xfrm>
            <a:off x="6400800" y="1612900"/>
            <a:ext cx="228600" cy="330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rgbClr val="FFFFFF"/>
                </a:solidFill>
              </a:rPr>
              <a:t>3</a:t>
            </a:r>
            <a:endParaRPr b="1" sz="1200">
              <a:solidFill>
                <a:srgbClr val="FFFFFF"/>
              </a:solidFill>
            </a:endParaRPr>
          </a:p>
        </p:txBody>
      </p:sp>
      <p:sp>
        <p:nvSpPr>
          <p:cNvPr id="853" name="Google Shape;853;p58"/>
          <p:cNvSpPr txBox="1"/>
          <p:nvPr/>
        </p:nvSpPr>
        <p:spPr>
          <a:xfrm>
            <a:off x="5867400" y="2832100"/>
            <a:ext cx="228600" cy="330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rgbClr val="FFFFFF"/>
                </a:solidFill>
              </a:rPr>
              <a:t>2</a:t>
            </a:r>
            <a:endParaRPr b="1" sz="1200">
              <a:solidFill>
                <a:srgbClr val="FFFFFF"/>
              </a:solidFill>
            </a:endParaRPr>
          </a:p>
        </p:txBody>
      </p:sp>
      <p:sp>
        <p:nvSpPr>
          <p:cNvPr id="854" name="Google Shape;854;p58"/>
          <p:cNvSpPr txBox="1"/>
          <p:nvPr/>
        </p:nvSpPr>
        <p:spPr>
          <a:xfrm>
            <a:off x="6134100" y="2832100"/>
            <a:ext cx="228600" cy="330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rgbClr val="FFFFFF"/>
                </a:solidFill>
              </a:rPr>
              <a:t>0</a:t>
            </a:r>
            <a:endParaRPr b="1" sz="1200">
              <a:solidFill>
                <a:srgbClr val="FFFFFF"/>
              </a:solidFill>
            </a:endParaRPr>
          </a:p>
        </p:txBody>
      </p:sp>
      <p:sp>
        <p:nvSpPr>
          <p:cNvPr id="855" name="Google Shape;855;p58"/>
          <p:cNvSpPr txBox="1"/>
          <p:nvPr/>
        </p:nvSpPr>
        <p:spPr>
          <a:xfrm>
            <a:off x="6400800" y="2832100"/>
            <a:ext cx="228600" cy="330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rgbClr val="FFFFFF"/>
                </a:solidFill>
              </a:rPr>
              <a:t>3</a:t>
            </a:r>
            <a:endParaRPr b="1" sz="1200">
              <a:solidFill>
                <a:srgbClr val="FFFFFF"/>
              </a:solidFill>
            </a:endParaRPr>
          </a:p>
        </p:txBody>
      </p:sp>
      <p:sp>
        <p:nvSpPr>
          <p:cNvPr id="856" name="Google Shape;856;p58"/>
          <p:cNvSpPr txBox="1"/>
          <p:nvPr/>
        </p:nvSpPr>
        <p:spPr>
          <a:xfrm>
            <a:off x="2349500" y="2743200"/>
            <a:ext cx="1079400" cy="507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Robot state</a:t>
            </a:r>
            <a:endParaRPr sz="1200">
              <a:solidFill>
                <a:srgbClr val="17263B"/>
              </a:solidFill>
            </a:endParaRPr>
          </a:p>
        </p:txBody>
      </p:sp>
      <p:sp>
        <p:nvSpPr>
          <p:cNvPr id="857" name="Google Shape;857;p58"/>
          <p:cNvSpPr txBox="1"/>
          <p:nvPr/>
        </p:nvSpPr>
        <p:spPr>
          <a:xfrm>
            <a:off x="3606800" y="2743200"/>
            <a:ext cx="2082900" cy="507900"/>
          </a:xfrm>
          <a:prstGeom prst="rect">
            <a:avLst/>
          </a:prstGeom>
          <a:solidFill>
            <a:srgbClr val="E3EDFC"/>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a:solidFill>
                  <a:srgbClr val="17263B"/>
                </a:solidFill>
              </a:rPr>
              <a:t>Transformer prior</a:t>
            </a:r>
            <a:endParaRPr b="1">
              <a:solidFill>
                <a:srgbClr val="17263B"/>
              </a:solidFill>
            </a:endParaRPr>
          </a:p>
        </p:txBody>
      </p:sp>
      <p:sp>
        <p:nvSpPr>
          <p:cNvPr id="858" name="Google Shape;858;p58"/>
          <p:cNvSpPr txBox="1"/>
          <p:nvPr/>
        </p:nvSpPr>
        <p:spPr>
          <a:xfrm>
            <a:off x="2349500" y="3733800"/>
            <a:ext cx="1079400" cy="507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Task goal</a:t>
            </a:r>
            <a:endParaRPr sz="1200">
              <a:solidFill>
                <a:srgbClr val="17263B"/>
              </a:solidFill>
            </a:endParaRPr>
          </a:p>
          <a:p>
            <a:pPr indent="0" lvl="0" marL="0" rtl="0" algn="ctr">
              <a:lnSpc>
                <a:spcPct val="100000"/>
              </a:lnSpc>
              <a:spcBef>
                <a:spcPts val="0"/>
              </a:spcBef>
              <a:spcAft>
                <a:spcPts val="0"/>
              </a:spcAft>
              <a:buNone/>
            </a:pPr>
            <a:r>
              <a:rPr lang="en" sz="1200">
                <a:solidFill>
                  <a:srgbClr val="17263B"/>
                </a:solidFill>
              </a:rPr>
              <a:t>+ state</a:t>
            </a:r>
            <a:endParaRPr sz="1200">
              <a:solidFill>
                <a:srgbClr val="17263B"/>
              </a:solidFill>
            </a:endParaRPr>
          </a:p>
        </p:txBody>
      </p:sp>
      <p:sp>
        <p:nvSpPr>
          <p:cNvPr id="859" name="Google Shape;859;p58"/>
          <p:cNvSpPr txBox="1"/>
          <p:nvPr/>
        </p:nvSpPr>
        <p:spPr>
          <a:xfrm>
            <a:off x="3606800" y="3733800"/>
            <a:ext cx="2082900" cy="507900"/>
          </a:xfrm>
          <a:prstGeom prst="rect">
            <a:avLst/>
          </a:prstGeom>
          <a:solidFill>
            <a:srgbClr val="E3EDFC"/>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rgbClr val="17263B"/>
                </a:solidFill>
              </a:rPr>
              <a:t>Frozen prior</a:t>
            </a:r>
            <a:endParaRPr b="1" sz="1200">
              <a:solidFill>
                <a:srgbClr val="17263B"/>
              </a:solidFill>
            </a:endParaRPr>
          </a:p>
          <a:p>
            <a:pPr indent="0" lvl="0" marL="0" rtl="0" algn="ctr">
              <a:lnSpc>
                <a:spcPct val="100000"/>
              </a:lnSpc>
              <a:spcBef>
                <a:spcPts val="0"/>
              </a:spcBef>
              <a:spcAft>
                <a:spcPts val="0"/>
              </a:spcAft>
              <a:buNone/>
            </a:pPr>
            <a:r>
              <a:rPr b="1" lang="en" sz="1200">
                <a:solidFill>
                  <a:srgbClr val="17263B"/>
                </a:solidFill>
              </a:rPr>
              <a:t>+ trainable adapters</a:t>
            </a:r>
            <a:endParaRPr b="1" sz="1200">
              <a:solidFill>
                <a:srgbClr val="17263B"/>
              </a:solidFill>
            </a:endParaRPr>
          </a:p>
        </p:txBody>
      </p:sp>
      <p:sp>
        <p:nvSpPr>
          <p:cNvPr id="860" name="Google Shape;860;p58"/>
          <p:cNvSpPr txBox="1"/>
          <p:nvPr/>
        </p:nvSpPr>
        <p:spPr>
          <a:xfrm>
            <a:off x="3606800" y="1524000"/>
            <a:ext cx="952500" cy="507900"/>
          </a:xfrm>
          <a:prstGeom prst="rect">
            <a:avLst/>
          </a:prstGeom>
          <a:solidFill>
            <a:srgbClr val="E3EDFC"/>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rgbClr val="17263B"/>
                </a:solidFill>
              </a:rPr>
              <a:t>Encoder</a:t>
            </a:r>
            <a:endParaRPr b="1" sz="1200">
              <a:solidFill>
                <a:srgbClr val="17263B"/>
              </a:solidFill>
            </a:endParaRPr>
          </a:p>
        </p:txBody>
      </p:sp>
      <p:sp>
        <p:nvSpPr>
          <p:cNvPr id="861" name="Google Shape;861;p58"/>
          <p:cNvSpPr txBox="1"/>
          <p:nvPr/>
        </p:nvSpPr>
        <p:spPr>
          <a:xfrm>
            <a:off x="4737100" y="1524000"/>
            <a:ext cx="952500" cy="507900"/>
          </a:xfrm>
          <a:prstGeom prst="rect">
            <a:avLst/>
          </a:prstGeom>
          <a:solidFill>
            <a:srgbClr val="E3EDFC"/>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rgbClr val="17263B"/>
                </a:solidFill>
              </a:rPr>
              <a:t>Quantize</a:t>
            </a:r>
            <a:endParaRPr b="1" sz="1200">
              <a:solidFill>
                <a:srgbClr val="17263B"/>
              </a:solidFill>
            </a:endParaRPr>
          </a:p>
          <a:p>
            <a:pPr indent="0" lvl="0" marL="0" rtl="0" algn="ctr">
              <a:lnSpc>
                <a:spcPct val="100000"/>
              </a:lnSpc>
              <a:spcBef>
                <a:spcPts val="0"/>
              </a:spcBef>
              <a:spcAft>
                <a:spcPts val="0"/>
              </a:spcAft>
              <a:buNone/>
            </a:pPr>
            <a:r>
              <a:rPr b="1" lang="en" sz="1200">
                <a:solidFill>
                  <a:srgbClr val="17263B"/>
                </a:solidFill>
              </a:rPr>
              <a:t>(FSQ)</a:t>
            </a:r>
            <a:endParaRPr b="1" sz="1200">
              <a:solidFill>
                <a:srgbClr val="17263B"/>
              </a:solidFill>
            </a:endParaRPr>
          </a:p>
        </p:txBody>
      </p:sp>
      <p:sp>
        <p:nvSpPr>
          <p:cNvPr id="862" name="Google Shape;862;p58"/>
          <p:cNvSpPr txBox="1"/>
          <p:nvPr/>
        </p:nvSpPr>
        <p:spPr>
          <a:xfrm>
            <a:off x="4318000" y="2108200"/>
            <a:ext cx="1714500" cy="355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Round to</a:t>
            </a:r>
            <a:endParaRPr sz="1200">
              <a:solidFill>
                <a:srgbClr val="17263B"/>
              </a:solidFill>
            </a:endParaRPr>
          </a:p>
          <a:p>
            <a:pPr indent="0" lvl="0" marL="0" rtl="0" algn="ctr">
              <a:lnSpc>
                <a:spcPct val="100000"/>
              </a:lnSpc>
              <a:spcBef>
                <a:spcPts val="0"/>
              </a:spcBef>
              <a:spcAft>
                <a:spcPts val="0"/>
              </a:spcAft>
              <a:buNone/>
            </a:pPr>
            <a:r>
              <a:rPr lang="en" sz="1200">
                <a:solidFill>
                  <a:srgbClr val="17263B"/>
                </a:solidFill>
              </a:rPr>
              <a:t>fixed levels</a:t>
            </a:r>
            <a:endParaRPr sz="1200">
              <a:solidFill>
                <a:srgbClr val="17263B"/>
              </a:solidFill>
            </a:endParaRPr>
          </a:p>
        </p:txBody>
      </p:sp>
      <p:sp>
        <p:nvSpPr>
          <p:cNvPr id="863" name="Google Shape;863;p58"/>
          <p:cNvSpPr txBox="1"/>
          <p:nvPr/>
        </p:nvSpPr>
        <p:spPr>
          <a:xfrm>
            <a:off x="6807200" y="1524000"/>
            <a:ext cx="952500" cy="507900"/>
          </a:xfrm>
          <a:prstGeom prst="rect">
            <a:avLst/>
          </a:prstGeom>
          <a:solidFill>
            <a:srgbClr val="E3EDFC"/>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Decoder</a:t>
            </a:r>
            <a:endParaRPr sz="1200">
              <a:solidFill>
                <a:srgbClr val="17263B"/>
              </a:solidFill>
            </a:endParaRPr>
          </a:p>
          <a:p>
            <a:pPr indent="0" lvl="0" marL="0" rtl="0" algn="ctr">
              <a:lnSpc>
                <a:spcPct val="100000"/>
              </a:lnSpc>
              <a:spcBef>
                <a:spcPts val="0"/>
              </a:spcBef>
              <a:spcAft>
                <a:spcPts val="0"/>
              </a:spcAft>
              <a:buNone/>
            </a:pPr>
            <a:r>
              <a:rPr lang="en" sz="1200">
                <a:solidFill>
                  <a:srgbClr val="17263B"/>
                </a:solidFill>
              </a:rPr>
              <a:t>+ state</a:t>
            </a:r>
            <a:endParaRPr sz="1200">
              <a:solidFill>
                <a:srgbClr val="17263B"/>
              </a:solidFill>
            </a:endParaRPr>
          </a:p>
        </p:txBody>
      </p:sp>
      <p:sp>
        <p:nvSpPr>
          <p:cNvPr id="864" name="Google Shape;864;p58"/>
          <p:cNvSpPr txBox="1"/>
          <p:nvPr/>
        </p:nvSpPr>
        <p:spPr>
          <a:xfrm>
            <a:off x="7937500" y="1524000"/>
            <a:ext cx="825600" cy="507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Joint</a:t>
            </a:r>
            <a:endParaRPr sz="1200">
              <a:solidFill>
                <a:srgbClr val="17263B"/>
              </a:solidFill>
            </a:endParaRPr>
          </a:p>
          <a:p>
            <a:pPr indent="0" lvl="0" marL="0" rtl="0" algn="ctr">
              <a:lnSpc>
                <a:spcPct val="100000"/>
              </a:lnSpc>
              <a:spcBef>
                <a:spcPts val="0"/>
              </a:spcBef>
              <a:spcAft>
                <a:spcPts val="0"/>
              </a:spcAft>
              <a:buNone/>
            </a:pPr>
            <a:r>
              <a:rPr lang="en" sz="1200">
                <a:solidFill>
                  <a:srgbClr val="17263B"/>
                </a:solidFill>
              </a:rPr>
              <a:t>targets</a:t>
            </a:r>
            <a:endParaRPr sz="1200">
              <a:solidFill>
                <a:srgbClr val="17263B"/>
              </a:solidFill>
            </a:endParaRPr>
          </a:p>
        </p:txBody>
      </p:sp>
      <p:sp>
        <p:nvSpPr>
          <p:cNvPr id="865" name="Google Shape;865;p58"/>
          <p:cNvSpPr txBox="1"/>
          <p:nvPr/>
        </p:nvSpPr>
        <p:spPr>
          <a:xfrm>
            <a:off x="5740400" y="1968500"/>
            <a:ext cx="1016100" cy="279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Codes</a:t>
            </a:r>
            <a:endParaRPr sz="1200">
              <a:solidFill>
                <a:srgbClr val="17263B"/>
              </a:solidFill>
            </a:endParaRPr>
          </a:p>
        </p:txBody>
      </p:sp>
      <p:cxnSp>
        <p:nvCxnSpPr>
          <p:cNvPr id="866" name="Google Shape;866;p58"/>
          <p:cNvCxnSpPr/>
          <p:nvPr/>
        </p:nvCxnSpPr>
        <p:spPr>
          <a:xfrm>
            <a:off x="3429000" y="1778000"/>
            <a:ext cx="177900" cy="0"/>
          </a:xfrm>
          <a:prstGeom prst="straightConnector1">
            <a:avLst/>
          </a:prstGeom>
          <a:noFill/>
          <a:ln cap="flat" cmpd="sng" w="16500">
            <a:solidFill>
              <a:srgbClr val="4285F4"/>
            </a:solidFill>
            <a:prstDash val="solid"/>
            <a:round/>
            <a:headEnd len="med" w="med" type="none"/>
            <a:tailEnd len="med" w="med" type="triangle"/>
          </a:ln>
        </p:spPr>
      </p:cxnSp>
      <p:cxnSp>
        <p:nvCxnSpPr>
          <p:cNvPr id="867" name="Google Shape;867;p58"/>
          <p:cNvCxnSpPr/>
          <p:nvPr/>
        </p:nvCxnSpPr>
        <p:spPr>
          <a:xfrm>
            <a:off x="4559300" y="1778000"/>
            <a:ext cx="177900" cy="0"/>
          </a:xfrm>
          <a:prstGeom prst="straightConnector1">
            <a:avLst/>
          </a:prstGeom>
          <a:noFill/>
          <a:ln cap="flat" cmpd="sng" w="16500">
            <a:solidFill>
              <a:srgbClr val="4285F4"/>
            </a:solidFill>
            <a:prstDash val="solid"/>
            <a:round/>
            <a:headEnd len="med" w="med" type="none"/>
            <a:tailEnd len="med" w="med" type="triangle"/>
          </a:ln>
        </p:spPr>
      </p:cxnSp>
      <p:cxnSp>
        <p:nvCxnSpPr>
          <p:cNvPr id="868" name="Google Shape;868;p58"/>
          <p:cNvCxnSpPr/>
          <p:nvPr/>
        </p:nvCxnSpPr>
        <p:spPr>
          <a:xfrm>
            <a:off x="5689600" y="1778000"/>
            <a:ext cx="126900" cy="0"/>
          </a:xfrm>
          <a:prstGeom prst="straightConnector1">
            <a:avLst/>
          </a:prstGeom>
          <a:noFill/>
          <a:ln cap="flat" cmpd="sng" w="16500">
            <a:solidFill>
              <a:srgbClr val="4285F4"/>
            </a:solidFill>
            <a:prstDash val="solid"/>
            <a:round/>
            <a:headEnd len="med" w="med" type="none"/>
            <a:tailEnd len="med" w="med" type="triangle"/>
          </a:ln>
        </p:spPr>
      </p:cxnSp>
      <p:cxnSp>
        <p:nvCxnSpPr>
          <p:cNvPr id="869" name="Google Shape;869;p58"/>
          <p:cNvCxnSpPr/>
          <p:nvPr/>
        </p:nvCxnSpPr>
        <p:spPr>
          <a:xfrm>
            <a:off x="6654800" y="1778000"/>
            <a:ext cx="114300" cy="0"/>
          </a:xfrm>
          <a:prstGeom prst="straightConnector1">
            <a:avLst/>
          </a:prstGeom>
          <a:noFill/>
          <a:ln cap="flat" cmpd="sng" w="16500">
            <a:solidFill>
              <a:srgbClr val="4285F4"/>
            </a:solidFill>
            <a:prstDash val="solid"/>
            <a:round/>
            <a:headEnd len="med" w="med" type="none"/>
            <a:tailEnd len="med" w="med" type="triangle"/>
          </a:ln>
        </p:spPr>
      </p:cxnSp>
      <p:cxnSp>
        <p:nvCxnSpPr>
          <p:cNvPr id="870" name="Google Shape;870;p58"/>
          <p:cNvCxnSpPr/>
          <p:nvPr/>
        </p:nvCxnSpPr>
        <p:spPr>
          <a:xfrm>
            <a:off x="7797800" y="1778000"/>
            <a:ext cx="139800" cy="0"/>
          </a:xfrm>
          <a:prstGeom prst="straightConnector1">
            <a:avLst/>
          </a:prstGeom>
          <a:noFill/>
          <a:ln cap="flat" cmpd="sng" w="16500">
            <a:solidFill>
              <a:srgbClr val="4285F4"/>
            </a:solidFill>
            <a:prstDash val="solid"/>
            <a:round/>
            <a:headEnd len="med" w="med" type="none"/>
            <a:tailEnd len="med" w="med" type="triangle"/>
          </a:ln>
        </p:spPr>
      </p:cxnSp>
      <p:sp>
        <p:nvSpPr>
          <p:cNvPr id="871" name="Google Shape;871;p58"/>
          <p:cNvSpPr txBox="1"/>
          <p:nvPr/>
        </p:nvSpPr>
        <p:spPr>
          <a:xfrm>
            <a:off x="5740400" y="3187700"/>
            <a:ext cx="1016100" cy="279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Codes</a:t>
            </a:r>
            <a:endParaRPr sz="1200">
              <a:solidFill>
                <a:srgbClr val="17263B"/>
              </a:solidFill>
            </a:endParaRPr>
          </a:p>
        </p:txBody>
      </p:sp>
      <p:cxnSp>
        <p:nvCxnSpPr>
          <p:cNvPr id="872" name="Google Shape;872;p58"/>
          <p:cNvCxnSpPr/>
          <p:nvPr/>
        </p:nvCxnSpPr>
        <p:spPr>
          <a:xfrm>
            <a:off x="3429000" y="2997200"/>
            <a:ext cx="177900" cy="0"/>
          </a:xfrm>
          <a:prstGeom prst="straightConnector1">
            <a:avLst/>
          </a:prstGeom>
          <a:noFill/>
          <a:ln cap="flat" cmpd="sng" w="16500">
            <a:solidFill>
              <a:srgbClr val="4285F4"/>
            </a:solidFill>
            <a:prstDash val="solid"/>
            <a:round/>
            <a:headEnd len="med" w="med" type="none"/>
            <a:tailEnd len="med" w="med" type="triangle"/>
          </a:ln>
        </p:spPr>
      </p:cxnSp>
      <p:cxnSp>
        <p:nvCxnSpPr>
          <p:cNvPr id="873" name="Google Shape;873;p58"/>
          <p:cNvCxnSpPr/>
          <p:nvPr/>
        </p:nvCxnSpPr>
        <p:spPr>
          <a:xfrm>
            <a:off x="5689600" y="2997200"/>
            <a:ext cx="126900" cy="0"/>
          </a:xfrm>
          <a:prstGeom prst="straightConnector1">
            <a:avLst/>
          </a:prstGeom>
          <a:noFill/>
          <a:ln cap="flat" cmpd="sng" w="16500">
            <a:solidFill>
              <a:srgbClr val="4285F4"/>
            </a:solidFill>
            <a:prstDash val="solid"/>
            <a:round/>
            <a:headEnd len="med" w="med" type="none"/>
            <a:tailEnd len="med" w="med" type="triangle"/>
          </a:ln>
        </p:spPr>
      </p:cxnSp>
      <p:cxnSp>
        <p:nvCxnSpPr>
          <p:cNvPr id="874" name="Google Shape;874;p58"/>
          <p:cNvCxnSpPr/>
          <p:nvPr/>
        </p:nvCxnSpPr>
        <p:spPr>
          <a:xfrm>
            <a:off x="6654800" y="2997200"/>
            <a:ext cx="114300" cy="0"/>
          </a:xfrm>
          <a:prstGeom prst="straightConnector1">
            <a:avLst/>
          </a:prstGeom>
          <a:noFill/>
          <a:ln cap="flat" cmpd="sng" w="16500">
            <a:solidFill>
              <a:srgbClr val="4285F4"/>
            </a:solidFill>
            <a:prstDash val="solid"/>
            <a:round/>
            <a:headEnd len="med" w="med" type="none"/>
            <a:tailEnd len="med" w="med" type="triangle"/>
          </a:ln>
        </p:spPr>
      </p:cxnSp>
      <p:cxnSp>
        <p:nvCxnSpPr>
          <p:cNvPr id="875" name="Google Shape;875;p58"/>
          <p:cNvCxnSpPr/>
          <p:nvPr/>
        </p:nvCxnSpPr>
        <p:spPr>
          <a:xfrm>
            <a:off x="7797800" y="2997200"/>
            <a:ext cx="139800" cy="0"/>
          </a:xfrm>
          <a:prstGeom prst="straightConnector1">
            <a:avLst/>
          </a:prstGeom>
          <a:noFill/>
          <a:ln cap="flat" cmpd="sng" w="16500">
            <a:solidFill>
              <a:srgbClr val="4285F4"/>
            </a:solidFill>
            <a:prstDash val="solid"/>
            <a:round/>
            <a:headEnd len="med" w="med" type="none"/>
            <a:tailEnd len="med" w="med" type="triangle"/>
          </a:ln>
        </p:spPr>
      </p:cxnSp>
      <p:sp>
        <p:nvSpPr>
          <p:cNvPr id="876" name="Google Shape;876;p58"/>
          <p:cNvSpPr txBox="1"/>
          <p:nvPr/>
        </p:nvSpPr>
        <p:spPr>
          <a:xfrm>
            <a:off x="5867400" y="3822700"/>
            <a:ext cx="228600" cy="330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rgbClr val="FFFFFF"/>
                </a:solidFill>
              </a:rPr>
              <a:t>2</a:t>
            </a:r>
            <a:endParaRPr b="1" sz="1200">
              <a:solidFill>
                <a:srgbClr val="FFFFFF"/>
              </a:solidFill>
            </a:endParaRPr>
          </a:p>
        </p:txBody>
      </p:sp>
      <p:sp>
        <p:nvSpPr>
          <p:cNvPr id="877" name="Google Shape;877;p58"/>
          <p:cNvSpPr txBox="1"/>
          <p:nvPr/>
        </p:nvSpPr>
        <p:spPr>
          <a:xfrm>
            <a:off x="6134100" y="3822700"/>
            <a:ext cx="228600" cy="330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rgbClr val="FFFFFF"/>
                </a:solidFill>
              </a:rPr>
              <a:t>0</a:t>
            </a:r>
            <a:endParaRPr b="1" sz="1200">
              <a:solidFill>
                <a:srgbClr val="FFFFFF"/>
              </a:solidFill>
            </a:endParaRPr>
          </a:p>
        </p:txBody>
      </p:sp>
      <p:sp>
        <p:nvSpPr>
          <p:cNvPr id="878" name="Google Shape;878;p58"/>
          <p:cNvSpPr txBox="1"/>
          <p:nvPr/>
        </p:nvSpPr>
        <p:spPr>
          <a:xfrm>
            <a:off x="6400800" y="3822700"/>
            <a:ext cx="228600" cy="3303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rgbClr val="FFFFFF"/>
                </a:solidFill>
              </a:rPr>
              <a:t>3</a:t>
            </a:r>
            <a:endParaRPr b="1" sz="1200">
              <a:solidFill>
                <a:srgbClr val="FFFFFF"/>
              </a:solidFill>
            </a:endParaRPr>
          </a:p>
        </p:txBody>
      </p:sp>
      <p:sp>
        <p:nvSpPr>
          <p:cNvPr id="879" name="Google Shape;879;p58"/>
          <p:cNvSpPr txBox="1"/>
          <p:nvPr/>
        </p:nvSpPr>
        <p:spPr>
          <a:xfrm>
            <a:off x="5740400" y="4178300"/>
            <a:ext cx="1016100" cy="279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Codes</a:t>
            </a:r>
            <a:endParaRPr sz="1200">
              <a:solidFill>
                <a:srgbClr val="17263B"/>
              </a:solidFill>
            </a:endParaRPr>
          </a:p>
        </p:txBody>
      </p:sp>
      <p:cxnSp>
        <p:nvCxnSpPr>
          <p:cNvPr id="880" name="Google Shape;880;p58"/>
          <p:cNvCxnSpPr/>
          <p:nvPr/>
        </p:nvCxnSpPr>
        <p:spPr>
          <a:xfrm>
            <a:off x="3429000" y="3987800"/>
            <a:ext cx="177900" cy="0"/>
          </a:xfrm>
          <a:prstGeom prst="straightConnector1">
            <a:avLst/>
          </a:prstGeom>
          <a:noFill/>
          <a:ln cap="flat" cmpd="sng" w="16500">
            <a:solidFill>
              <a:srgbClr val="4285F4"/>
            </a:solidFill>
            <a:prstDash val="solid"/>
            <a:round/>
            <a:headEnd len="med" w="med" type="none"/>
            <a:tailEnd len="med" w="med" type="triangle"/>
          </a:ln>
        </p:spPr>
      </p:cxnSp>
      <p:cxnSp>
        <p:nvCxnSpPr>
          <p:cNvPr id="881" name="Google Shape;881;p58"/>
          <p:cNvCxnSpPr/>
          <p:nvPr/>
        </p:nvCxnSpPr>
        <p:spPr>
          <a:xfrm>
            <a:off x="5689600" y="3987800"/>
            <a:ext cx="126900" cy="0"/>
          </a:xfrm>
          <a:prstGeom prst="straightConnector1">
            <a:avLst/>
          </a:prstGeom>
          <a:noFill/>
          <a:ln cap="flat" cmpd="sng" w="16500">
            <a:solidFill>
              <a:srgbClr val="4285F4"/>
            </a:solidFill>
            <a:prstDash val="solid"/>
            <a:round/>
            <a:headEnd len="med" w="med" type="none"/>
            <a:tailEnd len="med" w="med" type="triangle"/>
          </a:ln>
        </p:spPr>
      </p:cxnSp>
      <p:cxnSp>
        <p:nvCxnSpPr>
          <p:cNvPr id="882" name="Google Shape;882;p58"/>
          <p:cNvCxnSpPr/>
          <p:nvPr/>
        </p:nvCxnSpPr>
        <p:spPr>
          <a:xfrm>
            <a:off x="6654800" y="3987800"/>
            <a:ext cx="114300" cy="0"/>
          </a:xfrm>
          <a:prstGeom prst="straightConnector1">
            <a:avLst/>
          </a:prstGeom>
          <a:noFill/>
          <a:ln cap="flat" cmpd="sng" w="16500">
            <a:solidFill>
              <a:srgbClr val="4285F4"/>
            </a:solidFill>
            <a:prstDash val="solid"/>
            <a:round/>
            <a:headEnd len="med" w="med" type="none"/>
            <a:tailEnd len="med" w="med" type="triangle"/>
          </a:ln>
        </p:spPr>
      </p:cxnSp>
      <p:cxnSp>
        <p:nvCxnSpPr>
          <p:cNvPr id="883" name="Google Shape;883;p58"/>
          <p:cNvCxnSpPr/>
          <p:nvPr/>
        </p:nvCxnSpPr>
        <p:spPr>
          <a:xfrm>
            <a:off x="7797800" y="3987800"/>
            <a:ext cx="139800" cy="0"/>
          </a:xfrm>
          <a:prstGeom prst="straightConnector1">
            <a:avLst/>
          </a:prstGeom>
          <a:noFill/>
          <a:ln cap="flat" cmpd="sng" w="16500">
            <a:solidFill>
              <a:srgbClr val="4285F4"/>
            </a:solidFill>
            <a:prstDash val="solid"/>
            <a:round/>
            <a:headEnd len="med" w="med" type="none"/>
            <a:tailEnd len="med" w="med" type="triangle"/>
          </a:ln>
        </p:spPr>
      </p:cxnSp>
      <p:sp>
        <p:nvSpPr>
          <p:cNvPr id="884" name="Google Shape;884;p58"/>
          <p:cNvSpPr txBox="1"/>
          <p:nvPr/>
        </p:nvSpPr>
        <p:spPr>
          <a:xfrm>
            <a:off x="6807200" y="2743200"/>
            <a:ext cx="952500" cy="507900"/>
          </a:xfrm>
          <a:prstGeom prst="rect">
            <a:avLst/>
          </a:prstGeom>
          <a:solidFill>
            <a:srgbClr val="E3E5EB"/>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Decoder</a:t>
            </a:r>
            <a:endParaRPr sz="1200">
              <a:solidFill>
                <a:srgbClr val="17263B"/>
              </a:solidFill>
            </a:endParaRPr>
          </a:p>
          <a:p>
            <a:pPr indent="0" lvl="0" marL="0" rtl="0" algn="ctr">
              <a:lnSpc>
                <a:spcPct val="100000"/>
              </a:lnSpc>
              <a:spcBef>
                <a:spcPts val="0"/>
              </a:spcBef>
              <a:spcAft>
                <a:spcPts val="0"/>
              </a:spcAft>
              <a:buNone/>
            </a:pPr>
            <a:r>
              <a:rPr lang="en" sz="1200">
                <a:solidFill>
                  <a:srgbClr val="17263B"/>
                </a:solidFill>
              </a:rPr>
              <a:t>+ state</a:t>
            </a:r>
            <a:endParaRPr sz="1200">
              <a:solidFill>
                <a:srgbClr val="17263B"/>
              </a:solidFill>
            </a:endParaRPr>
          </a:p>
        </p:txBody>
      </p:sp>
      <p:sp>
        <p:nvSpPr>
          <p:cNvPr id="885" name="Google Shape;885;p58"/>
          <p:cNvSpPr txBox="1"/>
          <p:nvPr/>
        </p:nvSpPr>
        <p:spPr>
          <a:xfrm>
            <a:off x="6807200" y="3251200"/>
            <a:ext cx="952500" cy="254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Frozen</a:t>
            </a:r>
            <a:endParaRPr sz="1200">
              <a:solidFill>
                <a:srgbClr val="17263B"/>
              </a:solidFill>
            </a:endParaRPr>
          </a:p>
        </p:txBody>
      </p:sp>
      <p:sp>
        <p:nvSpPr>
          <p:cNvPr id="886" name="Google Shape;886;p58"/>
          <p:cNvSpPr txBox="1"/>
          <p:nvPr/>
        </p:nvSpPr>
        <p:spPr>
          <a:xfrm>
            <a:off x="7937500" y="2743200"/>
            <a:ext cx="825600" cy="507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Joint</a:t>
            </a:r>
            <a:endParaRPr sz="1200">
              <a:solidFill>
                <a:srgbClr val="17263B"/>
              </a:solidFill>
            </a:endParaRPr>
          </a:p>
          <a:p>
            <a:pPr indent="0" lvl="0" marL="0" rtl="0" algn="ctr">
              <a:lnSpc>
                <a:spcPct val="100000"/>
              </a:lnSpc>
              <a:spcBef>
                <a:spcPts val="0"/>
              </a:spcBef>
              <a:spcAft>
                <a:spcPts val="0"/>
              </a:spcAft>
              <a:buNone/>
            </a:pPr>
            <a:r>
              <a:rPr lang="en" sz="1200">
                <a:solidFill>
                  <a:srgbClr val="17263B"/>
                </a:solidFill>
              </a:rPr>
              <a:t>targets</a:t>
            </a:r>
            <a:endParaRPr sz="1200">
              <a:solidFill>
                <a:srgbClr val="17263B"/>
              </a:solidFill>
            </a:endParaRPr>
          </a:p>
        </p:txBody>
      </p:sp>
      <p:sp>
        <p:nvSpPr>
          <p:cNvPr id="887" name="Google Shape;887;p58"/>
          <p:cNvSpPr txBox="1"/>
          <p:nvPr/>
        </p:nvSpPr>
        <p:spPr>
          <a:xfrm>
            <a:off x="6807200" y="3733800"/>
            <a:ext cx="952500" cy="507900"/>
          </a:xfrm>
          <a:prstGeom prst="rect">
            <a:avLst/>
          </a:prstGeom>
          <a:solidFill>
            <a:srgbClr val="E3E5EB"/>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Decoder</a:t>
            </a:r>
            <a:endParaRPr sz="1200">
              <a:solidFill>
                <a:srgbClr val="17263B"/>
              </a:solidFill>
            </a:endParaRPr>
          </a:p>
          <a:p>
            <a:pPr indent="0" lvl="0" marL="0" rtl="0" algn="ctr">
              <a:lnSpc>
                <a:spcPct val="100000"/>
              </a:lnSpc>
              <a:spcBef>
                <a:spcPts val="0"/>
              </a:spcBef>
              <a:spcAft>
                <a:spcPts val="0"/>
              </a:spcAft>
              <a:buNone/>
            </a:pPr>
            <a:r>
              <a:rPr lang="en" sz="1200">
                <a:solidFill>
                  <a:srgbClr val="17263B"/>
                </a:solidFill>
              </a:rPr>
              <a:t>+ state</a:t>
            </a:r>
            <a:endParaRPr sz="1200">
              <a:solidFill>
                <a:srgbClr val="17263B"/>
              </a:solidFill>
            </a:endParaRPr>
          </a:p>
        </p:txBody>
      </p:sp>
      <p:sp>
        <p:nvSpPr>
          <p:cNvPr id="888" name="Google Shape;888;p58"/>
          <p:cNvSpPr txBox="1"/>
          <p:nvPr/>
        </p:nvSpPr>
        <p:spPr>
          <a:xfrm>
            <a:off x="6807200" y="4241800"/>
            <a:ext cx="952500" cy="254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Frozen</a:t>
            </a:r>
            <a:endParaRPr sz="1200">
              <a:solidFill>
                <a:srgbClr val="17263B"/>
              </a:solidFill>
            </a:endParaRPr>
          </a:p>
        </p:txBody>
      </p:sp>
      <p:sp>
        <p:nvSpPr>
          <p:cNvPr id="889" name="Google Shape;889;p58"/>
          <p:cNvSpPr txBox="1"/>
          <p:nvPr/>
        </p:nvSpPr>
        <p:spPr>
          <a:xfrm>
            <a:off x="7937500" y="3733800"/>
            <a:ext cx="825600" cy="507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rgbClr val="17263B"/>
                </a:solidFill>
              </a:rPr>
              <a:t>Joint</a:t>
            </a:r>
            <a:endParaRPr sz="1200">
              <a:solidFill>
                <a:srgbClr val="17263B"/>
              </a:solidFill>
            </a:endParaRPr>
          </a:p>
          <a:p>
            <a:pPr indent="0" lvl="0" marL="0" rtl="0" algn="ctr">
              <a:lnSpc>
                <a:spcPct val="100000"/>
              </a:lnSpc>
              <a:spcBef>
                <a:spcPts val="0"/>
              </a:spcBef>
              <a:spcAft>
                <a:spcPts val="0"/>
              </a:spcAft>
              <a:buNone/>
            </a:pPr>
            <a:r>
              <a:rPr lang="en" sz="1200">
                <a:solidFill>
                  <a:srgbClr val="17263B"/>
                </a:solidFill>
              </a:rPr>
              <a:t>targets</a:t>
            </a:r>
            <a:endParaRPr sz="1200">
              <a:solidFill>
                <a:srgbClr val="17263B"/>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893" name="Shape 893"/>
        <p:cNvGrpSpPr/>
        <p:nvPr/>
      </p:nvGrpSpPr>
      <p:grpSpPr>
        <a:xfrm>
          <a:off x="0" y="0"/>
          <a:ext cx="0" cy="0"/>
          <a:chOff x="0" y="0"/>
          <a:chExt cx="0" cy="0"/>
        </a:xfrm>
      </p:grpSpPr>
      <p:sp>
        <p:nvSpPr>
          <p:cNvPr id="894" name="Google Shape;894;p59"/>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5" name="Google Shape;895;p59"/>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6" name="Google Shape;896;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Metatron: new goals, same frozen controller</a:t>
            </a:r>
            <a:endParaRPr b="1">
              <a:solidFill>
                <a:srgbClr val="15253B"/>
              </a:solidFill>
            </a:endParaRPr>
          </a:p>
        </p:txBody>
      </p:sp>
      <p:sp>
        <p:nvSpPr>
          <p:cNvPr id="897" name="Google Shape;897;p59"/>
          <p:cNvSpPr txBox="1"/>
          <p:nvPr/>
        </p:nvSpPr>
        <p:spPr>
          <a:xfrm>
            <a:off x="381000" y="1117600"/>
            <a:ext cx="25653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900">
                <a:solidFill>
                  <a:srgbClr val="4285F4"/>
                </a:solidFill>
              </a:rPr>
              <a:t>Timed body goals</a:t>
            </a:r>
            <a:endParaRPr b="1" sz="1900">
              <a:solidFill>
                <a:srgbClr val="4285F4"/>
              </a:solidFill>
            </a:endParaRPr>
          </a:p>
        </p:txBody>
      </p:sp>
      <p:sp>
        <p:nvSpPr>
          <p:cNvPr id="898" name="Google Shape;898;p59"/>
          <p:cNvSpPr txBox="1"/>
          <p:nvPr/>
        </p:nvSpPr>
        <p:spPr>
          <a:xfrm>
            <a:off x="3302000" y="1117600"/>
            <a:ext cx="25653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900">
                <a:solidFill>
                  <a:srgbClr val="4285F4"/>
                </a:solidFill>
              </a:rPr>
              <a:t>Hands + steering</a:t>
            </a:r>
            <a:endParaRPr b="1" sz="1900">
              <a:solidFill>
                <a:srgbClr val="4285F4"/>
              </a:solidFill>
            </a:endParaRPr>
          </a:p>
        </p:txBody>
      </p:sp>
      <p:pic>
        <p:nvPicPr>
          <p:cNvPr id="899" name="Google Shape;899;p59">
            <a:hlinkClick r:id="rId3"/>
          </p:cNvPr>
          <p:cNvPicPr preferRelativeResize="0"/>
          <p:nvPr/>
        </p:nvPicPr>
        <p:blipFill>
          <a:blip r:embed="rId4">
            <a:alphaModFix/>
          </a:blip>
          <a:stretch>
            <a:fillRect/>
          </a:stretch>
        </p:blipFill>
        <p:spPr>
          <a:xfrm>
            <a:off x="381000" y="2070100"/>
            <a:ext cx="2565400" cy="1443038"/>
          </a:xfrm>
          <a:prstGeom prst="rect">
            <a:avLst/>
          </a:prstGeom>
          <a:noFill/>
          <a:ln>
            <a:noFill/>
          </a:ln>
        </p:spPr>
      </p:pic>
      <p:pic>
        <p:nvPicPr>
          <p:cNvPr id="900" name="Google Shape;900;p59">
            <a:hlinkClick r:id="rId5"/>
          </p:cNvPr>
          <p:cNvPicPr preferRelativeResize="0"/>
          <p:nvPr/>
        </p:nvPicPr>
        <p:blipFill>
          <a:blip r:embed="rId6">
            <a:alphaModFix/>
          </a:blip>
          <a:stretch>
            <a:fillRect/>
          </a:stretch>
        </p:blipFill>
        <p:spPr>
          <a:xfrm>
            <a:off x="3862197" y="1562100"/>
            <a:ext cx="1445006" cy="2540000"/>
          </a:xfrm>
          <a:prstGeom prst="rect">
            <a:avLst/>
          </a:prstGeom>
          <a:noFill/>
          <a:ln>
            <a:noFill/>
          </a:ln>
        </p:spPr>
      </p:pic>
      <p:sp>
        <p:nvSpPr>
          <p:cNvPr id="901" name="Google Shape;901;p59"/>
          <p:cNvSpPr txBox="1"/>
          <p:nvPr/>
        </p:nvSpPr>
        <p:spPr>
          <a:xfrm>
            <a:off x="381000" y="4127500"/>
            <a:ext cx="2565300" cy="2793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200">
                <a:solidFill>
                  <a:srgbClr val="5C5C5C"/>
                </a:solidFill>
              </a:rPr>
              <a:t>Hurdles · MuJoCo simulation</a:t>
            </a:r>
            <a:endParaRPr sz="1200">
              <a:solidFill>
                <a:srgbClr val="5C5C5C"/>
              </a:solidFill>
            </a:endParaRPr>
          </a:p>
        </p:txBody>
      </p:sp>
      <p:sp>
        <p:nvSpPr>
          <p:cNvPr id="902" name="Google Shape;902;p59"/>
          <p:cNvSpPr txBox="1"/>
          <p:nvPr/>
        </p:nvSpPr>
        <p:spPr>
          <a:xfrm>
            <a:off x="3302000" y="4127500"/>
            <a:ext cx="2565300" cy="2793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200">
                <a:solidFill>
                  <a:srgbClr val="5C5C5C"/>
                </a:solidFill>
              </a:rPr>
              <a:t>Teleoperation · real G1</a:t>
            </a:r>
            <a:endParaRPr sz="1200">
              <a:solidFill>
                <a:srgbClr val="5C5C5C"/>
              </a:solidFill>
            </a:endParaRPr>
          </a:p>
        </p:txBody>
      </p:sp>
      <p:sp>
        <p:nvSpPr>
          <p:cNvPr id="903" name="Google Shape;903;p59"/>
          <p:cNvSpPr txBox="1"/>
          <p:nvPr/>
        </p:nvSpPr>
        <p:spPr>
          <a:xfrm>
            <a:off x="381000" y="4889500"/>
            <a:ext cx="8382000" cy="1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596C82"/>
                </a:solidFill>
              </a:rPr>
              <a:t>HUMANOID CONTROL   /   47 OF 51</a:t>
            </a:r>
            <a:endParaRPr sz="900">
              <a:solidFill>
                <a:srgbClr val="596C82"/>
              </a:solidFill>
            </a:endParaRPr>
          </a:p>
        </p:txBody>
      </p:sp>
      <p:sp>
        <p:nvSpPr>
          <p:cNvPr id="904" name="Google Shape;904;p59"/>
          <p:cNvSpPr txBox="1"/>
          <p:nvPr/>
        </p:nvSpPr>
        <p:spPr>
          <a:xfrm>
            <a:off x="6223000" y="1117600"/>
            <a:ext cx="25653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900">
                <a:solidFill>
                  <a:srgbClr val="4285F4"/>
                </a:solidFill>
              </a:rPr>
              <a:t>Scene + body goals</a:t>
            </a:r>
            <a:endParaRPr b="1" sz="1900">
              <a:solidFill>
                <a:srgbClr val="4285F4"/>
              </a:solidFill>
            </a:endParaRPr>
          </a:p>
        </p:txBody>
      </p:sp>
      <p:pic>
        <p:nvPicPr>
          <p:cNvPr id="905" name="Google Shape;905;p59">
            <a:hlinkClick r:id="rId7"/>
          </p:cNvPr>
          <p:cNvPicPr preferRelativeResize="0"/>
          <p:nvPr/>
        </p:nvPicPr>
        <p:blipFill>
          <a:blip r:embed="rId8">
            <a:alphaModFix/>
          </a:blip>
          <a:stretch>
            <a:fillRect/>
          </a:stretch>
        </p:blipFill>
        <p:spPr>
          <a:xfrm>
            <a:off x="6783197" y="1562100"/>
            <a:ext cx="1444978" cy="2540000"/>
          </a:xfrm>
          <a:prstGeom prst="rect">
            <a:avLst/>
          </a:prstGeom>
          <a:noFill/>
          <a:ln>
            <a:noFill/>
          </a:ln>
        </p:spPr>
      </p:pic>
      <p:sp>
        <p:nvSpPr>
          <p:cNvPr id="906" name="Google Shape;906;p59"/>
          <p:cNvSpPr txBox="1"/>
          <p:nvPr/>
        </p:nvSpPr>
        <p:spPr>
          <a:xfrm>
            <a:off x="6223000" y="4127500"/>
            <a:ext cx="2565300" cy="2793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200">
                <a:solidFill>
                  <a:srgbClr val="5C5C5C"/>
                </a:solidFill>
              </a:rPr>
              <a:t>Sit and stand · real G1</a:t>
            </a:r>
            <a:endParaRPr sz="1200">
              <a:solidFill>
                <a:srgbClr val="5C5C5C"/>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9"/>
                                        </p:tgtEl>
                                        <p:attrNameLst>
                                          <p:attrName>style.visibility</p:attrName>
                                        </p:attrNameLst>
                                      </p:cBhvr>
                                      <p:to>
                                        <p:strVal val="visible"/>
                                      </p:to>
                                    </p:set>
                                    <p:animEffect filter="fade" transition="in">
                                      <p:cBhvr>
                                        <p:cTn dur="1000"/>
                                        <p:tgtEl>
                                          <p:spTgt spid="8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gtEl>
                                        <p:attrNameLst>
                                          <p:attrName>style.visibility</p:attrName>
                                        </p:attrNameLst>
                                      </p:cBhvr>
                                      <p:to>
                                        <p:strVal val="visible"/>
                                      </p:to>
                                    </p:set>
                                    <p:animEffect filter="fade" transition="in">
                                      <p:cBhvr>
                                        <p:cTn dur="1000"/>
                                        <p:tgtEl>
                                          <p:spTgt spid="9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5"/>
                                        </p:tgtEl>
                                        <p:attrNameLst>
                                          <p:attrName>style.visibility</p:attrName>
                                        </p:attrNameLst>
                                      </p:cBhvr>
                                      <p:to>
                                        <p:strVal val="visible"/>
                                      </p:to>
                                    </p:set>
                                    <p:animEffect filter="fade" transition="in">
                                      <p:cBhvr>
                                        <p:cTn dur="1000"/>
                                        <p:tgtEl>
                                          <p:spTgt spid="9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910" name="Shape 910"/>
        <p:cNvGrpSpPr/>
        <p:nvPr/>
      </p:nvGrpSpPr>
      <p:grpSpPr>
        <a:xfrm>
          <a:off x="0" y="0"/>
          <a:ext cx="0" cy="0"/>
          <a:chOff x="0" y="0"/>
          <a:chExt cx="0" cy="0"/>
        </a:xfrm>
      </p:grpSpPr>
      <p:sp>
        <p:nvSpPr>
          <p:cNvPr id="911" name="Google Shape;911;p60"/>
          <p:cNvSpPr/>
          <p:nvPr/>
        </p:nvSpPr>
        <p:spPr>
          <a:xfrm>
            <a:off x="0" y="4838700"/>
            <a:ext cx="9144000" cy="304800"/>
          </a:xfrm>
          <a:prstGeom prst="rect">
            <a:avLst/>
          </a:prstGeom>
          <a:solidFill>
            <a:srgbClr val="E8ED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2" name="Google Shape;912;p60"/>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3" name="Google Shape;913;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15253B"/>
                </a:solidFill>
              </a:rPr>
              <a:t>Metatron: learn motion, then prompt</a:t>
            </a:r>
            <a:endParaRPr b="1">
              <a:solidFill>
                <a:srgbClr val="15253B"/>
              </a:solidFill>
            </a:endParaRPr>
          </a:p>
        </p:txBody>
      </p:sp>
      <p:sp>
        <p:nvSpPr>
          <p:cNvPr id="914" name="Google Shape;914;p60"/>
          <p:cNvSpPr txBox="1"/>
          <p:nvPr/>
        </p:nvSpPr>
        <p:spPr>
          <a:xfrm>
            <a:off x="381000" y="4889500"/>
            <a:ext cx="83820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596C82"/>
                </a:solidFill>
              </a:rPr>
              <a:t>HUMANOID CONTROL   /   48 OF 51</a:t>
            </a:r>
            <a:endParaRPr sz="900">
              <a:solidFill>
                <a:srgbClr val="596C82"/>
              </a:solidFill>
            </a:endParaRPr>
          </a:p>
        </p:txBody>
      </p:sp>
      <p:sp>
        <p:nvSpPr>
          <p:cNvPr id="915" name="Google Shape;915;p60"/>
          <p:cNvSpPr txBox="1"/>
          <p:nvPr/>
        </p:nvSpPr>
        <p:spPr>
          <a:xfrm>
            <a:off x="381000" y="1219200"/>
            <a:ext cx="25653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1  TRAIN A TRACKER</a:t>
            </a:r>
            <a:endParaRPr b="1" sz="1500">
              <a:solidFill>
                <a:srgbClr val="4285F4"/>
              </a:solidFill>
            </a:endParaRPr>
          </a:p>
        </p:txBody>
      </p:sp>
      <p:sp>
        <p:nvSpPr>
          <p:cNvPr id="916" name="Google Shape;916;p60"/>
          <p:cNvSpPr txBox="1"/>
          <p:nvPr/>
        </p:nvSpPr>
        <p:spPr>
          <a:xfrm>
            <a:off x="381000" y="1701800"/>
            <a:ext cx="2565300" cy="736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900">
                <a:solidFill>
                  <a:srgbClr val="222222"/>
                </a:solidFill>
              </a:rPr>
              <a:t>Use RL to follow</a:t>
            </a:r>
            <a:endParaRPr sz="1900">
              <a:solidFill>
                <a:srgbClr val="222222"/>
              </a:solidFill>
            </a:endParaRPr>
          </a:p>
          <a:p>
            <a:pPr indent="0" lvl="0" marL="0" marR="0" rtl="0" algn="l">
              <a:lnSpc>
                <a:spcPct val="115000"/>
              </a:lnSpc>
              <a:spcBef>
                <a:spcPts val="0"/>
              </a:spcBef>
              <a:spcAft>
                <a:spcPts val="0"/>
              </a:spcAft>
              <a:buNone/>
            </a:pPr>
            <a:r>
              <a:rPr lang="en" sz="1900">
                <a:solidFill>
                  <a:srgbClr val="222222"/>
                </a:solidFill>
              </a:rPr>
              <a:t>full-body motion.</a:t>
            </a:r>
            <a:endParaRPr sz="1900">
              <a:solidFill>
                <a:srgbClr val="222222"/>
              </a:solidFill>
            </a:endParaRPr>
          </a:p>
        </p:txBody>
      </p:sp>
      <p:sp>
        <p:nvSpPr>
          <p:cNvPr id="917" name="Google Shape;917;p60"/>
          <p:cNvSpPr txBox="1"/>
          <p:nvPr/>
        </p:nvSpPr>
        <p:spPr>
          <a:xfrm>
            <a:off x="3302000" y="1219200"/>
            <a:ext cx="25653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2  MASK + DISTILL</a:t>
            </a:r>
            <a:endParaRPr b="1" sz="1500">
              <a:solidFill>
                <a:srgbClr val="4285F4"/>
              </a:solidFill>
            </a:endParaRPr>
          </a:p>
        </p:txBody>
      </p:sp>
      <p:sp>
        <p:nvSpPr>
          <p:cNvPr id="918" name="Google Shape;918;p60"/>
          <p:cNvSpPr txBox="1"/>
          <p:nvPr/>
        </p:nvSpPr>
        <p:spPr>
          <a:xfrm>
            <a:off x="3302000" y="1701800"/>
            <a:ext cx="2565300" cy="736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900">
                <a:solidFill>
                  <a:srgbClr val="222222"/>
                </a:solidFill>
              </a:rPr>
              <a:t>Roll out the student.</a:t>
            </a:r>
            <a:endParaRPr sz="1900">
              <a:solidFill>
                <a:srgbClr val="222222"/>
              </a:solidFill>
            </a:endParaRPr>
          </a:p>
          <a:p>
            <a:pPr indent="0" lvl="0" marL="0" marR="0" rtl="0" algn="l">
              <a:lnSpc>
                <a:spcPct val="115000"/>
              </a:lnSpc>
              <a:spcBef>
                <a:spcPts val="0"/>
              </a:spcBef>
              <a:spcAft>
                <a:spcPts val="0"/>
              </a:spcAft>
              <a:buNone/>
            </a:pPr>
            <a:r>
              <a:rPr lang="en" sz="1900">
                <a:solidFill>
                  <a:srgbClr val="222222"/>
                </a:solidFill>
              </a:rPr>
              <a:t>Imitate the tracker.</a:t>
            </a:r>
            <a:endParaRPr sz="1900">
              <a:solidFill>
                <a:srgbClr val="222222"/>
              </a:solidFill>
            </a:endParaRPr>
          </a:p>
        </p:txBody>
      </p:sp>
      <p:sp>
        <p:nvSpPr>
          <p:cNvPr id="919" name="Google Shape;919;p60"/>
          <p:cNvSpPr txBox="1"/>
          <p:nvPr/>
        </p:nvSpPr>
        <p:spPr>
          <a:xfrm>
            <a:off x="6223000" y="1219200"/>
            <a:ext cx="25653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500">
                <a:solidFill>
                  <a:srgbClr val="4285F4"/>
                </a:solidFill>
              </a:rPr>
              <a:t>3  FREEZE + PROMPT</a:t>
            </a:r>
            <a:endParaRPr b="1" sz="1500">
              <a:solidFill>
                <a:srgbClr val="4285F4"/>
              </a:solidFill>
            </a:endParaRPr>
          </a:p>
        </p:txBody>
      </p:sp>
      <p:sp>
        <p:nvSpPr>
          <p:cNvPr id="920" name="Google Shape;920;p60"/>
          <p:cNvSpPr txBox="1"/>
          <p:nvPr/>
        </p:nvSpPr>
        <p:spPr>
          <a:xfrm>
            <a:off x="6223000" y="1701800"/>
            <a:ext cx="2565300" cy="736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900">
                <a:solidFill>
                  <a:srgbClr val="222222"/>
                </a:solidFill>
              </a:rPr>
              <a:t>Skill code supplies</a:t>
            </a:r>
            <a:endParaRPr sz="1900">
              <a:solidFill>
                <a:srgbClr val="222222"/>
              </a:solidFill>
            </a:endParaRPr>
          </a:p>
          <a:p>
            <a:pPr indent="0" lvl="0" marL="0" marR="0" rtl="0" algn="l">
              <a:lnSpc>
                <a:spcPct val="115000"/>
              </a:lnSpc>
              <a:spcBef>
                <a:spcPts val="0"/>
              </a:spcBef>
              <a:spcAft>
                <a:spcPts val="0"/>
              </a:spcAft>
              <a:buNone/>
            </a:pPr>
            <a:r>
              <a:rPr lang="en" sz="1900">
                <a:solidFill>
                  <a:srgbClr val="222222"/>
                </a:solidFill>
              </a:rPr>
              <a:t>partial motion goals.</a:t>
            </a:r>
            <a:endParaRPr sz="1900">
              <a:solidFill>
                <a:srgbClr val="222222"/>
              </a:solidFill>
            </a:endParaRPr>
          </a:p>
        </p:txBody>
      </p:sp>
      <p:cxnSp>
        <p:nvCxnSpPr>
          <p:cNvPr id="921" name="Google Shape;921;p60"/>
          <p:cNvCxnSpPr/>
          <p:nvPr/>
        </p:nvCxnSpPr>
        <p:spPr>
          <a:xfrm>
            <a:off x="3009900" y="3263900"/>
            <a:ext cx="216000" cy="0"/>
          </a:xfrm>
          <a:prstGeom prst="straightConnector1">
            <a:avLst/>
          </a:prstGeom>
          <a:noFill/>
          <a:ln cap="flat" cmpd="sng" w="25400">
            <a:solidFill>
              <a:srgbClr val="4285F4"/>
            </a:solidFill>
            <a:prstDash val="solid"/>
            <a:round/>
            <a:headEnd len="med" w="med" type="none"/>
            <a:tailEnd len="med" w="med" type="triangle"/>
          </a:ln>
        </p:spPr>
      </p:cxnSp>
      <p:cxnSp>
        <p:nvCxnSpPr>
          <p:cNvPr id="922" name="Google Shape;922;p60"/>
          <p:cNvCxnSpPr/>
          <p:nvPr/>
        </p:nvCxnSpPr>
        <p:spPr>
          <a:xfrm>
            <a:off x="5930900" y="3263900"/>
            <a:ext cx="216000" cy="0"/>
          </a:xfrm>
          <a:prstGeom prst="straightConnector1">
            <a:avLst/>
          </a:prstGeom>
          <a:noFill/>
          <a:ln cap="flat" cmpd="sng" w="25400">
            <a:solidFill>
              <a:srgbClr val="4285F4"/>
            </a:solidFill>
            <a:prstDash val="solid"/>
            <a:round/>
            <a:headEnd len="med" w="med" type="none"/>
            <a:tailEnd len="med" w="med" type="triangle"/>
          </a:ln>
        </p:spPr>
      </p:cxnSp>
      <p:sp>
        <p:nvSpPr>
          <p:cNvPr id="923" name="Google Shape;923;p60"/>
          <p:cNvSpPr txBox="1"/>
          <p:nvPr/>
        </p:nvSpPr>
        <p:spPr>
          <a:xfrm>
            <a:off x="381000" y="4622800"/>
            <a:ext cx="8382000" cy="1905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000">
                <a:solidFill>
                  <a:srgbClr val="5C5C5C"/>
                </a:solidFill>
              </a:rPr>
              <a:t>Metatron · dense tracking → masked distillation → runtime skills</a:t>
            </a:r>
            <a:endParaRPr sz="1000">
              <a:solidFill>
                <a:srgbClr val="5C5C5C"/>
              </a:solidFill>
            </a:endParaRPr>
          </a:p>
        </p:txBody>
      </p:sp>
      <p:sp>
        <p:nvSpPr>
          <p:cNvPr id="924" name="Google Shape;924;p60"/>
          <p:cNvSpPr txBox="1"/>
          <p:nvPr/>
        </p:nvSpPr>
        <p:spPr>
          <a:xfrm>
            <a:off x="533400" y="2552700"/>
            <a:ext cx="2260500" cy="29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7263B"/>
                </a:solidFill>
              </a:rPr>
              <a:t>Full future motion</a:t>
            </a:r>
            <a:endParaRPr>
              <a:solidFill>
                <a:srgbClr val="17263B"/>
              </a:solidFill>
            </a:endParaRPr>
          </a:p>
        </p:txBody>
      </p:sp>
      <p:sp>
        <p:nvSpPr>
          <p:cNvPr id="925" name="Google Shape;925;p60"/>
          <p:cNvSpPr txBox="1"/>
          <p:nvPr/>
        </p:nvSpPr>
        <p:spPr>
          <a:xfrm>
            <a:off x="622300" y="2908300"/>
            <a:ext cx="279300" cy="216000"/>
          </a:xfrm>
          <a:prstGeom prst="rect">
            <a:avLst/>
          </a:pr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26" name="Google Shape;926;p60"/>
          <p:cNvSpPr txBox="1"/>
          <p:nvPr/>
        </p:nvSpPr>
        <p:spPr>
          <a:xfrm>
            <a:off x="977900" y="2908300"/>
            <a:ext cx="279300" cy="216000"/>
          </a:xfrm>
          <a:prstGeom prst="rect">
            <a:avLst/>
          </a:pr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27" name="Google Shape;927;p60"/>
          <p:cNvSpPr txBox="1"/>
          <p:nvPr/>
        </p:nvSpPr>
        <p:spPr>
          <a:xfrm>
            <a:off x="1333500" y="2908300"/>
            <a:ext cx="279300" cy="216000"/>
          </a:xfrm>
          <a:prstGeom prst="rect">
            <a:avLst/>
          </a:pr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28" name="Google Shape;928;p60"/>
          <p:cNvSpPr txBox="1"/>
          <p:nvPr/>
        </p:nvSpPr>
        <p:spPr>
          <a:xfrm>
            <a:off x="1689100" y="2908300"/>
            <a:ext cx="279300" cy="216000"/>
          </a:xfrm>
          <a:prstGeom prst="rect">
            <a:avLst/>
          </a:pr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29" name="Google Shape;929;p60"/>
          <p:cNvSpPr txBox="1"/>
          <p:nvPr/>
        </p:nvSpPr>
        <p:spPr>
          <a:xfrm>
            <a:off x="2044700" y="2908300"/>
            <a:ext cx="279300" cy="216000"/>
          </a:xfrm>
          <a:prstGeom prst="rect">
            <a:avLst/>
          </a:pr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30" name="Google Shape;930;p60"/>
          <p:cNvSpPr txBox="1"/>
          <p:nvPr/>
        </p:nvSpPr>
        <p:spPr>
          <a:xfrm>
            <a:off x="2400300" y="2908300"/>
            <a:ext cx="279300" cy="216000"/>
          </a:xfrm>
          <a:prstGeom prst="rect">
            <a:avLst/>
          </a:pr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31" name="Google Shape;931;p60"/>
          <p:cNvSpPr txBox="1"/>
          <p:nvPr/>
        </p:nvSpPr>
        <p:spPr>
          <a:xfrm>
            <a:off x="1511300" y="3136900"/>
            <a:ext cx="304800" cy="30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4285F4"/>
                </a:solidFill>
              </a:rPr>
              <a:t>↓</a:t>
            </a:r>
            <a:endParaRPr b="1" sz="1800">
              <a:solidFill>
                <a:srgbClr val="4285F4"/>
              </a:solidFill>
            </a:endParaRPr>
          </a:p>
        </p:txBody>
      </p:sp>
      <p:sp>
        <p:nvSpPr>
          <p:cNvPr id="932" name="Google Shape;932;p60"/>
          <p:cNvSpPr txBox="1"/>
          <p:nvPr/>
        </p:nvSpPr>
        <p:spPr>
          <a:xfrm>
            <a:off x="533400" y="3479800"/>
            <a:ext cx="2260500" cy="368400"/>
          </a:xfrm>
          <a:prstGeom prst="rect">
            <a:avLst/>
          </a:prstGeom>
          <a:solidFill>
            <a:srgbClr val="E3ED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285F4"/>
                </a:solidFill>
              </a:rPr>
              <a:t>Dense tracker</a:t>
            </a:r>
            <a:endParaRPr b="1">
              <a:solidFill>
                <a:srgbClr val="4285F4"/>
              </a:solidFill>
            </a:endParaRPr>
          </a:p>
        </p:txBody>
      </p:sp>
      <p:sp>
        <p:nvSpPr>
          <p:cNvPr id="933" name="Google Shape;933;p60"/>
          <p:cNvSpPr txBox="1"/>
          <p:nvPr/>
        </p:nvSpPr>
        <p:spPr>
          <a:xfrm>
            <a:off x="508000" y="3898900"/>
            <a:ext cx="2311500" cy="27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rgbClr val="17263B"/>
                </a:solidFill>
              </a:rPr>
              <a:t>Motion-tracking reward</a:t>
            </a:r>
            <a:endParaRPr sz="1300">
              <a:solidFill>
                <a:srgbClr val="17263B"/>
              </a:solidFill>
            </a:endParaRPr>
          </a:p>
        </p:txBody>
      </p:sp>
      <p:sp>
        <p:nvSpPr>
          <p:cNvPr id="934" name="Google Shape;934;p60"/>
          <p:cNvSpPr txBox="1"/>
          <p:nvPr/>
        </p:nvSpPr>
        <p:spPr>
          <a:xfrm>
            <a:off x="3454400" y="2552700"/>
            <a:ext cx="2260500" cy="29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7263B"/>
                </a:solidFill>
              </a:rPr>
              <a:t>Mask selected goals</a:t>
            </a:r>
            <a:endParaRPr>
              <a:solidFill>
                <a:srgbClr val="17263B"/>
              </a:solidFill>
            </a:endParaRPr>
          </a:p>
        </p:txBody>
      </p:sp>
      <p:sp>
        <p:nvSpPr>
          <p:cNvPr id="935" name="Google Shape;935;p60"/>
          <p:cNvSpPr txBox="1"/>
          <p:nvPr/>
        </p:nvSpPr>
        <p:spPr>
          <a:xfrm>
            <a:off x="3543300" y="2908300"/>
            <a:ext cx="279300" cy="216000"/>
          </a:xfrm>
          <a:prstGeom prst="rect">
            <a:avLst/>
          </a:prstGeom>
          <a:solidFill>
            <a:srgbClr val="CFD6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36" name="Google Shape;936;p60"/>
          <p:cNvSpPr txBox="1"/>
          <p:nvPr/>
        </p:nvSpPr>
        <p:spPr>
          <a:xfrm>
            <a:off x="3898900" y="2908300"/>
            <a:ext cx="279300" cy="216000"/>
          </a:xfrm>
          <a:prstGeom prst="rect">
            <a:avLst/>
          </a:pr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37" name="Google Shape;937;p60"/>
          <p:cNvSpPr txBox="1"/>
          <p:nvPr/>
        </p:nvSpPr>
        <p:spPr>
          <a:xfrm>
            <a:off x="4254500" y="2908300"/>
            <a:ext cx="279300" cy="216000"/>
          </a:xfrm>
          <a:prstGeom prst="rect">
            <a:avLst/>
          </a:prstGeom>
          <a:solidFill>
            <a:srgbClr val="CFD6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38" name="Google Shape;938;p60"/>
          <p:cNvSpPr txBox="1"/>
          <p:nvPr/>
        </p:nvSpPr>
        <p:spPr>
          <a:xfrm>
            <a:off x="4610100" y="2908300"/>
            <a:ext cx="279300" cy="216000"/>
          </a:xfrm>
          <a:prstGeom prst="rect">
            <a:avLst/>
          </a:prstGeom>
          <a:solidFill>
            <a:srgbClr val="CFD6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39" name="Google Shape;939;p60"/>
          <p:cNvSpPr txBox="1"/>
          <p:nvPr/>
        </p:nvSpPr>
        <p:spPr>
          <a:xfrm>
            <a:off x="4965700" y="2908300"/>
            <a:ext cx="279300" cy="216000"/>
          </a:xfrm>
          <a:prstGeom prst="rect">
            <a:avLst/>
          </a:prstGeom>
          <a:solidFill>
            <a:srgbClr val="4285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40" name="Google Shape;940;p60"/>
          <p:cNvSpPr txBox="1"/>
          <p:nvPr/>
        </p:nvSpPr>
        <p:spPr>
          <a:xfrm>
            <a:off x="5321300" y="2908300"/>
            <a:ext cx="279300" cy="216000"/>
          </a:xfrm>
          <a:prstGeom prst="rect">
            <a:avLst/>
          </a:prstGeom>
          <a:solidFill>
            <a:srgbClr val="CFD6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941" name="Google Shape;941;p60"/>
          <p:cNvSpPr txBox="1"/>
          <p:nvPr/>
        </p:nvSpPr>
        <p:spPr>
          <a:xfrm>
            <a:off x="4432300" y="3136900"/>
            <a:ext cx="304800" cy="30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4285F4"/>
                </a:solidFill>
              </a:rPr>
              <a:t>↓</a:t>
            </a:r>
            <a:endParaRPr b="1" sz="1800">
              <a:solidFill>
                <a:srgbClr val="4285F4"/>
              </a:solidFill>
            </a:endParaRPr>
          </a:p>
        </p:txBody>
      </p:sp>
      <p:sp>
        <p:nvSpPr>
          <p:cNvPr id="942" name="Google Shape;942;p60"/>
          <p:cNvSpPr txBox="1"/>
          <p:nvPr/>
        </p:nvSpPr>
        <p:spPr>
          <a:xfrm>
            <a:off x="3454400" y="3479800"/>
            <a:ext cx="2260500" cy="368400"/>
          </a:xfrm>
          <a:prstGeom prst="rect">
            <a:avLst/>
          </a:prstGeom>
          <a:solidFill>
            <a:srgbClr val="E3ED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285F4"/>
                </a:solidFill>
              </a:rPr>
              <a:t>Generative student</a:t>
            </a:r>
            <a:endParaRPr b="1">
              <a:solidFill>
                <a:srgbClr val="4285F4"/>
              </a:solidFill>
            </a:endParaRPr>
          </a:p>
        </p:txBody>
      </p:sp>
      <p:sp>
        <p:nvSpPr>
          <p:cNvPr id="943" name="Google Shape;943;p60"/>
          <p:cNvSpPr txBox="1"/>
          <p:nvPr/>
        </p:nvSpPr>
        <p:spPr>
          <a:xfrm>
            <a:off x="3429000" y="3898900"/>
            <a:ext cx="2311500" cy="27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rgbClr val="17263B"/>
                </a:solidFill>
              </a:rPr>
              <a:t>Imitate tracker actions</a:t>
            </a:r>
            <a:endParaRPr sz="1300">
              <a:solidFill>
                <a:srgbClr val="17263B"/>
              </a:solidFill>
            </a:endParaRPr>
          </a:p>
        </p:txBody>
      </p:sp>
      <p:sp>
        <p:nvSpPr>
          <p:cNvPr id="944" name="Google Shape;944;p60"/>
          <p:cNvSpPr txBox="1"/>
          <p:nvPr/>
        </p:nvSpPr>
        <p:spPr>
          <a:xfrm>
            <a:off x="6375400" y="2552700"/>
            <a:ext cx="2260500" cy="368400"/>
          </a:xfrm>
          <a:prstGeom prst="rect">
            <a:avLst/>
          </a:prstGeom>
          <a:solidFill>
            <a:srgbClr val="E3ED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285F4"/>
                </a:solidFill>
              </a:rPr>
              <a:t>Skill code</a:t>
            </a:r>
            <a:endParaRPr b="1">
              <a:solidFill>
                <a:srgbClr val="4285F4"/>
              </a:solidFill>
            </a:endParaRPr>
          </a:p>
        </p:txBody>
      </p:sp>
      <p:sp>
        <p:nvSpPr>
          <p:cNvPr id="945" name="Google Shape;945;p60"/>
          <p:cNvSpPr txBox="1"/>
          <p:nvPr/>
        </p:nvSpPr>
        <p:spPr>
          <a:xfrm>
            <a:off x="6350000" y="2959100"/>
            <a:ext cx="2311500" cy="27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17263B"/>
                </a:solidFill>
              </a:rPr>
              <a:t>e.g., velocity + foot goals</a:t>
            </a:r>
            <a:endParaRPr sz="1200">
              <a:solidFill>
                <a:srgbClr val="17263B"/>
              </a:solidFill>
            </a:endParaRPr>
          </a:p>
        </p:txBody>
      </p:sp>
      <p:sp>
        <p:nvSpPr>
          <p:cNvPr id="946" name="Google Shape;946;p60"/>
          <p:cNvSpPr txBox="1"/>
          <p:nvPr/>
        </p:nvSpPr>
        <p:spPr>
          <a:xfrm>
            <a:off x="7353300" y="3187700"/>
            <a:ext cx="304800" cy="30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4285F4"/>
                </a:solidFill>
              </a:rPr>
              <a:t>↓</a:t>
            </a:r>
            <a:endParaRPr b="1" sz="1800">
              <a:solidFill>
                <a:srgbClr val="4285F4"/>
              </a:solidFill>
            </a:endParaRPr>
          </a:p>
        </p:txBody>
      </p:sp>
      <p:sp>
        <p:nvSpPr>
          <p:cNvPr id="947" name="Google Shape;947;p60"/>
          <p:cNvSpPr txBox="1"/>
          <p:nvPr/>
        </p:nvSpPr>
        <p:spPr>
          <a:xfrm>
            <a:off x="6375400" y="3530600"/>
            <a:ext cx="2260500" cy="368400"/>
          </a:xfrm>
          <a:prstGeom prst="rect">
            <a:avLst/>
          </a:prstGeom>
          <a:solidFill>
            <a:srgbClr val="E3ED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4285F4"/>
                </a:solidFill>
              </a:rPr>
              <a:t>Metatron (frozen)</a:t>
            </a:r>
            <a:endParaRPr b="1">
              <a:solidFill>
                <a:srgbClr val="4285F4"/>
              </a:solidFill>
            </a:endParaRPr>
          </a:p>
        </p:txBody>
      </p:sp>
      <p:sp>
        <p:nvSpPr>
          <p:cNvPr id="948" name="Google Shape;948;p60"/>
          <p:cNvSpPr txBox="1"/>
          <p:nvPr/>
        </p:nvSpPr>
        <p:spPr>
          <a:xfrm>
            <a:off x="6350000" y="3924300"/>
            <a:ext cx="2311500" cy="27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17263B"/>
                </a:solidFill>
              </a:rPr>
              <a:t>Joint targets from feedback</a:t>
            </a:r>
            <a:endParaRPr sz="1200">
              <a:solidFill>
                <a:srgbClr val="17263B"/>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53B"/>
        </a:solidFill>
      </p:bgPr>
    </p:bg>
    <p:spTree>
      <p:nvGrpSpPr>
        <p:cNvPr id="952" name="Shape 952"/>
        <p:cNvGrpSpPr/>
        <p:nvPr/>
      </p:nvGrpSpPr>
      <p:grpSpPr>
        <a:xfrm>
          <a:off x="0" y="0"/>
          <a:ext cx="0" cy="0"/>
          <a:chOff x="0" y="0"/>
          <a:chExt cx="0" cy="0"/>
        </a:xfrm>
      </p:grpSpPr>
      <p:sp>
        <p:nvSpPr>
          <p:cNvPr id="953" name="Google Shape;953;p61"/>
          <p:cNvSpPr/>
          <p:nvPr/>
        </p:nvSpPr>
        <p:spPr>
          <a:xfrm>
            <a:off x="0" y="4838700"/>
            <a:ext cx="9144000" cy="304800"/>
          </a:xfrm>
          <a:prstGeom prst="rect">
            <a:avLst/>
          </a:prstGeom>
          <a:solidFill>
            <a:srgbClr val="1020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4" name="Google Shape;954;p61"/>
          <p:cNvSpPr/>
          <p:nvPr/>
        </p:nvSpPr>
        <p:spPr>
          <a:xfrm>
            <a:off x="0" y="0"/>
            <a:ext cx="9144000" cy="63600"/>
          </a:xfrm>
          <a:prstGeom prst="rect">
            <a:avLst/>
          </a:prstGeom>
          <a:solidFill>
            <a:srgbClr val="4285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5" name="Google Shape;955;p61"/>
          <p:cNvSpPr txBox="1"/>
          <p:nvPr>
            <p:ph type="title"/>
          </p:nvPr>
        </p:nvSpPr>
        <p:spPr>
          <a:xfrm>
            <a:off x="381000" y="317500"/>
            <a:ext cx="8382000" cy="76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600">
                <a:solidFill>
                  <a:srgbClr val="F7FAFF"/>
                </a:solidFill>
              </a:rPr>
              <a:t>Any questions?</a:t>
            </a:r>
            <a:endParaRPr b="1" sz="3600">
              <a:solidFill>
                <a:srgbClr val="F7FAFF"/>
              </a:solidFill>
            </a:endParaRPr>
          </a:p>
        </p:txBody>
      </p:sp>
      <p:pic>
        <p:nvPicPr>
          <p:cNvPr id="956" name="Google Shape;956;p61">
            <a:hlinkClick r:id="rId3"/>
          </p:cNvPr>
          <p:cNvPicPr preferRelativeResize="0"/>
          <p:nvPr/>
        </p:nvPicPr>
        <p:blipFill>
          <a:blip r:embed="rId4">
            <a:alphaModFix/>
          </a:blip>
          <a:stretch>
            <a:fillRect/>
          </a:stretch>
        </p:blipFill>
        <p:spPr>
          <a:xfrm>
            <a:off x="381000" y="1231900"/>
            <a:ext cx="8382000" cy="353124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gtEl>
                                        <p:attrNameLst>
                                          <p:attrName>style.visibility</p:attrName>
                                        </p:attrNameLst>
                                      </p:cBhvr>
                                      <p:to>
                                        <p:strVal val="visible"/>
                                      </p:to>
                                    </p:set>
                                    <p:animEffect filter="fade" transition="in">
                                      <p:cBhvr>
                                        <p:cTn dur="1000"/>
                                        <p:tgtEl>
                                          <p:spTgt spid="9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